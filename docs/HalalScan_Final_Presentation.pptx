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6A38"/>
    <a:srgbClr val="0F4272"/>
    <a:srgbClr val="B87900"/>
    <a:srgbClr val="D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64" d="100"/>
          <a:sy n="64" d="100"/>
        </p:scale>
        <p:origin x="94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1 / Leader: Good day. We are presenting HalalScan. It is an AI system that helps screen food ingredients for halal compliance. My part is simple: I introduce the project and close it. Our project combines machine learning, a halal rule base, and reasoning so the final answer can be explained.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1 / Leader: The problem is that food labels can include ingredients that are not obvious. A normal user may not know if those are halal, haram, or need review. HalalScan gives a clear result and also explains the reason. Handoff: Speaker 2 will explain the AI approach.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2: The project uses one main API contract: /api/analyze. The user can paste ingredients, scan a barcode, or use OCR from an image. The same path connects ML, knowledge base lookup, and deterministic reasoning.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2: For ML, the primary classifier is RapidAPI Halal Food Checker. If the key is missing, the app still works with a local TF-IDF Naive Bayes fallback. That makes the demo and tests reproducible.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2: The knowledge base is the source of truth. It has 67 rules, recognized certifying bodies, E-number triggers, keywords, reasons, and sources. This is why the system can explain the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2: Here are simple examples. E120 is haram. Gelatin is doubtful if the source is unknown. Clean ingredients support halal. Recognized certifiers are useful evidence, but they do not override a haram ingredient. Handoff: Speaker 3 will explain the reasoning engine.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The reasoning engine is deterministic. It follows the priority: haram, doubtful, unknown, halal. If E120 is found, the result becomes non-compliant even if the certifier is recognized.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The React frontend, Vercel serverless routes, Flask backend, external APIs, knowledge base, and history all work together. The evidence logs show ML, knowledge base, reasoning, and integration in one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The demo has three easy cases. Clean ingredients plus JAKIM gives halal. E120 gives haram. Gelatin and natural flavors gives mashbooh or requires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3: The project has reproducible evidence. The rule engine passed 30 out of 30 curated cases. The ML fallback passed 36 out of 36 holdout cases. Backend tests passed 21 out of 21. The limitation is that this is classroom evaluation, not a production guarantee.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Speaker 3: The project is ready, but we are honest about limits. Live APIs need credentials. Certifier matching does not authenticate a real certificate. RAG is only for explanation. Future work can add certificate lookup, more languages, and larger real-world evaluation. Handoff: The leader will close.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1 / Leader: To conclude, HalalScan satisfies the project rubric because it has a clear proposal, ML implementation, knowledge base, reasoning engine, system integration, and report evidence. The most important point is that the system does not only say halal or haram. It explains why. Thank you.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D365A2E-FC7C-4E66-B256-D30B1E517402}"/>
              </a:ext>
            </a:extLst>
          </p:cNvPr>
          <p:cNvSpPr>
            <a:spLocks noGrp="1"/>
          </p:cNvSpPr>
          <p:nvPr/>
        </p:nvSpPr>
        <p:spPr>
          <a:xfrm>
            <a:off x="0" y="76200"/>
            <a:ext cx="12192000" cy="6858000"/>
          </a:xfrm>
          <a:prstGeom prst="rect">
            <a:avLst/>
          </a:prstGeom>
          <a:solidFill>
            <a:srgbClr val="073A23"/>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106F85E5-CF13-4ED9-8F9B-7CFD74825CCF}"/>
              </a:ext>
            </a:extLst>
          </p:cNvPr>
          <p:cNvSpPr>
            <a:spLocks noGrp="1"/>
          </p:cNvSpPr>
          <p:nvPr/>
        </p:nvSpPr>
        <p:spPr>
          <a:xfrm>
            <a:off x="0" y="0"/>
            <a:ext cx="12192000" cy="209550"/>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BF7A8311-CBC3-4BAF-9ACC-FAA36B17021F}"/>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4" name="Rectangle 3">
            <a:extLst>
              <a:ext uri="{FF2B5EF4-FFF2-40B4-BE49-F238E27FC236}">
                <a16:creationId xmlns:a16="http://schemas.microsoft.com/office/drawing/2014/main" id="{C48C02FA-C263-4DAA-9147-BD94079EB424}"/>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DCEBDD"/>
                </a:solidFill>
                <a:latin typeface="Aptos"/>
                <a:ea typeface="Aptos"/>
                <a:cs typeface="Aptos"/>
              </a:defRPr>
            </a:pPr>
            <a:r>
              <a:rPr sz="1125" b="1" dirty="0">
                <a:solidFill>
                  <a:srgbClr val="DCEBDD"/>
                </a:solidFill>
                <a:latin typeface="Aptos"/>
                <a:ea typeface="Aptos"/>
                <a:cs typeface="Aptos"/>
              </a:rPr>
              <a:t>AI SYSTEMS FINAL PROJECT</a:t>
            </a:r>
          </a:p>
        </p:txBody>
      </p:sp>
      <p:sp>
        <p:nvSpPr>
          <p:cNvPr id="6" name="Rectangle 5">
            <a:extLst>
              <a:ext uri="{FF2B5EF4-FFF2-40B4-BE49-F238E27FC236}">
                <a16:creationId xmlns:a16="http://schemas.microsoft.com/office/drawing/2014/main" id="{F3B60FD5-1DA0-40F0-BDAB-94FFAFFA8E65}"/>
              </a:ext>
            </a:extLst>
          </p:cNvPr>
          <p:cNvSpPr>
            <a:spLocks noGrp="1"/>
          </p:cNvSpPr>
          <p:nvPr/>
        </p:nvSpPr>
        <p:spPr>
          <a:xfrm>
            <a:off x="742950" y="1381125"/>
            <a:ext cx="85725" cy="2619375"/>
          </a:xfrm>
          <a:prstGeom prst="rect">
            <a:avLst/>
          </a:prstGeom>
          <a:solidFill>
            <a:srgbClr val="B8871F"/>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A0DE8823-803F-425F-A972-311CAE38FFBD}"/>
              </a:ext>
            </a:extLst>
          </p:cNvPr>
          <p:cNvSpPr>
            <a:spLocks noGrp="1"/>
          </p:cNvSpPr>
          <p:nvPr/>
        </p:nvSpPr>
        <p:spPr>
          <a:xfrm>
            <a:off x="1095375" y="1314450"/>
            <a:ext cx="5905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950" b="1">
                <a:solidFill>
                  <a:srgbClr val="FFFFFF"/>
                </a:solidFill>
                <a:latin typeface="Aptos Display"/>
                <a:ea typeface="Aptos Display"/>
                <a:cs typeface="Aptos Display"/>
              </a:defRPr>
            </a:pPr>
            <a:r>
              <a:rPr sz="4950" b="1">
                <a:solidFill>
                  <a:srgbClr val="FFFFFF"/>
                </a:solidFill>
                <a:latin typeface="Aptos Display"/>
                <a:ea typeface="Aptos Display"/>
                <a:cs typeface="Aptos Display"/>
              </a:rPr>
              <a:t>HalalScan</a:t>
            </a:r>
          </a:p>
        </p:txBody>
      </p:sp>
      <p:sp>
        <p:nvSpPr>
          <p:cNvPr id="8" name="Rectangle 7">
            <a:extLst>
              <a:ext uri="{FF2B5EF4-FFF2-40B4-BE49-F238E27FC236}">
                <a16:creationId xmlns:a16="http://schemas.microsoft.com/office/drawing/2014/main" id="{0DA14546-DB86-415C-A85E-2197D5BA96DD}"/>
              </a:ext>
            </a:extLst>
          </p:cNvPr>
          <p:cNvSpPr>
            <a:spLocks noGrp="1"/>
          </p:cNvSpPr>
          <p:nvPr/>
        </p:nvSpPr>
        <p:spPr>
          <a:xfrm>
            <a:off x="1123950" y="2305050"/>
            <a:ext cx="66675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400" b="1">
                <a:solidFill>
                  <a:srgbClr val="EAF4EC"/>
                </a:solidFill>
                <a:latin typeface="Aptos Display"/>
                <a:ea typeface="Aptos Display"/>
                <a:cs typeface="Aptos Display"/>
              </a:defRPr>
            </a:pPr>
            <a:r>
              <a:rPr sz="2400" b="1" dirty="0">
                <a:solidFill>
                  <a:srgbClr val="EAF4EC"/>
                </a:solidFill>
                <a:latin typeface="Aptos Display"/>
                <a:ea typeface="Aptos Display"/>
                <a:cs typeface="Aptos Display"/>
              </a:rPr>
              <a:t>Hybrid ML + knowledge-based reasoning for halal food screening.</a:t>
            </a:r>
          </a:p>
        </p:txBody>
      </p:sp>
      <p:sp>
        <p:nvSpPr>
          <p:cNvPr id="9" name="Rectangle 8">
            <a:extLst>
              <a:ext uri="{FF2B5EF4-FFF2-40B4-BE49-F238E27FC236}">
                <a16:creationId xmlns:a16="http://schemas.microsoft.com/office/drawing/2014/main" id="{68D06D41-58A2-4285-8AD0-B656FDF26CFE}"/>
              </a:ext>
            </a:extLst>
          </p:cNvPr>
          <p:cNvSpPr>
            <a:spLocks noGrp="1"/>
          </p:cNvSpPr>
          <p:nvPr/>
        </p:nvSpPr>
        <p:spPr>
          <a:xfrm>
            <a:off x="1143000" y="3286125"/>
            <a:ext cx="4953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DCEBDD"/>
                </a:solidFill>
                <a:latin typeface="Aptos"/>
                <a:ea typeface="Aptos"/>
                <a:cs typeface="Aptos"/>
              </a:defRPr>
            </a:pPr>
            <a:r>
              <a:rPr sz="1650" b="0">
                <a:solidFill>
                  <a:srgbClr val="DCEBDD"/>
                </a:solidFill>
                <a:latin typeface="Aptos"/>
                <a:ea typeface="Aptos"/>
                <a:cs typeface="Aptos"/>
              </a:rPr>
              <a:t>Team: Paclibar, Nebrija, Ibrahim</a:t>
            </a:r>
          </a:p>
        </p:txBody>
      </p:sp>
      <p:sp>
        <p:nvSpPr>
          <p:cNvPr id="10" name="Rectangle 9">
            <a:extLst>
              <a:ext uri="{FF2B5EF4-FFF2-40B4-BE49-F238E27FC236}">
                <a16:creationId xmlns:a16="http://schemas.microsoft.com/office/drawing/2014/main" id="{B3B17A2E-8213-4DA5-8F8A-D01DE3046DD1}"/>
              </a:ext>
            </a:extLst>
          </p:cNvPr>
          <p:cNvSpPr>
            <a:spLocks noGrp="1"/>
          </p:cNvSpPr>
          <p:nvPr/>
        </p:nvSpPr>
        <p:spPr>
          <a:xfrm>
            <a:off x="1095375" y="5095875"/>
            <a:ext cx="47625" cy="819150"/>
          </a:xfrm>
          <a:prstGeom prst="rect">
            <a:avLst/>
          </a:prstGeom>
          <a:solidFill>
            <a:srgbClr val="B8871F"/>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55E8EFE3-CDC6-45EA-B642-C9C0ECE54156}"/>
              </a:ext>
            </a:extLst>
          </p:cNvPr>
          <p:cNvSpPr>
            <a:spLocks noGrp="1"/>
          </p:cNvSpPr>
          <p:nvPr/>
        </p:nvSpPr>
        <p:spPr>
          <a:xfrm>
            <a:off x="1304925" y="505777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67</a:t>
            </a:r>
          </a:p>
        </p:txBody>
      </p:sp>
      <p:sp>
        <p:nvSpPr>
          <p:cNvPr id="12" name="Rectangle 11">
            <a:extLst>
              <a:ext uri="{FF2B5EF4-FFF2-40B4-BE49-F238E27FC236}">
                <a16:creationId xmlns:a16="http://schemas.microsoft.com/office/drawing/2014/main" id="{62BE718D-2B3A-4A61-BEC3-07E67A7F0580}"/>
              </a:ext>
            </a:extLst>
          </p:cNvPr>
          <p:cNvSpPr>
            <a:spLocks noGrp="1"/>
          </p:cNvSpPr>
          <p:nvPr/>
        </p:nvSpPr>
        <p:spPr>
          <a:xfrm>
            <a:off x="1304925" y="554355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DCEBDD"/>
                </a:solidFill>
                <a:latin typeface="Aptos"/>
                <a:ea typeface="Aptos"/>
                <a:cs typeface="Aptos"/>
              </a:defRPr>
            </a:pPr>
            <a:r>
              <a:rPr sz="1500" b="1" dirty="0">
                <a:solidFill>
                  <a:srgbClr val="DCEBDD"/>
                </a:solidFill>
                <a:latin typeface="Aptos"/>
                <a:ea typeface="Aptos"/>
                <a:cs typeface="Aptos"/>
              </a:rPr>
              <a:t>KB RULES</a:t>
            </a:r>
          </a:p>
        </p:txBody>
      </p:sp>
      <p:sp>
        <p:nvSpPr>
          <p:cNvPr id="13" name="Rectangle 12">
            <a:extLst>
              <a:ext uri="{FF2B5EF4-FFF2-40B4-BE49-F238E27FC236}">
                <a16:creationId xmlns:a16="http://schemas.microsoft.com/office/drawing/2014/main" id="{6106BA73-BA62-4D18-A0FB-013EE4DD42AF}"/>
              </a:ext>
            </a:extLst>
          </p:cNvPr>
          <p:cNvSpPr>
            <a:spLocks noGrp="1"/>
          </p:cNvSpPr>
          <p:nvPr/>
        </p:nvSpPr>
        <p:spPr>
          <a:xfrm>
            <a:off x="1304925" y="576262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C9D7CC"/>
                </a:solidFill>
                <a:latin typeface="Aptos"/>
                <a:ea typeface="Aptos"/>
                <a:cs typeface="Aptos"/>
              </a:defRPr>
            </a:pPr>
            <a:r>
              <a:rPr sz="1200" b="0" dirty="0">
                <a:solidFill>
                  <a:srgbClr val="C9D7CC"/>
                </a:solidFill>
                <a:latin typeface="Aptos"/>
                <a:ea typeface="Aptos"/>
                <a:cs typeface="Aptos"/>
              </a:rPr>
              <a:t>canonical rule base</a:t>
            </a:r>
          </a:p>
        </p:txBody>
      </p:sp>
      <p:sp>
        <p:nvSpPr>
          <p:cNvPr id="14" name="Rectangle 13">
            <a:extLst>
              <a:ext uri="{FF2B5EF4-FFF2-40B4-BE49-F238E27FC236}">
                <a16:creationId xmlns:a16="http://schemas.microsoft.com/office/drawing/2014/main" id="{24C9A295-2934-4485-BD6C-ECCC8F2D277B}"/>
              </a:ext>
            </a:extLst>
          </p:cNvPr>
          <p:cNvSpPr>
            <a:spLocks noGrp="1"/>
          </p:cNvSpPr>
          <p:nvPr/>
        </p:nvSpPr>
        <p:spPr>
          <a:xfrm>
            <a:off x="4048125" y="5095875"/>
            <a:ext cx="47625" cy="819150"/>
          </a:xfrm>
          <a:prstGeom prst="rect">
            <a:avLst/>
          </a:prstGeom>
          <a:solidFill>
            <a:srgbClr val="B8871F"/>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EBB615A2-49EA-4ECC-9BBC-1C36BC9D09F7}"/>
              </a:ext>
            </a:extLst>
          </p:cNvPr>
          <p:cNvSpPr>
            <a:spLocks noGrp="1"/>
          </p:cNvSpPr>
          <p:nvPr/>
        </p:nvSpPr>
        <p:spPr>
          <a:xfrm>
            <a:off x="4257675" y="505777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21/21</a:t>
            </a:r>
          </a:p>
        </p:txBody>
      </p:sp>
      <p:sp>
        <p:nvSpPr>
          <p:cNvPr id="16" name="Rectangle 15">
            <a:extLst>
              <a:ext uri="{FF2B5EF4-FFF2-40B4-BE49-F238E27FC236}">
                <a16:creationId xmlns:a16="http://schemas.microsoft.com/office/drawing/2014/main" id="{2AED2EDD-D902-46CA-9447-8139D2A6BC07}"/>
              </a:ext>
            </a:extLst>
          </p:cNvPr>
          <p:cNvSpPr>
            <a:spLocks noGrp="1"/>
          </p:cNvSpPr>
          <p:nvPr/>
        </p:nvSpPr>
        <p:spPr>
          <a:xfrm>
            <a:off x="4257675" y="554355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DCEBDD"/>
                </a:solidFill>
                <a:latin typeface="Aptos"/>
                <a:ea typeface="Aptos"/>
                <a:cs typeface="Aptos"/>
              </a:defRPr>
            </a:pPr>
            <a:r>
              <a:rPr sz="1500" b="1" dirty="0">
                <a:solidFill>
                  <a:srgbClr val="DCEBDD"/>
                </a:solidFill>
                <a:latin typeface="Aptos"/>
                <a:ea typeface="Aptos"/>
                <a:cs typeface="Aptos"/>
              </a:rPr>
              <a:t>BACKEND TESTS</a:t>
            </a:r>
          </a:p>
        </p:txBody>
      </p:sp>
      <p:sp>
        <p:nvSpPr>
          <p:cNvPr id="17" name="Rectangle 16">
            <a:extLst>
              <a:ext uri="{FF2B5EF4-FFF2-40B4-BE49-F238E27FC236}">
                <a16:creationId xmlns:a16="http://schemas.microsoft.com/office/drawing/2014/main" id="{7015E834-2D6E-4A3C-8972-8395B3DF4409}"/>
              </a:ext>
            </a:extLst>
          </p:cNvPr>
          <p:cNvSpPr>
            <a:spLocks noGrp="1"/>
          </p:cNvSpPr>
          <p:nvPr/>
        </p:nvSpPr>
        <p:spPr>
          <a:xfrm>
            <a:off x="4257675" y="576262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C9D7CC"/>
                </a:solidFill>
                <a:latin typeface="Aptos"/>
                <a:ea typeface="Aptos"/>
                <a:cs typeface="Aptos"/>
              </a:defRPr>
            </a:pPr>
            <a:r>
              <a:rPr sz="1200" b="0" dirty="0">
                <a:solidFill>
                  <a:srgbClr val="C9D7CC"/>
                </a:solidFill>
                <a:latin typeface="Aptos"/>
                <a:ea typeface="Aptos"/>
                <a:cs typeface="Aptos"/>
              </a:rPr>
              <a:t>all passing</a:t>
            </a:r>
          </a:p>
        </p:txBody>
      </p:sp>
      <p:sp>
        <p:nvSpPr>
          <p:cNvPr id="18" name="Rectangle 17">
            <a:extLst>
              <a:ext uri="{FF2B5EF4-FFF2-40B4-BE49-F238E27FC236}">
                <a16:creationId xmlns:a16="http://schemas.microsoft.com/office/drawing/2014/main" id="{2B8FE384-9CD9-4869-8008-9A36BD98497E}"/>
              </a:ext>
            </a:extLst>
          </p:cNvPr>
          <p:cNvSpPr>
            <a:spLocks noGrp="1"/>
          </p:cNvSpPr>
          <p:nvPr/>
        </p:nvSpPr>
        <p:spPr>
          <a:xfrm>
            <a:off x="7239000" y="5095875"/>
            <a:ext cx="47625" cy="819150"/>
          </a:xfrm>
          <a:prstGeom prst="rect">
            <a:avLst/>
          </a:prstGeom>
          <a:solidFill>
            <a:srgbClr val="B8871F"/>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B93FB63C-7BB5-4459-9C10-8C50D5D986F4}"/>
              </a:ext>
            </a:extLst>
          </p:cNvPr>
          <p:cNvSpPr>
            <a:spLocks noGrp="1"/>
          </p:cNvSpPr>
          <p:nvPr/>
        </p:nvSpPr>
        <p:spPr>
          <a:xfrm>
            <a:off x="7448550" y="505777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3</a:t>
            </a:r>
          </a:p>
        </p:txBody>
      </p:sp>
      <p:sp>
        <p:nvSpPr>
          <p:cNvPr id="20" name="Rectangle 19">
            <a:extLst>
              <a:ext uri="{FF2B5EF4-FFF2-40B4-BE49-F238E27FC236}">
                <a16:creationId xmlns:a16="http://schemas.microsoft.com/office/drawing/2014/main" id="{561E7A06-A196-46BA-A0D7-C61D4F43A067}"/>
              </a:ext>
            </a:extLst>
          </p:cNvPr>
          <p:cNvSpPr>
            <a:spLocks noGrp="1"/>
          </p:cNvSpPr>
          <p:nvPr/>
        </p:nvSpPr>
        <p:spPr>
          <a:xfrm>
            <a:off x="7448550" y="554355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DCEBDD"/>
                </a:solidFill>
                <a:latin typeface="Aptos"/>
                <a:ea typeface="Aptos"/>
                <a:cs typeface="Aptos"/>
              </a:defRPr>
            </a:pPr>
            <a:r>
              <a:rPr sz="1500" b="1" dirty="0">
                <a:solidFill>
                  <a:srgbClr val="DCEBDD"/>
                </a:solidFill>
                <a:latin typeface="Aptos"/>
                <a:ea typeface="Aptos"/>
                <a:cs typeface="Aptos"/>
              </a:rPr>
              <a:t>VERDICT STATES</a:t>
            </a:r>
          </a:p>
        </p:txBody>
      </p:sp>
      <p:sp>
        <p:nvSpPr>
          <p:cNvPr id="21" name="Rectangle 20">
            <a:extLst>
              <a:ext uri="{FF2B5EF4-FFF2-40B4-BE49-F238E27FC236}">
                <a16:creationId xmlns:a16="http://schemas.microsoft.com/office/drawing/2014/main" id="{8FEFFB89-B47A-470A-B25A-F3C6359722B6}"/>
              </a:ext>
            </a:extLst>
          </p:cNvPr>
          <p:cNvSpPr>
            <a:spLocks noGrp="1"/>
          </p:cNvSpPr>
          <p:nvPr/>
        </p:nvSpPr>
        <p:spPr>
          <a:xfrm>
            <a:off x="7448550" y="576262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C9D7CC"/>
                </a:solidFill>
                <a:latin typeface="Aptos"/>
                <a:ea typeface="Aptos"/>
                <a:cs typeface="Aptos"/>
              </a:defRPr>
            </a:pPr>
            <a:r>
              <a:rPr sz="1200" b="0" dirty="0">
                <a:solidFill>
                  <a:srgbClr val="C9D7CC"/>
                </a:solidFill>
                <a:latin typeface="Aptos"/>
                <a:ea typeface="Aptos"/>
                <a:cs typeface="Aptos"/>
              </a:rPr>
              <a:t>halal, haram, review</a:t>
            </a:r>
          </a:p>
        </p:txBody>
      </p:sp>
      <p:sp>
        <p:nvSpPr>
          <p:cNvPr id="22" name="Rectangle 21">
            <a:extLst>
              <a:ext uri="{FF2B5EF4-FFF2-40B4-BE49-F238E27FC236}">
                <a16:creationId xmlns:a16="http://schemas.microsoft.com/office/drawing/2014/main" id="{3596FA3D-45E0-49AE-86CF-BCE0FDE79245}"/>
              </a:ext>
            </a:extLst>
          </p:cNvPr>
          <p:cNvSpPr>
            <a:spLocks noGrp="1"/>
          </p:cNvSpPr>
          <p:nvPr/>
        </p:nvSpPr>
        <p:spPr>
          <a:xfrm>
            <a:off x="666750" y="6419850"/>
            <a:ext cx="10572750" cy="19050"/>
          </a:xfrm>
          <a:prstGeom prst="rect">
            <a:avLst/>
          </a:prstGeom>
          <a:solidFill>
            <a:srgbClr val="699274"/>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01BD72ED-D56F-450D-8234-FB8C1A931DEB}"/>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DCEBDD"/>
                </a:solidFill>
                <a:latin typeface="Aptos"/>
                <a:ea typeface="Aptos"/>
                <a:cs typeface="Aptos"/>
              </a:defRPr>
            </a:pPr>
            <a:endParaRPr sz="900" b="0" dirty="0">
              <a:solidFill>
                <a:srgbClr val="DCEBDD"/>
              </a:solidFill>
              <a:latin typeface="Aptos"/>
              <a:ea typeface="Aptos"/>
              <a:cs typeface="Aptos"/>
            </a:endParaRPr>
          </a:p>
        </p:txBody>
      </p:sp>
      <p:sp>
        <p:nvSpPr>
          <p:cNvPr id="24" name="Rectangle 23">
            <a:extLst>
              <a:ext uri="{FF2B5EF4-FFF2-40B4-BE49-F238E27FC236}">
                <a16:creationId xmlns:a16="http://schemas.microsoft.com/office/drawing/2014/main" id="{FFB8466A-0497-4044-AF4F-579D50508349}"/>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01</a:t>
            </a:r>
          </a:p>
        </p:txBody>
      </p:sp>
      <p:pic>
        <p:nvPicPr>
          <p:cNvPr id="27" name="Picture 26">
            <a:extLst>
              <a:ext uri="{FF2B5EF4-FFF2-40B4-BE49-F238E27FC236}">
                <a16:creationId xmlns:a16="http://schemas.microsoft.com/office/drawing/2014/main" id="{2975C805-7848-80CC-F47B-F6F6C9F780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43962" y="962025"/>
            <a:ext cx="2790825" cy="2790825"/>
          </a:xfrm>
          <a:prstGeom prst="rect">
            <a:avLst/>
          </a:prstGeom>
        </p:spPr>
      </p:pic>
    </p:spTree>
    <p:extLst>
      <p:ext uri="{BB962C8B-B14F-4D97-AF65-F5344CB8AC3E}">
        <p14:creationId xmlns:p14="http://schemas.microsoft.com/office/powerpoint/2010/main" val="2146581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AA03EB3-0E7B-4544-A051-17472869EB43}"/>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2629977-4257-40B4-A44A-AC13DCB98191}"/>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ADF9E416-4FE2-4EEA-9F96-59740B20BD18}"/>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4B5B52"/>
                </a:solidFill>
                <a:latin typeface="Aptos"/>
                <a:ea typeface="Aptos"/>
                <a:cs typeface="Aptos"/>
              </a:defRPr>
            </a:pPr>
            <a:r>
              <a:rPr sz="1125" b="1">
                <a:solidFill>
                  <a:srgbClr val="4B5B52"/>
                </a:solidFill>
                <a:latin typeface="Aptos"/>
                <a:ea typeface="Aptos"/>
                <a:cs typeface="Aptos"/>
              </a:rPr>
              <a:t>PROBLEM</a:t>
            </a:r>
          </a:p>
        </p:txBody>
      </p:sp>
      <p:sp>
        <p:nvSpPr>
          <p:cNvPr id="5" name="Rectangle 4">
            <a:extLst>
              <a:ext uri="{FF2B5EF4-FFF2-40B4-BE49-F238E27FC236}">
                <a16:creationId xmlns:a16="http://schemas.microsoft.com/office/drawing/2014/main" id="{A87AE6C5-47DD-410C-8CA0-09D07B73C070}"/>
              </a:ext>
            </a:extLst>
          </p:cNvPr>
          <p:cNvSpPr>
            <a:spLocks noGrp="1"/>
          </p:cNvSpPr>
          <p:nvPr/>
        </p:nvSpPr>
        <p:spPr>
          <a:xfrm>
            <a:off x="666750" y="876300"/>
            <a:ext cx="7810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600" b="1">
                <a:solidFill>
                  <a:srgbClr val="071F16"/>
                </a:solidFill>
                <a:latin typeface="Aptos Display"/>
                <a:ea typeface="Aptos Display"/>
                <a:cs typeface="Aptos Display"/>
              </a:defRPr>
            </a:pPr>
            <a:r>
              <a:rPr sz="3600" b="1">
                <a:solidFill>
                  <a:srgbClr val="071F16"/>
                </a:solidFill>
                <a:latin typeface="Aptos Display"/>
                <a:ea typeface="Aptos Display"/>
                <a:cs typeface="Aptos Display"/>
              </a:rPr>
              <a:t>Food labels are hard to judge quickly.</a:t>
            </a:r>
          </a:p>
        </p:txBody>
      </p:sp>
      <p:sp>
        <p:nvSpPr>
          <p:cNvPr id="6" name="Rectangle 5">
            <a:extLst>
              <a:ext uri="{FF2B5EF4-FFF2-40B4-BE49-F238E27FC236}">
                <a16:creationId xmlns:a16="http://schemas.microsoft.com/office/drawing/2014/main" id="{0E372C9E-6370-49C9-89AA-05DF8318F410}"/>
              </a:ext>
            </a:extLst>
          </p:cNvPr>
          <p:cNvSpPr>
            <a:spLocks noGrp="1"/>
          </p:cNvSpPr>
          <p:nvPr/>
        </p:nvSpPr>
        <p:spPr>
          <a:xfrm>
            <a:off x="714375" y="1809750"/>
            <a:ext cx="91440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4B5B52"/>
                </a:solidFill>
                <a:latin typeface="Aptos Display"/>
                <a:ea typeface="Aptos Display"/>
                <a:cs typeface="Aptos Display"/>
              </a:defRPr>
            </a:pPr>
            <a:r>
              <a:rPr sz="1950" b="1">
                <a:solidFill>
                  <a:srgbClr val="4B5B52"/>
                </a:solidFill>
                <a:latin typeface="Aptos Display"/>
                <a:ea typeface="Aptos Display"/>
                <a:cs typeface="Aptos Display"/>
              </a:rPr>
              <a:t>Users need a simple answer. The professor needs proof of how the answer was produced.</a:t>
            </a:r>
          </a:p>
        </p:txBody>
      </p:sp>
      <p:sp>
        <p:nvSpPr>
          <p:cNvPr id="7" name="Rectangle 6">
            <a:extLst>
              <a:ext uri="{FF2B5EF4-FFF2-40B4-BE49-F238E27FC236}">
                <a16:creationId xmlns:a16="http://schemas.microsoft.com/office/drawing/2014/main" id="{FF480E32-9FE1-4BC4-A39E-6B367097301C}"/>
              </a:ext>
            </a:extLst>
          </p:cNvPr>
          <p:cNvSpPr>
            <a:spLocks noGrp="1"/>
          </p:cNvSpPr>
          <p:nvPr/>
        </p:nvSpPr>
        <p:spPr>
          <a:xfrm>
            <a:off x="809625" y="2714625"/>
            <a:ext cx="3143250" cy="1952625"/>
          </a:xfrm>
          <a:prstGeom prst="rect">
            <a:avLst/>
          </a:prstGeom>
          <a:solidFill>
            <a:srgbClr val="FFFFFF"/>
          </a:solidFill>
          <a:ln w="9525">
            <a:solidFill>
              <a:srgbClr val="CBBEAA"/>
            </a:solidFill>
            <a:prstDash val="solid"/>
          </a:ln>
        </p:spPr>
        <p:txBody>
          <a:bodyPr/>
          <a:lstStyle/>
          <a:p>
            <a:endParaRPr lang="en-US"/>
          </a:p>
        </p:txBody>
      </p:sp>
      <p:sp>
        <p:nvSpPr>
          <p:cNvPr id="8" name="Rectangle 7">
            <a:extLst>
              <a:ext uri="{FF2B5EF4-FFF2-40B4-BE49-F238E27FC236}">
                <a16:creationId xmlns:a16="http://schemas.microsoft.com/office/drawing/2014/main" id="{BEB9A585-526E-4734-BFD7-3B8122989506}"/>
              </a:ext>
            </a:extLst>
          </p:cNvPr>
          <p:cNvSpPr>
            <a:spLocks noGrp="1"/>
          </p:cNvSpPr>
          <p:nvPr/>
        </p:nvSpPr>
        <p:spPr>
          <a:xfrm>
            <a:off x="809625" y="2714625"/>
            <a:ext cx="85725" cy="1952625"/>
          </a:xfrm>
          <a:prstGeom prst="rect">
            <a:avLst/>
          </a:prstGeom>
          <a:solidFill>
            <a:srgbClr val="D40000"/>
          </a:solidFill>
          <a:ln w="0">
            <a:solidFill>
              <a:srgbClr val="000000">
                <a:alpha val="0"/>
              </a:srgbClr>
            </a:solidFill>
            <a:prstDash val="solid"/>
          </a:ln>
        </p:spPr>
        <p:txBody>
          <a:bodyPr/>
          <a:lstStyle/>
          <a:p>
            <a:endParaRPr lang="en-US"/>
          </a:p>
        </p:txBody>
      </p:sp>
      <p:sp>
        <p:nvSpPr>
          <p:cNvPr id="9" name="Rectangle 8">
            <a:extLst>
              <a:ext uri="{FF2B5EF4-FFF2-40B4-BE49-F238E27FC236}">
                <a16:creationId xmlns:a16="http://schemas.microsoft.com/office/drawing/2014/main" id="{1E8FB08E-7AC2-4521-82F2-76BA12704E81}"/>
              </a:ext>
            </a:extLst>
          </p:cNvPr>
          <p:cNvSpPr>
            <a:spLocks noGrp="1"/>
          </p:cNvSpPr>
          <p:nvPr/>
        </p:nvSpPr>
        <p:spPr>
          <a:xfrm>
            <a:off x="1076325" y="2943225"/>
            <a:ext cx="26098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D40000"/>
                </a:solidFill>
                <a:latin typeface="Aptos"/>
                <a:ea typeface="Aptos"/>
                <a:cs typeface="Aptos"/>
              </a:defRPr>
            </a:pPr>
            <a:r>
              <a:rPr sz="1800" b="1">
                <a:solidFill>
                  <a:srgbClr val="D40000"/>
                </a:solidFill>
                <a:latin typeface="Aptos"/>
                <a:ea typeface="Aptos"/>
                <a:cs typeface="Aptos"/>
              </a:rPr>
              <a:t>Hidden risks</a:t>
            </a:r>
          </a:p>
        </p:txBody>
      </p:sp>
      <p:sp>
        <p:nvSpPr>
          <p:cNvPr id="10" name="Rectangle 9">
            <a:extLst>
              <a:ext uri="{FF2B5EF4-FFF2-40B4-BE49-F238E27FC236}">
                <a16:creationId xmlns:a16="http://schemas.microsoft.com/office/drawing/2014/main" id="{5571544E-7E89-44DA-9679-A3BC80F1E3E6}"/>
              </a:ext>
            </a:extLst>
          </p:cNvPr>
          <p:cNvSpPr>
            <a:spLocks noGrp="1"/>
          </p:cNvSpPr>
          <p:nvPr/>
        </p:nvSpPr>
        <p:spPr>
          <a:xfrm>
            <a:off x="1076325" y="3400425"/>
            <a:ext cx="2609850" cy="10953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071F16"/>
                </a:solidFill>
                <a:latin typeface="Aptos"/>
                <a:ea typeface="Aptos"/>
                <a:cs typeface="Aptos"/>
              </a:defRPr>
            </a:pPr>
            <a:r>
              <a:rPr sz="1575" b="0">
                <a:solidFill>
                  <a:srgbClr val="071F16"/>
                </a:solidFill>
                <a:latin typeface="Aptos"/>
                <a:ea typeface="Aptos"/>
                <a:cs typeface="Aptos"/>
              </a:rPr>
              <a:t>Pork derivatives, alcohol carriers, gelatin, enzymes, and E-numbers can be hard to identify.</a:t>
            </a:r>
          </a:p>
        </p:txBody>
      </p:sp>
      <p:sp>
        <p:nvSpPr>
          <p:cNvPr id="11" name="Rectangle 10">
            <a:extLst>
              <a:ext uri="{FF2B5EF4-FFF2-40B4-BE49-F238E27FC236}">
                <a16:creationId xmlns:a16="http://schemas.microsoft.com/office/drawing/2014/main" id="{44E02D35-CFF1-4C8B-B15A-327D4DCF5C88}"/>
              </a:ext>
            </a:extLst>
          </p:cNvPr>
          <p:cNvSpPr>
            <a:spLocks noGrp="1"/>
          </p:cNvSpPr>
          <p:nvPr/>
        </p:nvSpPr>
        <p:spPr>
          <a:xfrm>
            <a:off x="4524375" y="2714625"/>
            <a:ext cx="3143250" cy="1952625"/>
          </a:xfrm>
          <a:prstGeom prst="rect">
            <a:avLst/>
          </a:prstGeom>
          <a:solidFill>
            <a:srgbClr val="FFFFFF"/>
          </a:solidFill>
          <a:ln w="9525">
            <a:solidFill>
              <a:srgbClr val="CBBEAA"/>
            </a:solidFill>
            <a:prstDash val="solid"/>
          </a:ln>
        </p:spPr>
        <p:txBody>
          <a:bodyPr/>
          <a:lstStyle/>
          <a:p>
            <a:endParaRPr lang="en-US"/>
          </a:p>
        </p:txBody>
      </p:sp>
      <p:sp>
        <p:nvSpPr>
          <p:cNvPr id="12" name="Rectangle 11">
            <a:extLst>
              <a:ext uri="{FF2B5EF4-FFF2-40B4-BE49-F238E27FC236}">
                <a16:creationId xmlns:a16="http://schemas.microsoft.com/office/drawing/2014/main" id="{4AE86FF4-7E0B-4659-A78B-595772CA19DD}"/>
              </a:ext>
            </a:extLst>
          </p:cNvPr>
          <p:cNvSpPr>
            <a:spLocks noGrp="1"/>
          </p:cNvSpPr>
          <p:nvPr/>
        </p:nvSpPr>
        <p:spPr>
          <a:xfrm>
            <a:off x="4524375" y="2714625"/>
            <a:ext cx="85725" cy="1952625"/>
          </a:xfrm>
          <a:prstGeom prst="rect">
            <a:avLst/>
          </a:prstGeom>
          <a:solidFill>
            <a:srgbClr val="B87900"/>
          </a:solidFill>
          <a:ln w="0">
            <a:solidFill>
              <a:srgbClr val="000000">
                <a:alpha val="0"/>
              </a:srgbClr>
            </a:solidFill>
            <a:prstDash val="solid"/>
          </a:ln>
        </p:spPr>
        <p:txBody>
          <a:bodyPr/>
          <a:lstStyle/>
          <a:p>
            <a:endParaRPr lang="en-US"/>
          </a:p>
        </p:txBody>
      </p:sp>
      <p:sp>
        <p:nvSpPr>
          <p:cNvPr id="13" name="Rectangle 12">
            <a:extLst>
              <a:ext uri="{FF2B5EF4-FFF2-40B4-BE49-F238E27FC236}">
                <a16:creationId xmlns:a16="http://schemas.microsoft.com/office/drawing/2014/main" id="{C69DE25A-4579-47E7-A517-959F8C849535}"/>
              </a:ext>
            </a:extLst>
          </p:cNvPr>
          <p:cNvSpPr>
            <a:spLocks noGrp="1"/>
          </p:cNvSpPr>
          <p:nvPr/>
        </p:nvSpPr>
        <p:spPr>
          <a:xfrm>
            <a:off x="4791075" y="2943225"/>
            <a:ext cx="26098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B87900"/>
                </a:solidFill>
                <a:latin typeface="Aptos"/>
                <a:ea typeface="Aptos"/>
                <a:cs typeface="Aptos"/>
              </a:defRPr>
            </a:pPr>
            <a:r>
              <a:rPr sz="1800" b="1">
                <a:solidFill>
                  <a:srgbClr val="B87900"/>
                </a:solidFill>
                <a:latin typeface="Aptos"/>
                <a:ea typeface="Aptos"/>
                <a:cs typeface="Aptos"/>
              </a:rPr>
              <a:t>Manual checks</a:t>
            </a:r>
          </a:p>
        </p:txBody>
      </p:sp>
      <p:sp>
        <p:nvSpPr>
          <p:cNvPr id="14" name="Rectangle 13">
            <a:extLst>
              <a:ext uri="{FF2B5EF4-FFF2-40B4-BE49-F238E27FC236}">
                <a16:creationId xmlns:a16="http://schemas.microsoft.com/office/drawing/2014/main" id="{5633F587-4ADA-4C77-8362-2B9DCEF6C5D9}"/>
              </a:ext>
            </a:extLst>
          </p:cNvPr>
          <p:cNvSpPr>
            <a:spLocks noGrp="1"/>
          </p:cNvSpPr>
          <p:nvPr/>
        </p:nvSpPr>
        <p:spPr>
          <a:xfrm>
            <a:off x="4791075" y="3400425"/>
            <a:ext cx="2609850" cy="10953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071F16"/>
                </a:solidFill>
                <a:latin typeface="Aptos"/>
                <a:ea typeface="Aptos"/>
                <a:cs typeface="Aptos"/>
              </a:defRPr>
            </a:pPr>
            <a:r>
              <a:rPr sz="1575" b="0">
                <a:solidFill>
                  <a:srgbClr val="071F16"/>
                </a:solidFill>
                <a:latin typeface="Aptos"/>
                <a:ea typeface="Aptos"/>
                <a:cs typeface="Aptos"/>
              </a:rPr>
              <a:t>People may not know ingredient terms or certifying body reliability.</a:t>
            </a:r>
          </a:p>
        </p:txBody>
      </p:sp>
      <p:sp>
        <p:nvSpPr>
          <p:cNvPr id="15" name="Rectangle 14">
            <a:extLst>
              <a:ext uri="{FF2B5EF4-FFF2-40B4-BE49-F238E27FC236}">
                <a16:creationId xmlns:a16="http://schemas.microsoft.com/office/drawing/2014/main" id="{B631E237-9AC6-49F9-9D1E-CAF185C51967}"/>
              </a:ext>
            </a:extLst>
          </p:cNvPr>
          <p:cNvSpPr>
            <a:spLocks noGrp="1"/>
          </p:cNvSpPr>
          <p:nvPr/>
        </p:nvSpPr>
        <p:spPr>
          <a:xfrm>
            <a:off x="8239125" y="2714625"/>
            <a:ext cx="3143250" cy="1952625"/>
          </a:xfrm>
          <a:prstGeom prst="rect">
            <a:avLst/>
          </a:prstGeom>
          <a:solidFill>
            <a:srgbClr val="FFFFFF"/>
          </a:solidFill>
          <a:ln w="9525">
            <a:solidFill>
              <a:srgbClr val="CBBEAA"/>
            </a:solidFill>
            <a:prstDash val="solid"/>
          </a:ln>
        </p:spPr>
        <p:txBody>
          <a:bodyPr/>
          <a:lstStyle/>
          <a:p>
            <a:endParaRPr lang="en-US"/>
          </a:p>
        </p:txBody>
      </p:sp>
      <p:sp>
        <p:nvSpPr>
          <p:cNvPr id="16" name="Rectangle 15">
            <a:extLst>
              <a:ext uri="{FF2B5EF4-FFF2-40B4-BE49-F238E27FC236}">
                <a16:creationId xmlns:a16="http://schemas.microsoft.com/office/drawing/2014/main" id="{D6BBD1F7-FCC6-436D-B53F-409F57F00BCE}"/>
              </a:ext>
            </a:extLst>
          </p:cNvPr>
          <p:cNvSpPr>
            <a:spLocks noGrp="1"/>
          </p:cNvSpPr>
          <p:nvPr/>
        </p:nvSpPr>
        <p:spPr>
          <a:xfrm>
            <a:off x="8239125" y="2714625"/>
            <a:ext cx="85725" cy="1952625"/>
          </a:xfrm>
          <a:prstGeom prst="rect">
            <a:avLst/>
          </a:prstGeom>
          <a:solidFill>
            <a:srgbClr val="116A38"/>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24355129-77EB-433B-8015-678209876C67}"/>
              </a:ext>
            </a:extLst>
          </p:cNvPr>
          <p:cNvSpPr>
            <a:spLocks noGrp="1"/>
          </p:cNvSpPr>
          <p:nvPr/>
        </p:nvSpPr>
        <p:spPr>
          <a:xfrm>
            <a:off x="8505825" y="2943225"/>
            <a:ext cx="26098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16A38"/>
                </a:solidFill>
                <a:latin typeface="Aptos"/>
                <a:ea typeface="Aptos"/>
                <a:cs typeface="Aptos"/>
              </a:defRPr>
            </a:pPr>
            <a:r>
              <a:rPr sz="1800" b="1">
                <a:solidFill>
                  <a:srgbClr val="116A38"/>
                </a:solidFill>
                <a:latin typeface="Aptos"/>
                <a:ea typeface="Aptos"/>
                <a:cs typeface="Aptos"/>
              </a:rPr>
              <a:t>Project goal</a:t>
            </a:r>
          </a:p>
        </p:txBody>
      </p:sp>
      <p:sp>
        <p:nvSpPr>
          <p:cNvPr id="18" name="Rectangle 17">
            <a:extLst>
              <a:ext uri="{FF2B5EF4-FFF2-40B4-BE49-F238E27FC236}">
                <a16:creationId xmlns:a16="http://schemas.microsoft.com/office/drawing/2014/main" id="{F62584E8-F6D2-49EA-8D9F-0BFC42ADBF01}"/>
              </a:ext>
            </a:extLst>
          </p:cNvPr>
          <p:cNvSpPr>
            <a:spLocks noGrp="1"/>
          </p:cNvSpPr>
          <p:nvPr/>
        </p:nvSpPr>
        <p:spPr>
          <a:xfrm>
            <a:off x="8505825" y="3400425"/>
            <a:ext cx="2609850" cy="10953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071F16"/>
                </a:solidFill>
                <a:latin typeface="Aptos"/>
                <a:ea typeface="Aptos"/>
                <a:cs typeface="Aptos"/>
              </a:defRPr>
            </a:pPr>
            <a:r>
              <a:rPr sz="1575" b="0">
                <a:solidFill>
                  <a:srgbClr val="071F16"/>
                </a:solidFill>
                <a:latin typeface="Aptos"/>
                <a:ea typeface="Aptos"/>
                <a:cs typeface="Aptos"/>
              </a:rPr>
              <a:t>Return a verdict plus the rules, reason, and recommendation.</a:t>
            </a:r>
          </a:p>
        </p:txBody>
      </p:sp>
      <p:sp>
        <p:nvSpPr>
          <p:cNvPr id="19" name="Rectangle 18">
            <a:extLst>
              <a:ext uri="{FF2B5EF4-FFF2-40B4-BE49-F238E27FC236}">
                <a16:creationId xmlns:a16="http://schemas.microsoft.com/office/drawing/2014/main" id="{15BBF8B0-C6C4-43A9-81DF-3C9893770C66}"/>
              </a:ext>
            </a:extLst>
          </p:cNvPr>
          <p:cNvSpPr>
            <a:spLocks noGrp="1"/>
          </p:cNvSpPr>
          <p:nvPr/>
        </p:nvSpPr>
        <p:spPr>
          <a:xfrm>
            <a:off x="1476375" y="5381625"/>
            <a:ext cx="9239250" cy="552450"/>
          </a:xfrm>
          <a:prstGeom prst="rect">
            <a:avLst/>
          </a:prstGeom>
          <a:solidFill>
            <a:srgbClr val="116A38"/>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0525CCCD-0EEE-469B-8FC3-EF1E99CCF187}"/>
              </a:ext>
            </a:extLst>
          </p:cNvPr>
          <p:cNvSpPr>
            <a:spLocks noGrp="1"/>
          </p:cNvSpPr>
          <p:nvPr/>
        </p:nvSpPr>
        <p:spPr>
          <a:xfrm>
            <a:off x="1476375" y="5486400"/>
            <a:ext cx="92392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Simple user label. Clear grading evidence.</a:t>
            </a:r>
          </a:p>
        </p:txBody>
      </p:sp>
      <p:sp>
        <p:nvSpPr>
          <p:cNvPr id="21" name="Rectangle 20">
            <a:extLst>
              <a:ext uri="{FF2B5EF4-FFF2-40B4-BE49-F238E27FC236}">
                <a16:creationId xmlns:a16="http://schemas.microsoft.com/office/drawing/2014/main" id="{C5AC0484-A258-4856-BBC7-E0C407F6C6D2}"/>
              </a:ext>
            </a:extLst>
          </p:cNvPr>
          <p:cNvSpPr>
            <a:spLocks noGrp="1"/>
          </p:cNvSpPr>
          <p:nvPr/>
        </p:nvSpPr>
        <p:spPr>
          <a:xfrm>
            <a:off x="666750" y="6419850"/>
            <a:ext cx="10572750" cy="19050"/>
          </a:xfrm>
          <a:prstGeom prst="rect">
            <a:avLst/>
          </a:prstGeom>
          <a:solidFill>
            <a:srgbClr val="CBBEAA"/>
          </a:solidFill>
          <a:ln w="0">
            <a:solidFill>
              <a:srgbClr val="000000">
                <a:alpha val="0"/>
              </a:srgbClr>
            </a:solidFill>
            <a:prstDash val="solid"/>
          </a:ln>
        </p:spPr>
        <p:txBody>
          <a:bodyPr/>
          <a:lstStyle/>
          <a:p>
            <a:endParaRPr lang="en-US"/>
          </a:p>
        </p:txBody>
      </p:sp>
      <p:sp>
        <p:nvSpPr>
          <p:cNvPr id="22" name="Rectangle 21">
            <a:extLst>
              <a:ext uri="{FF2B5EF4-FFF2-40B4-BE49-F238E27FC236}">
                <a16:creationId xmlns:a16="http://schemas.microsoft.com/office/drawing/2014/main" id="{680A2B7B-86F9-4D23-A1A3-4D1081F8B7DE}"/>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4B5B52"/>
                </a:solidFill>
                <a:latin typeface="Aptos"/>
                <a:ea typeface="Aptos"/>
                <a:cs typeface="Aptos"/>
              </a:defRPr>
            </a:pPr>
            <a:r>
              <a:rPr sz="900" b="0">
                <a:solidFill>
                  <a:srgbClr val="4B5B52"/>
                </a:solidFill>
                <a:latin typeface="Aptos"/>
                <a:ea typeface="Aptos"/>
                <a:cs typeface="Aptos"/>
              </a:rPr>
              <a:t>Project Proposal | Problem and goal</a:t>
            </a:r>
          </a:p>
        </p:txBody>
      </p:sp>
      <p:sp>
        <p:nvSpPr>
          <p:cNvPr id="23" name="Rectangle 22">
            <a:extLst>
              <a:ext uri="{FF2B5EF4-FFF2-40B4-BE49-F238E27FC236}">
                <a16:creationId xmlns:a16="http://schemas.microsoft.com/office/drawing/2014/main" id="{90063143-EFA2-47C7-97EF-0827E15C88A8}"/>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071F16"/>
                </a:solidFill>
                <a:latin typeface="Aptos Display"/>
                <a:ea typeface="Aptos Display"/>
                <a:cs typeface="Aptos Display"/>
              </a:defRPr>
            </a:pPr>
            <a:r>
              <a:rPr sz="1350" b="1">
                <a:solidFill>
                  <a:srgbClr val="071F16"/>
                </a:solidFill>
                <a:latin typeface="Aptos Display"/>
                <a:ea typeface="Aptos Display"/>
                <a:cs typeface="Aptos Display"/>
              </a:rPr>
              <a:t>02</a:t>
            </a:r>
          </a:p>
        </p:txBody>
      </p:sp>
    </p:spTree>
    <p:extLst>
      <p:ext uri="{BB962C8B-B14F-4D97-AF65-F5344CB8AC3E}">
        <p14:creationId xmlns:p14="http://schemas.microsoft.com/office/powerpoint/2010/main" val="173790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9BD20D73-7B86-4E36-A6D4-A30C39F409D8}"/>
              </a:ext>
            </a:extLst>
          </p:cNvPr>
          <p:cNvSpPr>
            <a:spLocks noGrp="1"/>
          </p:cNvSpPr>
          <p:nvPr/>
        </p:nvSpPr>
        <p:spPr>
          <a:xfrm>
            <a:off x="0" y="14990"/>
            <a:ext cx="12192000" cy="6858000"/>
          </a:xfrm>
          <a:prstGeom prst="rect">
            <a:avLst/>
          </a:prstGeom>
          <a:solidFill>
            <a:srgbClr val="FFF8EA"/>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95A94399-345E-46D4-9477-5443BDB8C21A}"/>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478FD6D3-C822-4EF7-B280-37FBA62053DF}"/>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4B5B52"/>
                </a:solidFill>
                <a:latin typeface="Aptos"/>
                <a:ea typeface="Aptos"/>
                <a:cs typeface="Aptos"/>
              </a:defRPr>
            </a:pPr>
            <a:r>
              <a:rPr sz="1125" b="1">
                <a:solidFill>
                  <a:srgbClr val="4B5B52"/>
                </a:solidFill>
                <a:latin typeface="Aptos"/>
                <a:ea typeface="Aptos"/>
                <a:cs typeface="Aptos"/>
              </a:rPr>
              <a:t>AI APPROACH</a:t>
            </a:r>
          </a:p>
        </p:txBody>
      </p:sp>
      <p:sp>
        <p:nvSpPr>
          <p:cNvPr id="5" name="Rectangle 4">
            <a:extLst>
              <a:ext uri="{FF2B5EF4-FFF2-40B4-BE49-F238E27FC236}">
                <a16:creationId xmlns:a16="http://schemas.microsoft.com/office/drawing/2014/main" id="{4D59F11F-1CE3-45D3-9F8F-144861BC00CD}"/>
              </a:ext>
            </a:extLst>
          </p:cNvPr>
          <p:cNvSpPr>
            <a:spLocks noGrp="1"/>
          </p:cNvSpPr>
          <p:nvPr/>
        </p:nvSpPr>
        <p:spPr>
          <a:xfrm>
            <a:off x="666750" y="87630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600" b="1">
                <a:solidFill>
                  <a:srgbClr val="071F16"/>
                </a:solidFill>
                <a:latin typeface="Aptos Display"/>
                <a:ea typeface="Aptos Display"/>
                <a:cs typeface="Aptos Display"/>
              </a:defRPr>
            </a:pPr>
            <a:r>
              <a:rPr sz="3600" b="1">
                <a:solidFill>
                  <a:srgbClr val="071F16"/>
                </a:solidFill>
                <a:latin typeface="Aptos Display"/>
                <a:ea typeface="Aptos Display"/>
                <a:cs typeface="Aptos Display"/>
              </a:rPr>
              <a:t>One API handles every scan type.</a:t>
            </a:r>
          </a:p>
        </p:txBody>
      </p:sp>
      <p:sp>
        <p:nvSpPr>
          <p:cNvPr id="6" name="Rectangle 5">
            <a:extLst>
              <a:ext uri="{FF2B5EF4-FFF2-40B4-BE49-F238E27FC236}">
                <a16:creationId xmlns:a16="http://schemas.microsoft.com/office/drawing/2014/main" id="{BE37FE78-00C5-44D5-BF5C-53C7EC6D89F0}"/>
              </a:ext>
            </a:extLst>
          </p:cNvPr>
          <p:cNvSpPr>
            <a:spLocks noGrp="1"/>
          </p:cNvSpPr>
          <p:nvPr/>
        </p:nvSpPr>
        <p:spPr>
          <a:xfrm>
            <a:off x="666750" y="2047875"/>
            <a:ext cx="1619250" cy="952500"/>
          </a:xfrm>
          <a:prstGeom prst="rect">
            <a:avLst/>
          </a:prstGeom>
          <a:solidFill>
            <a:srgbClr val="FFFFFF"/>
          </a:solidFill>
          <a:ln w="9525">
            <a:solidFill>
              <a:srgbClr val="CBBEAA"/>
            </a:solidFill>
            <a:prstDash val="solid"/>
          </a:ln>
        </p:spPr>
        <p:txBody>
          <a:bodyPr/>
          <a:lstStyle/>
          <a:p>
            <a:endParaRPr lang="en-US"/>
          </a:p>
        </p:txBody>
      </p:sp>
      <p:sp>
        <p:nvSpPr>
          <p:cNvPr id="7" name="Rectangle 6">
            <a:extLst>
              <a:ext uri="{FF2B5EF4-FFF2-40B4-BE49-F238E27FC236}">
                <a16:creationId xmlns:a16="http://schemas.microsoft.com/office/drawing/2014/main" id="{A3BCB33E-72B8-4702-A7C3-4ECEE8D161D7}"/>
              </a:ext>
            </a:extLst>
          </p:cNvPr>
          <p:cNvSpPr>
            <a:spLocks noGrp="1"/>
          </p:cNvSpPr>
          <p:nvPr/>
        </p:nvSpPr>
        <p:spPr>
          <a:xfrm>
            <a:off x="666750" y="2047875"/>
            <a:ext cx="1619250" cy="85725"/>
          </a:xfrm>
          <a:prstGeom prst="rect">
            <a:avLst/>
          </a:prstGeom>
          <a:solidFill>
            <a:srgbClr val="0F4272"/>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DD767E5B-EF13-4D77-9A97-A99528506ABD}"/>
              </a:ext>
            </a:extLst>
          </p:cNvPr>
          <p:cNvSpPr>
            <a:spLocks noGrp="1"/>
          </p:cNvSpPr>
          <p:nvPr/>
        </p:nvSpPr>
        <p:spPr>
          <a:xfrm>
            <a:off x="838200" y="2257425"/>
            <a:ext cx="1276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F4272"/>
                </a:solidFill>
                <a:latin typeface="Aptos"/>
                <a:ea typeface="Aptos"/>
                <a:cs typeface="Aptos"/>
              </a:defRPr>
            </a:pPr>
            <a:r>
              <a:rPr sz="1500" b="1">
                <a:solidFill>
                  <a:srgbClr val="0F4272"/>
                </a:solidFill>
                <a:latin typeface="Aptos"/>
                <a:ea typeface="Aptos"/>
                <a:cs typeface="Aptos"/>
              </a:rPr>
              <a:t>Input</a:t>
            </a:r>
          </a:p>
        </p:txBody>
      </p:sp>
      <p:sp>
        <p:nvSpPr>
          <p:cNvPr id="9" name="Rectangle 8">
            <a:extLst>
              <a:ext uri="{FF2B5EF4-FFF2-40B4-BE49-F238E27FC236}">
                <a16:creationId xmlns:a16="http://schemas.microsoft.com/office/drawing/2014/main" id="{05E1BEBE-9448-470B-929D-FA7FC4B8544B}"/>
              </a:ext>
            </a:extLst>
          </p:cNvPr>
          <p:cNvSpPr>
            <a:spLocks noGrp="1"/>
          </p:cNvSpPr>
          <p:nvPr/>
        </p:nvSpPr>
        <p:spPr>
          <a:xfrm>
            <a:off x="838200" y="2600325"/>
            <a:ext cx="1276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B52"/>
                </a:solidFill>
                <a:latin typeface="Aptos"/>
                <a:ea typeface="Aptos"/>
                <a:cs typeface="Aptos"/>
              </a:defRPr>
            </a:pPr>
            <a:r>
              <a:rPr sz="1200" b="0" dirty="0">
                <a:solidFill>
                  <a:srgbClr val="4B5B52"/>
                </a:solidFill>
                <a:latin typeface="Aptos"/>
                <a:ea typeface="Aptos"/>
                <a:cs typeface="Aptos"/>
              </a:rPr>
              <a:t>text, barcode, OCR</a:t>
            </a:r>
          </a:p>
        </p:txBody>
      </p:sp>
      <p:sp>
        <p:nvSpPr>
          <p:cNvPr id="10" name="Rectangle 9">
            <a:extLst>
              <a:ext uri="{FF2B5EF4-FFF2-40B4-BE49-F238E27FC236}">
                <a16:creationId xmlns:a16="http://schemas.microsoft.com/office/drawing/2014/main" id="{66802479-8112-4969-BBBD-6D69E240D590}"/>
              </a:ext>
            </a:extLst>
          </p:cNvPr>
          <p:cNvSpPr>
            <a:spLocks noGrp="1"/>
          </p:cNvSpPr>
          <p:nvPr/>
        </p:nvSpPr>
        <p:spPr>
          <a:xfrm>
            <a:off x="2381250" y="2476500"/>
            <a:ext cx="523875" cy="47625"/>
          </a:xfrm>
          <a:prstGeom prst="rect">
            <a:avLst/>
          </a:prstGeom>
          <a:solidFill>
            <a:srgbClr val="B8871F"/>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C92C93EC-0A12-4E5D-985E-020987D723BA}"/>
              </a:ext>
            </a:extLst>
          </p:cNvPr>
          <p:cNvSpPr>
            <a:spLocks noGrp="1"/>
          </p:cNvSpPr>
          <p:nvPr/>
        </p:nvSpPr>
        <p:spPr>
          <a:xfrm>
            <a:off x="2762250" y="2343150"/>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8871F"/>
                </a:solidFill>
                <a:latin typeface="Aptos"/>
                <a:ea typeface="Aptos"/>
                <a:cs typeface="Aptos"/>
              </a:defRPr>
            </a:pPr>
            <a:r>
              <a:rPr sz="1950" b="1">
                <a:solidFill>
                  <a:srgbClr val="B8871F"/>
                </a:solidFill>
                <a:latin typeface="Aptos"/>
                <a:ea typeface="Aptos"/>
                <a:cs typeface="Aptos"/>
              </a:rPr>
              <a:t>&gt;</a:t>
            </a:r>
          </a:p>
        </p:txBody>
      </p:sp>
      <p:sp>
        <p:nvSpPr>
          <p:cNvPr id="12" name="Rectangle 11">
            <a:extLst>
              <a:ext uri="{FF2B5EF4-FFF2-40B4-BE49-F238E27FC236}">
                <a16:creationId xmlns:a16="http://schemas.microsoft.com/office/drawing/2014/main" id="{80DDB5BE-808A-445D-B7AF-8328CDF31F49}"/>
              </a:ext>
            </a:extLst>
          </p:cNvPr>
          <p:cNvSpPr>
            <a:spLocks noGrp="1"/>
          </p:cNvSpPr>
          <p:nvPr/>
        </p:nvSpPr>
        <p:spPr>
          <a:xfrm>
            <a:off x="3048000" y="2047875"/>
            <a:ext cx="1619250" cy="952500"/>
          </a:xfrm>
          <a:prstGeom prst="rect">
            <a:avLst/>
          </a:prstGeom>
          <a:solidFill>
            <a:srgbClr val="FFFFFF"/>
          </a:solidFill>
          <a:ln w="9525">
            <a:solidFill>
              <a:srgbClr val="CBBEAA"/>
            </a:solidFill>
            <a:prstDash val="solid"/>
          </a:ln>
        </p:spPr>
        <p:txBody>
          <a:bodyPr/>
          <a:lstStyle/>
          <a:p>
            <a:endParaRPr lang="en-US"/>
          </a:p>
        </p:txBody>
      </p:sp>
      <p:sp>
        <p:nvSpPr>
          <p:cNvPr id="13" name="Rectangle 12">
            <a:extLst>
              <a:ext uri="{FF2B5EF4-FFF2-40B4-BE49-F238E27FC236}">
                <a16:creationId xmlns:a16="http://schemas.microsoft.com/office/drawing/2014/main" id="{B92BAD40-D621-4937-A5C6-F7AE9B7CE124}"/>
              </a:ext>
            </a:extLst>
          </p:cNvPr>
          <p:cNvSpPr>
            <a:spLocks noGrp="1"/>
          </p:cNvSpPr>
          <p:nvPr/>
        </p:nvSpPr>
        <p:spPr>
          <a:xfrm>
            <a:off x="3048000" y="2047875"/>
            <a:ext cx="1619250" cy="85725"/>
          </a:xfrm>
          <a:prstGeom prst="rect">
            <a:avLst/>
          </a:prstGeom>
          <a:solidFill>
            <a:srgbClr val="116A38"/>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D988BC47-B4FE-42E2-A1F2-9A94C6861DA0}"/>
              </a:ext>
            </a:extLst>
          </p:cNvPr>
          <p:cNvSpPr>
            <a:spLocks noGrp="1"/>
          </p:cNvSpPr>
          <p:nvPr/>
        </p:nvSpPr>
        <p:spPr>
          <a:xfrm>
            <a:off x="3219450" y="2257425"/>
            <a:ext cx="1276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116A38"/>
                </a:solidFill>
                <a:latin typeface="Aptos"/>
                <a:ea typeface="Aptos"/>
                <a:cs typeface="Aptos"/>
              </a:defRPr>
            </a:pPr>
            <a:r>
              <a:rPr sz="1500" b="1">
                <a:solidFill>
                  <a:srgbClr val="116A38"/>
                </a:solidFill>
                <a:latin typeface="Aptos"/>
                <a:ea typeface="Aptos"/>
                <a:cs typeface="Aptos"/>
              </a:rPr>
              <a:t>ML</a:t>
            </a:r>
          </a:p>
        </p:txBody>
      </p:sp>
      <p:sp>
        <p:nvSpPr>
          <p:cNvPr id="15" name="Rectangle 14">
            <a:extLst>
              <a:ext uri="{FF2B5EF4-FFF2-40B4-BE49-F238E27FC236}">
                <a16:creationId xmlns:a16="http://schemas.microsoft.com/office/drawing/2014/main" id="{339A38C5-47A8-4B2F-98DE-C97664DFEEBE}"/>
              </a:ext>
            </a:extLst>
          </p:cNvPr>
          <p:cNvSpPr>
            <a:spLocks noGrp="1"/>
          </p:cNvSpPr>
          <p:nvPr/>
        </p:nvSpPr>
        <p:spPr>
          <a:xfrm>
            <a:off x="3219450" y="2600325"/>
            <a:ext cx="1276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B52"/>
                </a:solidFill>
                <a:latin typeface="Aptos"/>
                <a:ea typeface="Aptos"/>
                <a:cs typeface="Aptos"/>
              </a:defRPr>
            </a:pPr>
            <a:r>
              <a:rPr sz="1200" b="0">
                <a:solidFill>
                  <a:srgbClr val="4B5B52"/>
                </a:solidFill>
                <a:latin typeface="Aptos"/>
                <a:ea typeface="Aptos"/>
                <a:cs typeface="Aptos"/>
              </a:rPr>
              <a:t>RapidAPI + fallback</a:t>
            </a:r>
          </a:p>
        </p:txBody>
      </p:sp>
      <p:sp>
        <p:nvSpPr>
          <p:cNvPr id="16" name="Rectangle 15">
            <a:extLst>
              <a:ext uri="{FF2B5EF4-FFF2-40B4-BE49-F238E27FC236}">
                <a16:creationId xmlns:a16="http://schemas.microsoft.com/office/drawing/2014/main" id="{0FBB615B-39BE-4C35-8BB2-232F68F2840E}"/>
              </a:ext>
            </a:extLst>
          </p:cNvPr>
          <p:cNvSpPr>
            <a:spLocks noGrp="1"/>
          </p:cNvSpPr>
          <p:nvPr/>
        </p:nvSpPr>
        <p:spPr>
          <a:xfrm>
            <a:off x="4762500" y="2476500"/>
            <a:ext cx="523875" cy="47625"/>
          </a:xfrm>
          <a:prstGeom prst="rect">
            <a:avLst/>
          </a:prstGeom>
          <a:solidFill>
            <a:srgbClr val="B8871F"/>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2E3AF573-D2A5-4156-B3B9-F13E6C25ABA0}"/>
              </a:ext>
            </a:extLst>
          </p:cNvPr>
          <p:cNvSpPr>
            <a:spLocks noGrp="1"/>
          </p:cNvSpPr>
          <p:nvPr/>
        </p:nvSpPr>
        <p:spPr>
          <a:xfrm>
            <a:off x="5143500" y="2343150"/>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8871F"/>
                </a:solidFill>
                <a:latin typeface="Aptos"/>
                <a:ea typeface="Aptos"/>
                <a:cs typeface="Aptos"/>
              </a:defRPr>
            </a:pPr>
            <a:r>
              <a:rPr sz="1950" b="1">
                <a:solidFill>
                  <a:srgbClr val="B8871F"/>
                </a:solidFill>
                <a:latin typeface="Aptos"/>
                <a:ea typeface="Aptos"/>
                <a:cs typeface="Aptos"/>
              </a:rPr>
              <a:t>&gt;</a:t>
            </a:r>
          </a:p>
        </p:txBody>
      </p:sp>
      <p:sp>
        <p:nvSpPr>
          <p:cNvPr id="18" name="Rectangle 17">
            <a:extLst>
              <a:ext uri="{FF2B5EF4-FFF2-40B4-BE49-F238E27FC236}">
                <a16:creationId xmlns:a16="http://schemas.microsoft.com/office/drawing/2014/main" id="{D690C10F-0AC6-456E-98E3-BD148AA8F8BB}"/>
              </a:ext>
            </a:extLst>
          </p:cNvPr>
          <p:cNvSpPr>
            <a:spLocks noGrp="1"/>
          </p:cNvSpPr>
          <p:nvPr/>
        </p:nvSpPr>
        <p:spPr>
          <a:xfrm>
            <a:off x="5429250" y="2047875"/>
            <a:ext cx="1809750" cy="952500"/>
          </a:xfrm>
          <a:prstGeom prst="rect">
            <a:avLst/>
          </a:prstGeom>
          <a:solidFill>
            <a:srgbClr val="FFFFFF"/>
          </a:solidFill>
          <a:ln w="9525">
            <a:solidFill>
              <a:srgbClr val="CBBEAA"/>
            </a:solidFill>
            <a:prstDash val="solid"/>
          </a:ln>
        </p:spPr>
        <p:txBody>
          <a:bodyPr/>
          <a:lstStyle/>
          <a:p>
            <a:endParaRPr lang="en-US"/>
          </a:p>
        </p:txBody>
      </p:sp>
      <p:sp>
        <p:nvSpPr>
          <p:cNvPr id="19" name="Rectangle 18">
            <a:extLst>
              <a:ext uri="{FF2B5EF4-FFF2-40B4-BE49-F238E27FC236}">
                <a16:creationId xmlns:a16="http://schemas.microsoft.com/office/drawing/2014/main" id="{EFA57F1A-328A-41C2-A5E9-ADA064D8A303}"/>
              </a:ext>
            </a:extLst>
          </p:cNvPr>
          <p:cNvSpPr>
            <a:spLocks noGrp="1"/>
          </p:cNvSpPr>
          <p:nvPr/>
        </p:nvSpPr>
        <p:spPr>
          <a:xfrm>
            <a:off x="5429250" y="2047875"/>
            <a:ext cx="1809750" cy="85725"/>
          </a:xfrm>
          <a:prstGeom prst="rect">
            <a:avLst/>
          </a:prstGeom>
          <a:solidFill>
            <a:srgbClr val="B8871F"/>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24B55F86-464A-4291-AD27-CCC614952853}"/>
              </a:ext>
            </a:extLst>
          </p:cNvPr>
          <p:cNvSpPr>
            <a:spLocks noGrp="1"/>
          </p:cNvSpPr>
          <p:nvPr/>
        </p:nvSpPr>
        <p:spPr>
          <a:xfrm>
            <a:off x="5600700" y="2257425"/>
            <a:ext cx="14668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B8871F"/>
                </a:solidFill>
                <a:latin typeface="Aptos"/>
                <a:ea typeface="Aptos"/>
                <a:cs typeface="Aptos"/>
              </a:defRPr>
            </a:pPr>
            <a:r>
              <a:rPr sz="1500" b="1">
                <a:solidFill>
                  <a:srgbClr val="B8871F"/>
                </a:solidFill>
                <a:latin typeface="Aptos"/>
                <a:ea typeface="Aptos"/>
                <a:cs typeface="Aptos"/>
              </a:rPr>
              <a:t>Knowledge Base</a:t>
            </a:r>
          </a:p>
        </p:txBody>
      </p:sp>
      <p:sp>
        <p:nvSpPr>
          <p:cNvPr id="21" name="Rectangle 20">
            <a:extLst>
              <a:ext uri="{FF2B5EF4-FFF2-40B4-BE49-F238E27FC236}">
                <a16:creationId xmlns:a16="http://schemas.microsoft.com/office/drawing/2014/main" id="{6ADB8F9D-999E-4035-A5F4-586F25708CC1}"/>
              </a:ext>
            </a:extLst>
          </p:cNvPr>
          <p:cNvSpPr>
            <a:spLocks noGrp="1"/>
          </p:cNvSpPr>
          <p:nvPr/>
        </p:nvSpPr>
        <p:spPr>
          <a:xfrm>
            <a:off x="5600700" y="2600325"/>
            <a:ext cx="14668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B52"/>
                </a:solidFill>
                <a:latin typeface="Aptos"/>
                <a:ea typeface="Aptos"/>
                <a:cs typeface="Aptos"/>
              </a:defRPr>
            </a:pPr>
            <a:r>
              <a:rPr sz="1200" b="0">
                <a:solidFill>
                  <a:srgbClr val="4B5B52"/>
                </a:solidFill>
                <a:latin typeface="Aptos"/>
                <a:ea typeface="Aptos"/>
                <a:cs typeface="Aptos"/>
              </a:rPr>
              <a:t>67 rules</a:t>
            </a:r>
          </a:p>
        </p:txBody>
      </p:sp>
      <p:sp>
        <p:nvSpPr>
          <p:cNvPr id="22" name="Rectangle 21">
            <a:extLst>
              <a:ext uri="{FF2B5EF4-FFF2-40B4-BE49-F238E27FC236}">
                <a16:creationId xmlns:a16="http://schemas.microsoft.com/office/drawing/2014/main" id="{B6F35CDB-412E-454A-A708-FA4F9AFB9867}"/>
              </a:ext>
            </a:extLst>
          </p:cNvPr>
          <p:cNvSpPr>
            <a:spLocks noGrp="1"/>
          </p:cNvSpPr>
          <p:nvPr/>
        </p:nvSpPr>
        <p:spPr>
          <a:xfrm>
            <a:off x="7334250" y="2476500"/>
            <a:ext cx="523875" cy="47625"/>
          </a:xfrm>
          <a:prstGeom prst="rect">
            <a:avLst/>
          </a:prstGeom>
          <a:solidFill>
            <a:srgbClr val="B8871F"/>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499074FE-5C0F-4420-8E81-E7053FE170C5}"/>
              </a:ext>
            </a:extLst>
          </p:cNvPr>
          <p:cNvSpPr>
            <a:spLocks noGrp="1"/>
          </p:cNvSpPr>
          <p:nvPr/>
        </p:nvSpPr>
        <p:spPr>
          <a:xfrm>
            <a:off x="7715250" y="2343150"/>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8871F"/>
                </a:solidFill>
                <a:latin typeface="Aptos"/>
                <a:ea typeface="Aptos"/>
                <a:cs typeface="Aptos"/>
              </a:defRPr>
            </a:pPr>
            <a:r>
              <a:rPr sz="1950" b="1">
                <a:solidFill>
                  <a:srgbClr val="B8871F"/>
                </a:solidFill>
                <a:latin typeface="Aptos"/>
                <a:ea typeface="Aptos"/>
                <a:cs typeface="Aptos"/>
              </a:rPr>
              <a:t>&gt;</a:t>
            </a:r>
          </a:p>
        </p:txBody>
      </p:sp>
      <p:sp>
        <p:nvSpPr>
          <p:cNvPr id="24" name="Rectangle 23">
            <a:extLst>
              <a:ext uri="{FF2B5EF4-FFF2-40B4-BE49-F238E27FC236}">
                <a16:creationId xmlns:a16="http://schemas.microsoft.com/office/drawing/2014/main" id="{093301C9-44D2-41ED-9704-5D34511B9190}"/>
              </a:ext>
            </a:extLst>
          </p:cNvPr>
          <p:cNvSpPr>
            <a:spLocks noGrp="1"/>
          </p:cNvSpPr>
          <p:nvPr/>
        </p:nvSpPr>
        <p:spPr>
          <a:xfrm>
            <a:off x="8001000" y="2047875"/>
            <a:ext cx="1619250" cy="952500"/>
          </a:xfrm>
          <a:prstGeom prst="rect">
            <a:avLst/>
          </a:prstGeom>
          <a:solidFill>
            <a:srgbClr val="FFFFFF"/>
          </a:solidFill>
          <a:ln w="9525">
            <a:solidFill>
              <a:srgbClr val="CBBEAA"/>
            </a:solidFill>
            <a:prstDash val="solid"/>
          </a:ln>
        </p:spPr>
        <p:txBody>
          <a:bodyPr/>
          <a:lstStyle/>
          <a:p>
            <a:endParaRPr lang="en-US"/>
          </a:p>
        </p:txBody>
      </p:sp>
      <p:sp>
        <p:nvSpPr>
          <p:cNvPr id="25" name="Rectangle 24">
            <a:extLst>
              <a:ext uri="{FF2B5EF4-FFF2-40B4-BE49-F238E27FC236}">
                <a16:creationId xmlns:a16="http://schemas.microsoft.com/office/drawing/2014/main" id="{5E2F0E5C-E6FD-4744-8660-7C54CD60C059}"/>
              </a:ext>
            </a:extLst>
          </p:cNvPr>
          <p:cNvSpPr>
            <a:spLocks noGrp="1"/>
          </p:cNvSpPr>
          <p:nvPr/>
        </p:nvSpPr>
        <p:spPr>
          <a:xfrm>
            <a:off x="8001000" y="2047875"/>
            <a:ext cx="1619250" cy="85725"/>
          </a:xfrm>
          <a:prstGeom prst="rect">
            <a:avLst/>
          </a:prstGeom>
          <a:solidFill>
            <a:srgbClr val="B87900"/>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DDE5ADBA-B4AC-4407-B83C-8F8FF3A90804}"/>
              </a:ext>
            </a:extLst>
          </p:cNvPr>
          <p:cNvSpPr>
            <a:spLocks noGrp="1"/>
          </p:cNvSpPr>
          <p:nvPr/>
        </p:nvSpPr>
        <p:spPr>
          <a:xfrm>
            <a:off x="8172450" y="2257425"/>
            <a:ext cx="1276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B87900"/>
                </a:solidFill>
                <a:latin typeface="Aptos"/>
                <a:ea typeface="Aptos"/>
                <a:cs typeface="Aptos"/>
              </a:defRPr>
            </a:pPr>
            <a:r>
              <a:rPr sz="1500" b="1">
                <a:solidFill>
                  <a:srgbClr val="B87900"/>
                </a:solidFill>
                <a:latin typeface="Aptos"/>
                <a:ea typeface="Aptos"/>
                <a:cs typeface="Aptos"/>
              </a:rPr>
              <a:t>Reasoning</a:t>
            </a:r>
          </a:p>
        </p:txBody>
      </p:sp>
      <p:sp>
        <p:nvSpPr>
          <p:cNvPr id="27" name="Rectangle 26">
            <a:extLst>
              <a:ext uri="{FF2B5EF4-FFF2-40B4-BE49-F238E27FC236}">
                <a16:creationId xmlns:a16="http://schemas.microsoft.com/office/drawing/2014/main" id="{D7A2AAF1-68EF-4FEC-A287-47A978509709}"/>
              </a:ext>
            </a:extLst>
          </p:cNvPr>
          <p:cNvSpPr>
            <a:spLocks noGrp="1"/>
          </p:cNvSpPr>
          <p:nvPr/>
        </p:nvSpPr>
        <p:spPr>
          <a:xfrm>
            <a:off x="8172450" y="2600325"/>
            <a:ext cx="1276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B52"/>
                </a:solidFill>
                <a:latin typeface="Aptos"/>
                <a:ea typeface="Aptos"/>
                <a:cs typeface="Aptos"/>
              </a:defRPr>
            </a:pPr>
            <a:r>
              <a:rPr sz="1200" b="0">
                <a:solidFill>
                  <a:srgbClr val="4B5B52"/>
                </a:solidFill>
                <a:latin typeface="Aptos"/>
                <a:ea typeface="Aptos"/>
                <a:cs typeface="Aptos"/>
              </a:rPr>
              <a:t>priority logic</a:t>
            </a:r>
          </a:p>
        </p:txBody>
      </p:sp>
      <p:sp>
        <p:nvSpPr>
          <p:cNvPr id="28" name="Rectangle 27">
            <a:extLst>
              <a:ext uri="{FF2B5EF4-FFF2-40B4-BE49-F238E27FC236}">
                <a16:creationId xmlns:a16="http://schemas.microsoft.com/office/drawing/2014/main" id="{FF55F4BA-8E6D-453E-BC40-337637CD33A9}"/>
              </a:ext>
            </a:extLst>
          </p:cNvPr>
          <p:cNvSpPr>
            <a:spLocks noGrp="1"/>
          </p:cNvSpPr>
          <p:nvPr/>
        </p:nvSpPr>
        <p:spPr>
          <a:xfrm>
            <a:off x="9715500" y="2476500"/>
            <a:ext cx="523875" cy="47625"/>
          </a:xfrm>
          <a:prstGeom prst="rect">
            <a:avLst/>
          </a:prstGeom>
          <a:solidFill>
            <a:srgbClr val="B8871F"/>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FD70C699-7148-4AB8-9B69-9536A1C219F5}"/>
              </a:ext>
            </a:extLst>
          </p:cNvPr>
          <p:cNvSpPr>
            <a:spLocks noGrp="1"/>
          </p:cNvSpPr>
          <p:nvPr/>
        </p:nvSpPr>
        <p:spPr>
          <a:xfrm>
            <a:off x="10096500" y="2343150"/>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8871F"/>
                </a:solidFill>
                <a:latin typeface="Aptos"/>
                <a:ea typeface="Aptos"/>
                <a:cs typeface="Aptos"/>
              </a:defRPr>
            </a:pPr>
            <a:r>
              <a:rPr sz="1950" b="1">
                <a:solidFill>
                  <a:srgbClr val="B8871F"/>
                </a:solidFill>
                <a:latin typeface="Aptos"/>
                <a:ea typeface="Aptos"/>
                <a:cs typeface="Aptos"/>
              </a:rPr>
              <a:t>&gt;</a:t>
            </a:r>
          </a:p>
        </p:txBody>
      </p:sp>
      <p:sp>
        <p:nvSpPr>
          <p:cNvPr id="30" name="Rectangle 29">
            <a:extLst>
              <a:ext uri="{FF2B5EF4-FFF2-40B4-BE49-F238E27FC236}">
                <a16:creationId xmlns:a16="http://schemas.microsoft.com/office/drawing/2014/main" id="{07F5C67D-6507-4AAB-B93B-421070224C20}"/>
              </a:ext>
            </a:extLst>
          </p:cNvPr>
          <p:cNvSpPr>
            <a:spLocks noGrp="1"/>
          </p:cNvSpPr>
          <p:nvPr/>
        </p:nvSpPr>
        <p:spPr>
          <a:xfrm>
            <a:off x="10382250" y="2047875"/>
            <a:ext cx="1238250" cy="952500"/>
          </a:xfrm>
          <a:prstGeom prst="rect">
            <a:avLst/>
          </a:prstGeom>
          <a:solidFill>
            <a:srgbClr val="FFFFFF"/>
          </a:solidFill>
          <a:ln w="9525">
            <a:solidFill>
              <a:srgbClr val="CBBEAA"/>
            </a:solidFill>
            <a:prstDash val="solid"/>
          </a:ln>
        </p:spPr>
        <p:txBody>
          <a:bodyPr/>
          <a:lstStyle/>
          <a:p>
            <a:endParaRPr lang="en-US"/>
          </a:p>
        </p:txBody>
      </p:sp>
      <p:sp>
        <p:nvSpPr>
          <p:cNvPr id="31" name="Rectangle 30">
            <a:extLst>
              <a:ext uri="{FF2B5EF4-FFF2-40B4-BE49-F238E27FC236}">
                <a16:creationId xmlns:a16="http://schemas.microsoft.com/office/drawing/2014/main" id="{1A491160-EAD4-45DF-B42E-423B701BF745}"/>
              </a:ext>
            </a:extLst>
          </p:cNvPr>
          <p:cNvSpPr>
            <a:spLocks noGrp="1"/>
          </p:cNvSpPr>
          <p:nvPr/>
        </p:nvSpPr>
        <p:spPr>
          <a:xfrm>
            <a:off x="10382250" y="2047875"/>
            <a:ext cx="1238250" cy="85725"/>
          </a:xfrm>
          <a:prstGeom prst="rect">
            <a:avLst/>
          </a:prstGeom>
          <a:solidFill>
            <a:srgbClr val="D40000"/>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EA44EBE5-D5E0-42F4-81CF-943494961C90}"/>
              </a:ext>
            </a:extLst>
          </p:cNvPr>
          <p:cNvSpPr>
            <a:spLocks noGrp="1"/>
          </p:cNvSpPr>
          <p:nvPr/>
        </p:nvSpPr>
        <p:spPr>
          <a:xfrm>
            <a:off x="10553700" y="2257425"/>
            <a:ext cx="895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D40000"/>
                </a:solidFill>
                <a:latin typeface="Aptos"/>
                <a:ea typeface="Aptos"/>
                <a:cs typeface="Aptos"/>
              </a:defRPr>
            </a:pPr>
            <a:r>
              <a:rPr sz="1500" b="1">
                <a:solidFill>
                  <a:srgbClr val="D40000"/>
                </a:solidFill>
                <a:latin typeface="Aptos"/>
                <a:ea typeface="Aptos"/>
                <a:cs typeface="Aptos"/>
              </a:rPr>
              <a:t>Result</a:t>
            </a:r>
          </a:p>
        </p:txBody>
      </p:sp>
      <p:sp>
        <p:nvSpPr>
          <p:cNvPr id="33" name="Rectangle 32">
            <a:extLst>
              <a:ext uri="{FF2B5EF4-FFF2-40B4-BE49-F238E27FC236}">
                <a16:creationId xmlns:a16="http://schemas.microsoft.com/office/drawing/2014/main" id="{83EE3719-3CD4-46CF-AA3C-DE993D621CC7}"/>
              </a:ext>
            </a:extLst>
          </p:cNvPr>
          <p:cNvSpPr>
            <a:spLocks noGrp="1"/>
          </p:cNvSpPr>
          <p:nvPr/>
        </p:nvSpPr>
        <p:spPr>
          <a:xfrm>
            <a:off x="10553700" y="2600325"/>
            <a:ext cx="8953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B52"/>
                </a:solidFill>
                <a:latin typeface="Aptos"/>
                <a:ea typeface="Aptos"/>
                <a:cs typeface="Aptos"/>
              </a:defRPr>
            </a:pPr>
            <a:r>
              <a:rPr sz="1200" b="0">
                <a:solidFill>
                  <a:srgbClr val="4B5B52"/>
                </a:solidFill>
                <a:latin typeface="Aptos"/>
                <a:ea typeface="Aptos"/>
                <a:cs typeface="Aptos"/>
              </a:rPr>
              <a:t>why + verdict</a:t>
            </a:r>
          </a:p>
        </p:txBody>
      </p:sp>
      <p:sp>
        <p:nvSpPr>
          <p:cNvPr id="34" name="Rectangle 33">
            <a:extLst>
              <a:ext uri="{FF2B5EF4-FFF2-40B4-BE49-F238E27FC236}">
                <a16:creationId xmlns:a16="http://schemas.microsoft.com/office/drawing/2014/main" id="{6176654C-A5ED-4AB2-AE28-21ECD7FC6EED}"/>
              </a:ext>
            </a:extLst>
          </p:cNvPr>
          <p:cNvSpPr>
            <a:spLocks noGrp="1"/>
          </p:cNvSpPr>
          <p:nvPr/>
        </p:nvSpPr>
        <p:spPr>
          <a:xfrm>
            <a:off x="1000125" y="3857625"/>
            <a:ext cx="4953000" cy="1285875"/>
          </a:xfrm>
          <a:prstGeom prst="rect">
            <a:avLst/>
          </a:prstGeom>
          <a:solidFill>
            <a:srgbClr val="073A23"/>
          </a:solidFill>
          <a:ln w="0">
            <a:solidFill>
              <a:srgbClr val="000000">
                <a:alpha val="0"/>
              </a:srgbClr>
            </a:solidFill>
            <a:prstDash val="solid"/>
          </a:ln>
        </p:spPr>
        <p:txBody>
          <a:bodyPr/>
          <a:lstStyle/>
          <a:p>
            <a:endParaRPr lang="en-US"/>
          </a:p>
        </p:txBody>
      </p:sp>
      <p:sp>
        <p:nvSpPr>
          <p:cNvPr id="35" name="Rectangle 34">
            <a:extLst>
              <a:ext uri="{FF2B5EF4-FFF2-40B4-BE49-F238E27FC236}">
                <a16:creationId xmlns:a16="http://schemas.microsoft.com/office/drawing/2014/main" id="{32479ADA-D541-490D-A2D6-DDF001AC77AA}"/>
              </a:ext>
            </a:extLst>
          </p:cNvPr>
          <p:cNvSpPr>
            <a:spLocks noGrp="1"/>
          </p:cNvSpPr>
          <p:nvPr/>
        </p:nvSpPr>
        <p:spPr>
          <a:xfrm>
            <a:off x="1000125" y="4095750"/>
            <a:ext cx="49530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3300" b="1">
                <a:solidFill>
                  <a:srgbClr val="FFFFFF"/>
                </a:solidFill>
                <a:latin typeface="Aptos Mono"/>
                <a:ea typeface="Aptos Mono"/>
                <a:cs typeface="Aptos Mono"/>
              </a:defRPr>
            </a:pPr>
            <a:r>
              <a:rPr sz="3300" b="1">
                <a:solidFill>
                  <a:srgbClr val="FFFFFF"/>
                </a:solidFill>
                <a:latin typeface="Aptos Mono"/>
                <a:ea typeface="Aptos Mono"/>
                <a:cs typeface="Aptos Mono"/>
              </a:rPr>
              <a:t>/api/analyze</a:t>
            </a:r>
          </a:p>
        </p:txBody>
      </p:sp>
      <p:sp>
        <p:nvSpPr>
          <p:cNvPr id="36" name="Rectangle 35">
            <a:extLst>
              <a:ext uri="{FF2B5EF4-FFF2-40B4-BE49-F238E27FC236}">
                <a16:creationId xmlns:a16="http://schemas.microsoft.com/office/drawing/2014/main" id="{47607742-00C2-4FAE-808B-D7F36FC617F1}"/>
              </a:ext>
            </a:extLst>
          </p:cNvPr>
          <p:cNvSpPr>
            <a:spLocks noGrp="1"/>
          </p:cNvSpPr>
          <p:nvPr/>
        </p:nvSpPr>
        <p:spPr>
          <a:xfrm>
            <a:off x="1000125" y="4724400"/>
            <a:ext cx="495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725" b="0">
                <a:solidFill>
                  <a:srgbClr val="DCEBDD"/>
                </a:solidFill>
                <a:latin typeface="Aptos"/>
                <a:ea typeface="Aptos"/>
                <a:cs typeface="Aptos"/>
              </a:defRPr>
            </a:pPr>
            <a:r>
              <a:rPr sz="1725" b="0">
                <a:solidFill>
                  <a:srgbClr val="DCEBDD"/>
                </a:solidFill>
                <a:latin typeface="Aptos"/>
                <a:ea typeface="Aptos"/>
                <a:cs typeface="Aptos"/>
              </a:rPr>
              <a:t>Stable final decision path</a:t>
            </a:r>
          </a:p>
        </p:txBody>
      </p:sp>
      <p:sp>
        <p:nvSpPr>
          <p:cNvPr id="37" name="Rectangle 36">
            <a:extLst>
              <a:ext uri="{FF2B5EF4-FFF2-40B4-BE49-F238E27FC236}">
                <a16:creationId xmlns:a16="http://schemas.microsoft.com/office/drawing/2014/main" id="{94F74BA0-0BA2-4551-9682-1A21EB3CF0DE}"/>
              </a:ext>
            </a:extLst>
          </p:cNvPr>
          <p:cNvSpPr>
            <a:spLocks noGrp="1"/>
          </p:cNvSpPr>
          <p:nvPr/>
        </p:nvSpPr>
        <p:spPr>
          <a:xfrm>
            <a:off x="8017073" y="3196400"/>
            <a:ext cx="2533650" cy="3166299"/>
          </a:xfrm>
          <a:prstGeom prst="rect">
            <a:avLst/>
          </a:prstGeom>
          <a:solidFill>
            <a:srgbClr val="FFFFFF"/>
          </a:solidFill>
          <a:ln w="9525">
            <a:solidFill>
              <a:srgbClr val="CBBEAA"/>
            </a:solidFill>
            <a:prstDash val="solid"/>
          </a:ln>
        </p:spPr>
        <p:txBody>
          <a:bodyPr/>
          <a:lstStyle/>
          <a:p>
            <a:endParaRPr lang="en-US"/>
          </a:p>
        </p:txBody>
      </p:sp>
      <p:pic>
        <p:nvPicPr>
          <p:cNvPr id="38" name="Picture 37"/>
          <p:cNvPicPr>
            <a:picLocks noChangeAspect="1"/>
          </p:cNvPicPr>
          <p:nvPr/>
        </p:nvPicPr>
        <p:blipFill>
          <a:blip r:embed="rId3"/>
          <a:stretch/>
        </p:blipFill>
        <p:spPr>
          <a:xfrm>
            <a:off x="8590359" y="3301176"/>
            <a:ext cx="1387078" cy="3013899"/>
          </a:xfrm>
          <a:prstGeom prst="rect">
            <a:avLst/>
          </a:prstGeom>
        </p:spPr>
      </p:pic>
      <p:sp>
        <p:nvSpPr>
          <p:cNvPr id="39" name="Rectangle 38">
            <a:extLst>
              <a:ext uri="{FF2B5EF4-FFF2-40B4-BE49-F238E27FC236}">
                <a16:creationId xmlns:a16="http://schemas.microsoft.com/office/drawing/2014/main" id="{D27BCA1F-2110-4D61-A3ED-EE7BD8EE6400}"/>
              </a:ext>
            </a:extLst>
          </p:cNvPr>
          <p:cNvSpPr>
            <a:spLocks noGrp="1"/>
          </p:cNvSpPr>
          <p:nvPr/>
        </p:nvSpPr>
        <p:spPr>
          <a:xfrm>
            <a:off x="666750" y="6419850"/>
            <a:ext cx="10572750" cy="19050"/>
          </a:xfrm>
          <a:prstGeom prst="rect">
            <a:avLst/>
          </a:prstGeom>
          <a:solidFill>
            <a:srgbClr val="CBBEAA"/>
          </a:solidFill>
          <a:ln w="0">
            <a:solidFill>
              <a:srgbClr val="000000">
                <a:alpha val="0"/>
              </a:srgbClr>
            </a:solidFill>
            <a:prstDash val="solid"/>
          </a:ln>
        </p:spPr>
        <p:txBody>
          <a:bodyPr/>
          <a:lstStyle/>
          <a:p>
            <a:endParaRPr lang="en-US"/>
          </a:p>
        </p:txBody>
      </p:sp>
      <p:sp>
        <p:nvSpPr>
          <p:cNvPr id="40" name="Rectangle 39">
            <a:extLst>
              <a:ext uri="{FF2B5EF4-FFF2-40B4-BE49-F238E27FC236}">
                <a16:creationId xmlns:a16="http://schemas.microsoft.com/office/drawing/2014/main" id="{56039975-2BA9-4C17-80FA-4045B3BD629A}"/>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4B5B52"/>
                </a:solidFill>
                <a:latin typeface="Aptos"/>
                <a:ea typeface="Aptos"/>
                <a:cs typeface="Aptos"/>
              </a:defRPr>
            </a:pPr>
            <a:r>
              <a:rPr sz="900" b="0">
                <a:solidFill>
                  <a:srgbClr val="4B5B52"/>
                </a:solidFill>
                <a:latin typeface="Aptos"/>
                <a:ea typeface="Aptos"/>
                <a:cs typeface="Aptos"/>
              </a:rPr>
              <a:t>System Integration | Main API contract</a:t>
            </a:r>
          </a:p>
        </p:txBody>
      </p:sp>
      <p:sp>
        <p:nvSpPr>
          <p:cNvPr id="41" name="Rectangle 40">
            <a:extLst>
              <a:ext uri="{FF2B5EF4-FFF2-40B4-BE49-F238E27FC236}">
                <a16:creationId xmlns:a16="http://schemas.microsoft.com/office/drawing/2014/main" id="{2FD105E9-F889-4931-BB17-36E119C3B8C6}"/>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071F16"/>
                </a:solidFill>
                <a:latin typeface="Aptos Display"/>
                <a:ea typeface="Aptos Display"/>
                <a:cs typeface="Aptos Display"/>
              </a:defRPr>
            </a:pPr>
            <a:r>
              <a:rPr sz="1350" b="1">
                <a:solidFill>
                  <a:srgbClr val="071F16"/>
                </a:solidFill>
                <a:latin typeface="Aptos Display"/>
                <a:ea typeface="Aptos Display"/>
                <a:cs typeface="Aptos Display"/>
              </a:rPr>
              <a:t>03</a:t>
            </a:r>
          </a:p>
        </p:txBody>
      </p:sp>
    </p:spTree>
    <p:extLst>
      <p:ext uri="{BB962C8B-B14F-4D97-AF65-F5344CB8AC3E}">
        <p14:creationId xmlns:p14="http://schemas.microsoft.com/office/powerpoint/2010/main" val="386277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93BBAB6C-6372-40FF-B1D5-1D9B5E222693}"/>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B96D385C-5A33-482D-B22C-3A4F18F67C74}"/>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5363A2A5-C3AB-45A3-BA27-052FEFBED1D5}"/>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4B5B52"/>
                </a:solidFill>
                <a:latin typeface="Aptos"/>
                <a:ea typeface="Aptos"/>
                <a:cs typeface="Aptos"/>
              </a:defRPr>
            </a:pPr>
            <a:r>
              <a:rPr sz="1125" b="1">
                <a:solidFill>
                  <a:srgbClr val="4B5B52"/>
                </a:solidFill>
                <a:latin typeface="Aptos"/>
                <a:ea typeface="Aptos"/>
                <a:cs typeface="Aptos"/>
              </a:rPr>
              <a:t>ML IMPLEMENTATION</a:t>
            </a:r>
          </a:p>
        </p:txBody>
      </p:sp>
      <p:sp>
        <p:nvSpPr>
          <p:cNvPr id="5" name="Rectangle 4">
            <a:extLst>
              <a:ext uri="{FF2B5EF4-FFF2-40B4-BE49-F238E27FC236}">
                <a16:creationId xmlns:a16="http://schemas.microsoft.com/office/drawing/2014/main" id="{8422172D-1EC3-4043-995A-E2A2042F8228}"/>
              </a:ext>
            </a:extLst>
          </p:cNvPr>
          <p:cNvSpPr>
            <a:spLocks noGrp="1"/>
          </p:cNvSpPr>
          <p:nvPr/>
        </p:nvSpPr>
        <p:spPr>
          <a:xfrm>
            <a:off x="666750" y="876300"/>
            <a:ext cx="790575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450" b="1">
                <a:solidFill>
                  <a:srgbClr val="071F16"/>
                </a:solidFill>
                <a:latin typeface="Aptos Display"/>
                <a:ea typeface="Aptos Display"/>
                <a:cs typeface="Aptos Display"/>
              </a:defRPr>
            </a:pPr>
            <a:r>
              <a:rPr sz="3450" b="1">
                <a:solidFill>
                  <a:srgbClr val="071F16"/>
                </a:solidFill>
                <a:latin typeface="Aptos Display"/>
                <a:ea typeface="Aptos Display"/>
                <a:cs typeface="Aptos Display"/>
              </a:rPr>
              <a:t>ML works live, but demos still work offline.</a:t>
            </a:r>
          </a:p>
        </p:txBody>
      </p:sp>
      <p:sp>
        <p:nvSpPr>
          <p:cNvPr id="6" name="Rectangle 5">
            <a:extLst>
              <a:ext uri="{FF2B5EF4-FFF2-40B4-BE49-F238E27FC236}">
                <a16:creationId xmlns:a16="http://schemas.microsoft.com/office/drawing/2014/main" id="{7957E145-5A1A-4DF3-AC28-4EA03836FED0}"/>
              </a:ext>
            </a:extLst>
          </p:cNvPr>
          <p:cNvSpPr>
            <a:spLocks noGrp="1"/>
          </p:cNvSpPr>
          <p:nvPr/>
        </p:nvSpPr>
        <p:spPr>
          <a:xfrm>
            <a:off x="857250" y="2190750"/>
            <a:ext cx="4572000" cy="2381250"/>
          </a:xfrm>
          <a:prstGeom prst="rect">
            <a:avLst/>
          </a:prstGeom>
          <a:solidFill>
            <a:srgbClr val="073A23"/>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C7D7BBA7-A7C8-4475-8D9E-4BF70F08DE3B}"/>
              </a:ext>
            </a:extLst>
          </p:cNvPr>
          <p:cNvSpPr>
            <a:spLocks noGrp="1"/>
          </p:cNvSpPr>
          <p:nvPr/>
        </p:nvSpPr>
        <p:spPr>
          <a:xfrm>
            <a:off x="1190625" y="2495550"/>
            <a:ext cx="3810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B8871F"/>
                </a:solidFill>
                <a:latin typeface="Aptos"/>
                <a:ea typeface="Aptos"/>
                <a:cs typeface="Aptos"/>
              </a:defRPr>
            </a:pPr>
            <a:r>
              <a:rPr sz="1725" b="1">
                <a:solidFill>
                  <a:srgbClr val="B8871F"/>
                </a:solidFill>
                <a:latin typeface="Aptos"/>
                <a:ea typeface="Aptos"/>
                <a:cs typeface="Aptos"/>
              </a:rPr>
              <a:t>Primary classifier</a:t>
            </a:r>
          </a:p>
        </p:txBody>
      </p:sp>
      <p:sp>
        <p:nvSpPr>
          <p:cNvPr id="8" name="Rectangle 7">
            <a:extLst>
              <a:ext uri="{FF2B5EF4-FFF2-40B4-BE49-F238E27FC236}">
                <a16:creationId xmlns:a16="http://schemas.microsoft.com/office/drawing/2014/main" id="{1C69C86F-9DD1-4E36-AA3B-3D4EC37AC0C9}"/>
              </a:ext>
            </a:extLst>
          </p:cNvPr>
          <p:cNvSpPr>
            <a:spLocks noGrp="1"/>
          </p:cNvSpPr>
          <p:nvPr/>
        </p:nvSpPr>
        <p:spPr>
          <a:xfrm>
            <a:off x="1190625" y="3000375"/>
            <a:ext cx="38100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RapidAPI Halal</a:t>
            </a:r>
          </a:p>
          <a:p>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Food Checker</a:t>
            </a:r>
          </a:p>
        </p:txBody>
      </p:sp>
      <p:sp>
        <p:nvSpPr>
          <p:cNvPr id="9" name="Rectangle 8">
            <a:extLst>
              <a:ext uri="{FF2B5EF4-FFF2-40B4-BE49-F238E27FC236}">
                <a16:creationId xmlns:a16="http://schemas.microsoft.com/office/drawing/2014/main" id="{9F33898E-CE5D-43D7-B6C2-9ADBD1A7A908}"/>
              </a:ext>
            </a:extLst>
          </p:cNvPr>
          <p:cNvSpPr>
            <a:spLocks noGrp="1"/>
          </p:cNvSpPr>
          <p:nvPr/>
        </p:nvSpPr>
        <p:spPr>
          <a:xfrm>
            <a:off x="1190625" y="4000500"/>
            <a:ext cx="3619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DCEBDD"/>
                </a:solidFill>
                <a:latin typeface="Aptos"/>
                <a:ea typeface="Aptos"/>
                <a:cs typeface="Aptos"/>
              </a:defRPr>
            </a:pPr>
            <a:r>
              <a:rPr sz="1650" b="0">
                <a:solidFill>
                  <a:srgbClr val="DCEBDD"/>
                </a:solidFill>
                <a:latin typeface="Aptos"/>
                <a:ea typeface="Aptos"/>
                <a:cs typeface="Aptos"/>
              </a:rPr>
              <a:t>Used when RAPIDAPI_KEY exists.</a:t>
            </a:r>
          </a:p>
        </p:txBody>
      </p:sp>
      <p:sp>
        <p:nvSpPr>
          <p:cNvPr id="10" name="Rectangle 9">
            <a:extLst>
              <a:ext uri="{FF2B5EF4-FFF2-40B4-BE49-F238E27FC236}">
                <a16:creationId xmlns:a16="http://schemas.microsoft.com/office/drawing/2014/main" id="{02648084-CEC5-43A2-BEDD-977EBDA5B246}"/>
              </a:ext>
            </a:extLst>
          </p:cNvPr>
          <p:cNvSpPr>
            <a:spLocks noGrp="1"/>
          </p:cNvSpPr>
          <p:nvPr/>
        </p:nvSpPr>
        <p:spPr>
          <a:xfrm>
            <a:off x="6429375" y="2190750"/>
            <a:ext cx="4572000" cy="2381250"/>
          </a:xfrm>
          <a:prstGeom prst="rect">
            <a:avLst/>
          </a:prstGeom>
          <a:solidFill>
            <a:srgbClr val="FFFFFF"/>
          </a:solidFill>
          <a:ln w="9525">
            <a:solidFill>
              <a:srgbClr val="CBBEAA"/>
            </a:solidFill>
            <a:prstDash val="solid"/>
          </a:ln>
        </p:spPr>
        <p:txBody>
          <a:bodyPr/>
          <a:lstStyle/>
          <a:p>
            <a:endParaRPr lang="en-US"/>
          </a:p>
        </p:txBody>
      </p:sp>
      <p:sp>
        <p:nvSpPr>
          <p:cNvPr id="11" name="Rectangle 10">
            <a:extLst>
              <a:ext uri="{FF2B5EF4-FFF2-40B4-BE49-F238E27FC236}">
                <a16:creationId xmlns:a16="http://schemas.microsoft.com/office/drawing/2014/main" id="{A073D12D-77D7-4F19-89F3-DB2494FD0A29}"/>
              </a:ext>
            </a:extLst>
          </p:cNvPr>
          <p:cNvSpPr>
            <a:spLocks noGrp="1"/>
          </p:cNvSpPr>
          <p:nvPr/>
        </p:nvSpPr>
        <p:spPr>
          <a:xfrm>
            <a:off x="6762750" y="2495550"/>
            <a:ext cx="3810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1">
                <a:solidFill>
                  <a:srgbClr val="116A38"/>
                </a:solidFill>
                <a:latin typeface="Aptos"/>
                <a:ea typeface="Aptos"/>
                <a:cs typeface="Aptos"/>
              </a:defRPr>
            </a:pPr>
            <a:r>
              <a:rPr sz="1725" b="1">
                <a:solidFill>
                  <a:srgbClr val="116A38"/>
                </a:solidFill>
                <a:latin typeface="Aptos"/>
                <a:ea typeface="Aptos"/>
                <a:cs typeface="Aptos"/>
              </a:rPr>
              <a:t>Fallback model</a:t>
            </a:r>
          </a:p>
        </p:txBody>
      </p:sp>
      <p:sp>
        <p:nvSpPr>
          <p:cNvPr id="12" name="Rectangle 11">
            <a:extLst>
              <a:ext uri="{FF2B5EF4-FFF2-40B4-BE49-F238E27FC236}">
                <a16:creationId xmlns:a16="http://schemas.microsoft.com/office/drawing/2014/main" id="{68995031-F363-4E0C-BCF7-544C573C484D}"/>
              </a:ext>
            </a:extLst>
          </p:cNvPr>
          <p:cNvSpPr>
            <a:spLocks noGrp="1"/>
          </p:cNvSpPr>
          <p:nvPr/>
        </p:nvSpPr>
        <p:spPr>
          <a:xfrm>
            <a:off x="6762750" y="3000375"/>
            <a:ext cx="3810000" cy="781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000" b="1">
                <a:solidFill>
                  <a:srgbClr val="071F16"/>
                </a:solidFill>
                <a:latin typeface="Aptos Display"/>
                <a:ea typeface="Aptos Display"/>
                <a:cs typeface="Aptos Display"/>
              </a:defRPr>
            </a:pPr>
            <a:r>
              <a:rPr sz="3000" b="1">
                <a:solidFill>
                  <a:srgbClr val="071F16"/>
                </a:solidFill>
                <a:latin typeface="Aptos Display"/>
                <a:ea typeface="Aptos Display"/>
                <a:cs typeface="Aptos Display"/>
              </a:rPr>
              <a:t>TF-IDF</a:t>
            </a:r>
          </a:p>
          <a:p>
            <a:pPr algn="l">
              <a:defRPr sz="3000" b="1">
                <a:solidFill>
                  <a:srgbClr val="071F16"/>
                </a:solidFill>
                <a:latin typeface="Aptos Display"/>
                <a:ea typeface="Aptos Display"/>
                <a:cs typeface="Aptos Display"/>
              </a:defRPr>
            </a:pPr>
            <a:r>
              <a:rPr sz="3000" b="1">
                <a:solidFill>
                  <a:srgbClr val="071F16"/>
                </a:solidFill>
                <a:latin typeface="Aptos Display"/>
                <a:ea typeface="Aptos Display"/>
                <a:cs typeface="Aptos Display"/>
              </a:rPr>
              <a:t>Naive Bayes</a:t>
            </a:r>
          </a:p>
        </p:txBody>
      </p:sp>
      <p:sp>
        <p:nvSpPr>
          <p:cNvPr id="13" name="Rectangle 12">
            <a:extLst>
              <a:ext uri="{FF2B5EF4-FFF2-40B4-BE49-F238E27FC236}">
                <a16:creationId xmlns:a16="http://schemas.microsoft.com/office/drawing/2014/main" id="{EF5E085C-B211-460D-930E-8F7E58D1AC7D}"/>
              </a:ext>
            </a:extLst>
          </p:cNvPr>
          <p:cNvSpPr>
            <a:spLocks noGrp="1"/>
          </p:cNvSpPr>
          <p:nvPr/>
        </p:nvSpPr>
        <p:spPr>
          <a:xfrm>
            <a:off x="6762750" y="4000500"/>
            <a:ext cx="3619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4B5B52"/>
                </a:solidFill>
                <a:latin typeface="Aptos"/>
                <a:ea typeface="Aptos"/>
                <a:cs typeface="Aptos"/>
              </a:defRPr>
            </a:pPr>
            <a:r>
              <a:rPr sz="1650" b="0">
                <a:solidFill>
                  <a:srgbClr val="4B5B52"/>
                </a:solidFill>
                <a:latin typeface="Aptos"/>
                <a:ea typeface="Aptos"/>
                <a:cs typeface="Aptos"/>
              </a:rPr>
              <a:t>Reproducible for classroom tests.</a:t>
            </a:r>
          </a:p>
        </p:txBody>
      </p:sp>
      <p:sp>
        <p:nvSpPr>
          <p:cNvPr id="14" name="Rectangle 13">
            <a:extLst>
              <a:ext uri="{FF2B5EF4-FFF2-40B4-BE49-F238E27FC236}">
                <a16:creationId xmlns:a16="http://schemas.microsoft.com/office/drawing/2014/main" id="{23D7E36C-F197-4A01-8944-C75503F0965F}"/>
              </a:ext>
            </a:extLst>
          </p:cNvPr>
          <p:cNvSpPr>
            <a:spLocks noGrp="1"/>
          </p:cNvSpPr>
          <p:nvPr/>
        </p:nvSpPr>
        <p:spPr>
          <a:xfrm>
            <a:off x="1428750" y="5286375"/>
            <a:ext cx="47625" cy="819150"/>
          </a:xfrm>
          <a:prstGeom prst="rect">
            <a:avLst/>
          </a:prstGeom>
          <a:solidFill>
            <a:srgbClr val="0F4272"/>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2DEE4504-9888-486F-961B-6415A6BD0B7A}"/>
              </a:ext>
            </a:extLst>
          </p:cNvPr>
          <p:cNvSpPr>
            <a:spLocks noGrp="1"/>
          </p:cNvSpPr>
          <p:nvPr/>
        </p:nvSpPr>
        <p:spPr>
          <a:xfrm>
            <a:off x="1638300" y="524827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071F16"/>
                </a:solidFill>
                <a:latin typeface="Aptos Display"/>
                <a:ea typeface="Aptos Display"/>
                <a:cs typeface="Aptos Display"/>
              </a:defRPr>
            </a:pPr>
            <a:r>
              <a:rPr sz="2850" b="1">
                <a:solidFill>
                  <a:srgbClr val="071F16"/>
                </a:solidFill>
                <a:latin typeface="Aptos Display"/>
                <a:ea typeface="Aptos Display"/>
                <a:cs typeface="Aptos Display"/>
              </a:rPr>
              <a:t>58</a:t>
            </a:r>
          </a:p>
        </p:txBody>
      </p:sp>
      <p:sp>
        <p:nvSpPr>
          <p:cNvPr id="16" name="Rectangle 15">
            <a:extLst>
              <a:ext uri="{FF2B5EF4-FFF2-40B4-BE49-F238E27FC236}">
                <a16:creationId xmlns:a16="http://schemas.microsoft.com/office/drawing/2014/main" id="{A3A0E8A4-8996-4153-8F9C-F70C6FA26FAA}"/>
              </a:ext>
            </a:extLst>
          </p:cNvPr>
          <p:cNvSpPr>
            <a:spLocks noGrp="1"/>
          </p:cNvSpPr>
          <p:nvPr/>
        </p:nvSpPr>
        <p:spPr>
          <a:xfrm>
            <a:off x="1638300" y="573405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4B5B52"/>
                </a:solidFill>
                <a:latin typeface="Aptos"/>
                <a:ea typeface="Aptos"/>
                <a:cs typeface="Aptos"/>
              </a:defRPr>
            </a:pPr>
            <a:r>
              <a:rPr sz="1500" b="1" dirty="0">
                <a:solidFill>
                  <a:srgbClr val="4B5B52"/>
                </a:solidFill>
                <a:latin typeface="Aptos"/>
                <a:ea typeface="Aptos"/>
                <a:cs typeface="Aptos"/>
              </a:rPr>
              <a:t>TRAINING SAMPLES</a:t>
            </a:r>
          </a:p>
        </p:txBody>
      </p:sp>
      <p:sp>
        <p:nvSpPr>
          <p:cNvPr id="17" name="Rectangle 16">
            <a:extLst>
              <a:ext uri="{FF2B5EF4-FFF2-40B4-BE49-F238E27FC236}">
                <a16:creationId xmlns:a16="http://schemas.microsoft.com/office/drawing/2014/main" id="{5F26E92F-18E8-4199-8DF4-DA05F370A6A5}"/>
              </a:ext>
            </a:extLst>
          </p:cNvPr>
          <p:cNvSpPr>
            <a:spLocks noGrp="1"/>
          </p:cNvSpPr>
          <p:nvPr/>
        </p:nvSpPr>
        <p:spPr>
          <a:xfrm>
            <a:off x="1638300" y="595312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4B5B52"/>
                </a:solidFill>
                <a:latin typeface="Aptos"/>
                <a:ea typeface="Aptos"/>
                <a:cs typeface="Aptos"/>
              </a:defRPr>
            </a:pPr>
            <a:r>
              <a:rPr sz="1200" b="0" dirty="0">
                <a:solidFill>
                  <a:srgbClr val="4B5B52"/>
                </a:solidFill>
                <a:latin typeface="Aptos"/>
                <a:ea typeface="Aptos"/>
                <a:cs typeface="Aptos"/>
              </a:rPr>
              <a:t>local fallback</a:t>
            </a:r>
          </a:p>
        </p:txBody>
      </p:sp>
      <p:sp>
        <p:nvSpPr>
          <p:cNvPr id="18" name="Rectangle 17">
            <a:extLst>
              <a:ext uri="{FF2B5EF4-FFF2-40B4-BE49-F238E27FC236}">
                <a16:creationId xmlns:a16="http://schemas.microsoft.com/office/drawing/2014/main" id="{BED06296-CA95-4FB2-802F-3A33C04BDD35}"/>
              </a:ext>
            </a:extLst>
          </p:cNvPr>
          <p:cNvSpPr>
            <a:spLocks noGrp="1"/>
          </p:cNvSpPr>
          <p:nvPr/>
        </p:nvSpPr>
        <p:spPr>
          <a:xfrm>
            <a:off x="4953000" y="5286375"/>
            <a:ext cx="47625" cy="819150"/>
          </a:xfrm>
          <a:prstGeom prst="rect">
            <a:avLst/>
          </a:prstGeom>
          <a:solidFill>
            <a:srgbClr val="116A38"/>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F7E2A700-589F-4E8F-B065-403064E59C08}"/>
              </a:ext>
            </a:extLst>
          </p:cNvPr>
          <p:cNvSpPr>
            <a:spLocks noGrp="1"/>
          </p:cNvSpPr>
          <p:nvPr/>
        </p:nvSpPr>
        <p:spPr>
          <a:xfrm>
            <a:off x="5162550" y="524827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071F16"/>
                </a:solidFill>
                <a:latin typeface="Aptos Display"/>
                <a:ea typeface="Aptos Display"/>
                <a:cs typeface="Aptos Display"/>
              </a:defRPr>
            </a:pPr>
            <a:r>
              <a:rPr sz="2850" b="1">
                <a:solidFill>
                  <a:srgbClr val="071F16"/>
                </a:solidFill>
                <a:latin typeface="Aptos Display"/>
                <a:ea typeface="Aptos Display"/>
                <a:cs typeface="Aptos Display"/>
              </a:rPr>
              <a:t>36/36</a:t>
            </a:r>
          </a:p>
        </p:txBody>
      </p:sp>
      <p:sp>
        <p:nvSpPr>
          <p:cNvPr id="20" name="Rectangle 19">
            <a:extLst>
              <a:ext uri="{FF2B5EF4-FFF2-40B4-BE49-F238E27FC236}">
                <a16:creationId xmlns:a16="http://schemas.microsoft.com/office/drawing/2014/main" id="{5EE5FF5C-DE01-4663-A622-949DF216E88E}"/>
              </a:ext>
            </a:extLst>
          </p:cNvPr>
          <p:cNvSpPr>
            <a:spLocks noGrp="1"/>
          </p:cNvSpPr>
          <p:nvPr/>
        </p:nvSpPr>
        <p:spPr>
          <a:xfrm>
            <a:off x="5162550" y="573405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4B5B52"/>
                </a:solidFill>
                <a:latin typeface="Aptos"/>
                <a:ea typeface="Aptos"/>
                <a:cs typeface="Aptos"/>
              </a:defRPr>
            </a:pPr>
            <a:r>
              <a:rPr sz="1500" b="1" dirty="0">
                <a:solidFill>
                  <a:srgbClr val="4B5B52"/>
                </a:solidFill>
                <a:latin typeface="Aptos"/>
                <a:ea typeface="Aptos"/>
                <a:cs typeface="Aptos"/>
              </a:rPr>
              <a:t>HOLDOUT CASES</a:t>
            </a:r>
          </a:p>
        </p:txBody>
      </p:sp>
      <p:sp>
        <p:nvSpPr>
          <p:cNvPr id="21" name="Rectangle 20">
            <a:extLst>
              <a:ext uri="{FF2B5EF4-FFF2-40B4-BE49-F238E27FC236}">
                <a16:creationId xmlns:a16="http://schemas.microsoft.com/office/drawing/2014/main" id="{523EAC60-2BCE-4613-946B-400CCDE59AC2}"/>
              </a:ext>
            </a:extLst>
          </p:cNvPr>
          <p:cNvSpPr>
            <a:spLocks noGrp="1"/>
          </p:cNvSpPr>
          <p:nvPr/>
        </p:nvSpPr>
        <p:spPr>
          <a:xfrm>
            <a:off x="5162550" y="595312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4B5B52"/>
                </a:solidFill>
                <a:latin typeface="Aptos"/>
                <a:ea typeface="Aptos"/>
                <a:cs typeface="Aptos"/>
              </a:defRPr>
            </a:pPr>
            <a:r>
              <a:rPr sz="1050" b="0" dirty="0">
                <a:solidFill>
                  <a:srgbClr val="4B5B52"/>
                </a:solidFill>
                <a:latin typeface="Aptos"/>
                <a:ea typeface="Aptos"/>
                <a:cs typeface="Aptos"/>
              </a:rPr>
              <a:t>ML evaluation</a:t>
            </a:r>
          </a:p>
        </p:txBody>
      </p:sp>
      <p:sp>
        <p:nvSpPr>
          <p:cNvPr id="22" name="Rectangle 21">
            <a:extLst>
              <a:ext uri="{FF2B5EF4-FFF2-40B4-BE49-F238E27FC236}">
                <a16:creationId xmlns:a16="http://schemas.microsoft.com/office/drawing/2014/main" id="{877BC508-E1DD-4F6F-BAE5-A2C818A4A59A}"/>
              </a:ext>
            </a:extLst>
          </p:cNvPr>
          <p:cNvSpPr>
            <a:spLocks noGrp="1"/>
          </p:cNvSpPr>
          <p:nvPr/>
        </p:nvSpPr>
        <p:spPr>
          <a:xfrm>
            <a:off x="8477250" y="5286375"/>
            <a:ext cx="47625" cy="819150"/>
          </a:xfrm>
          <a:prstGeom prst="rect">
            <a:avLst/>
          </a:prstGeom>
          <a:solidFill>
            <a:srgbClr val="B8871F"/>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776AB0EA-6778-4E3A-83C2-6AC803809F4A}"/>
              </a:ext>
            </a:extLst>
          </p:cNvPr>
          <p:cNvSpPr>
            <a:spLocks noGrp="1"/>
          </p:cNvSpPr>
          <p:nvPr/>
        </p:nvSpPr>
        <p:spPr>
          <a:xfrm>
            <a:off x="8686800" y="524827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071F16"/>
                </a:solidFill>
                <a:latin typeface="Aptos Display"/>
                <a:ea typeface="Aptos Display"/>
                <a:cs typeface="Aptos Display"/>
              </a:defRPr>
            </a:pPr>
            <a:r>
              <a:rPr sz="2850" b="1">
                <a:solidFill>
                  <a:srgbClr val="071F16"/>
                </a:solidFill>
                <a:latin typeface="Aptos Display"/>
                <a:ea typeface="Aptos Display"/>
                <a:cs typeface="Aptos Display"/>
              </a:rPr>
              <a:t>cached</a:t>
            </a:r>
          </a:p>
        </p:txBody>
      </p:sp>
      <p:sp>
        <p:nvSpPr>
          <p:cNvPr id="24" name="Rectangle 23">
            <a:extLst>
              <a:ext uri="{FF2B5EF4-FFF2-40B4-BE49-F238E27FC236}">
                <a16:creationId xmlns:a16="http://schemas.microsoft.com/office/drawing/2014/main" id="{0A58781B-E932-4A81-9A27-986EAE0416DC}"/>
              </a:ext>
            </a:extLst>
          </p:cNvPr>
          <p:cNvSpPr>
            <a:spLocks noGrp="1"/>
          </p:cNvSpPr>
          <p:nvPr/>
        </p:nvSpPr>
        <p:spPr>
          <a:xfrm>
            <a:off x="8686800" y="573405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4B5B52"/>
                </a:solidFill>
                <a:latin typeface="Aptos"/>
                <a:ea typeface="Aptos"/>
                <a:cs typeface="Aptos"/>
              </a:defRPr>
            </a:pPr>
            <a:r>
              <a:rPr sz="1200" b="1" dirty="0">
                <a:solidFill>
                  <a:srgbClr val="4B5B52"/>
                </a:solidFill>
                <a:latin typeface="Aptos"/>
                <a:ea typeface="Aptos"/>
                <a:cs typeface="Aptos"/>
              </a:rPr>
              <a:t>LOOKUPS</a:t>
            </a:r>
          </a:p>
        </p:txBody>
      </p:sp>
      <p:sp>
        <p:nvSpPr>
          <p:cNvPr id="25" name="Rectangle 24">
            <a:extLst>
              <a:ext uri="{FF2B5EF4-FFF2-40B4-BE49-F238E27FC236}">
                <a16:creationId xmlns:a16="http://schemas.microsoft.com/office/drawing/2014/main" id="{C111139F-B924-4C04-AFC9-17ADDC29D3D5}"/>
              </a:ext>
            </a:extLst>
          </p:cNvPr>
          <p:cNvSpPr>
            <a:spLocks noGrp="1"/>
          </p:cNvSpPr>
          <p:nvPr/>
        </p:nvSpPr>
        <p:spPr>
          <a:xfrm>
            <a:off x="8686800" y="595312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4B5B52"/>
                </a:solidFill>
                <a:latin typeface="Aptos"/>
                <a:ea typeface="Aptos"/>
                <a:cs typeface="Aptos"/>
              </a:defRPr>
            </a:pPr>
            <a:r>
              <a:rPr sz="1200" b="0" dirty="0">
                <a:solidFill>
                  <a:srgbClr val="4B5B52"/>
                </a:solidFill>
                <a:latin typeface="Aptos"/>
                <a:ea typeface="Aptos"/>
                <a:cs typeface="Aptos"/>
              </a:rPr>
              <a:t>stable scans</a:t>
            </a:r>
          </a:p>
        </p:txBody>
      </p:sp>
      <p:sp>
        <p:nvSpPr>
          <p:cNvPr id="26" name="Rectangle 25">
            <a:extLst>
              <a:ext uri="{FF2B5EF4-FFF2-40B4-BE49-F238E27FC236}">
                <a16:creationId xmlns:a16="http://schemas.microsoft.com/office/drawing/2014/main" id="{08AAA3AD-0281-4E65-821A-8442FE6E5C64}"/>
              </a:ext>
            </a:extLst>
          </p:cNvPr>
          <p:cNvSpPr>
            <a:spLocks noGrp="1"/>
          </p:cNvSpPr>
          <p:nvPr/>
        </p:nvSpPr>
        <p:spPr>
          <a:xfrm>
            <a:off x="666750" y="6419850"/>
            <a:ext cx="10572750" cy="19050"/>
          </a:xfrm>
          <a:prstGeom prst="rect">
            <a:avLst/>
          </a:prstGeom>
          <a:solidFill>
            <a:srgbClr val="CBBEAA"/>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44E2CC76-5F7D-49C9-A985-F47F1974C980}"/>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4B5B52"/>
                </a:solidFill>
                <a:latin typeface="Aptos"/>
                <a:ea typeface="Aptos"/>
                <a:cs typeface="Aptos"/>
              </a:defRPr>
            </a:pPr>
            <a:r>
              <a:rPr sz="900" b="0">
                <a:solidFill>
                  <a:srgbClr val="4B5B52"/>
                </a:solidFill>
                <a:latin typeface="Aptos"/>
                <a:ea typeface="Aptos"/>
                <a:cs typeface="Aptos"/>
              </a:rPr>
              <a:t>ML Model Implementation | RapidAPI + fallback evidence</a:t>
            </a:r>
          </a:p>
        </p:txBody>
      </p:sp>
      <p:sp>
        <p:nvSpPr>
          <p:cNvPr id="28" name="Rectangle 27">
            <a:extLst>
              <a:ext uri="{FF2B5EF4-FFF2-40B4-BE49-F238E27FC236}">
                <a16:creationId xmlns:a16="http://schemas.microsoft.com/office/drawing/2014/main" id="{611EDC01-8396-4E5E-B9E4-32BBEB4AC929}"/>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071F16"/>
                </a:solidFill>
                <a:latin typeface="Aptos Display"/>
                <a:ea typeface="Aptos Display"/>
                <a:cs typeface="Aptos Display"/>
              </a:defRPr>
            </a:pPr>
            <a:r>
              <a:rPr sz="1350" b="1">
                <a:solidFill>
                  <a:srgbClr val="071F16"/>
                </a:solidFill>
                <a:latin typeface="Aptos Display"/>
                <a:ea typeface="Aptos Display"/>
                <a:cs typeface="Aptos Display"/>
              </a:rPr>
              <a:t>04</a:t>
            </a:r>
          </a:p>
        </p:txBody>
      </p:sp>
    </p:spTree>
    <p:extLst>
      <p:ext uri="{BB962C8B-B14F-4D97-AF65-F5344CB8AC3E}">
        <p14:creationId xmlns:p14="http://schemas.microsoft.com/office/powerpoint/2010/main" val="1971832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2A555526-0961-4EA2-B244-A8FEAB295E04}"/>
              </a:ext>
            </a:extLst>
          </p:cNvPr>
          <p:cNvSpPr>
            <a:spLocks noGrp="1"/>
          </p:cNvSpPr>
          <p:nvPr/>
        </p:nvSpPr>
        <p:spPr>
          <a:xfrm>
            <a:off x="-74950" y="0"/>
            <a:ext cx="12192000" cy="6858000"/>
          </a:xfrm>
          <a:prstGeom prst="rect">
            <a:avLst/>
          </a:prstGeom>
          <a:solidFill>
            <a:srgbClr val="FFF8EA"/>
          </a:solidFill>
          <a:ln w="0">
            <a:solidFill>
              <a:srgbClr val="000000">
                <a:alpha val="0"/>
              </a:srgbClr>
            </a:solidFill>
            <a:prstDash val="solid"/>
          </a:ln>
        </p:spPr>
        <p:txBody>
          <a:bodyPr/>
          <a:lstStyle/>
          <a:p>
            <a:endParaRPr lang="en-US" dirty="0"/>
          </a:p>
        </p:txBody>
      </p:sp>
      <p:sp>
        <p:nvSpPr>
          <p:cNvPr id="2" name="Rectangle 1">
            <a:extLst>
              <a:ext uri="{FF2B5EF4-FFF2-40B4-BE49-F238E27FC236}">
                <a16:creationId xmlns:a16="http://schemas.microsoft.com/office/drawing/2014/main" id="{662A0F55-0858-4CBF-99DA-CAEA2B60D3B6}"/>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5D6147DA-A7CF-493F-91B6-C058134F9F74}"/>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4B5B52"/>
                </a:solidFill>
                <a:latin typeface="Aptos"/>
                <a:ea typeface="Aptos"/>
                <a:cs typeface="Aptos"/>
              </a:defRPr>
            </a:pPr>
            <a:r>
              <a:rPr sz="1125" b="1">
                <a:solidFill>
                  <a:srgbClr val="4B5B52"/>
                </a:solidFill>
                <a:latin typeface="Aptos"/>
                <a:ea typeface="Aptos"/>
                <a:cs typeface="Aptos"/>
              </a:rPr>
              <a:t>KNOWLEDGE BASE</a:t>
            </a:r>
          </a:p>
        </p:txBody>
      </p:sp>
      <p:sp>
        <p:nvSpPr>
          <p:cNvPr id="5" name="Rectangle 4">
            <a:extLst>
              <a:ext uri="{FF2B5EF4-FFF2-40B4-BE49-F238E27FC236}">
                <a16:creationId xmlns:a16="http://schemas.microsoft.com/office/drawing/2014/main" id="{BCF1D7CE-AD21-4914-A1F6-E70145996C80}"/>
              </a:ext>
            </a:extLst>
          </p:cNvPr>
          <p:cNvSpPr>
            <a:spLocks noGrp="1"/>
          </p:cNvSpPr>
          <p:nvPr/>
        </p:nvSpPr>
        <p:spPr>
          <a:xfrm>
            <a:off x="666750" y="876300"/>
            <a:ext cx="78105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450" b="1">
                <a:solidFill>
                  <a:srgbClr val="071F16"/>
                </a:solidFill>
                <a:latin typeface="Aptos Display"/>
                <a:ea typeface="Aptos Display"/>
                <a:cs typeface="Aptos Display"/>
              </a:defRPr>
            </a:pPr>
            <a:r>
              <a:rPr sz="3450" b="1">
                <a:solidFill>
                  <a:srgbClr val="071F16"/>
                </a:solidFill>
                <a:latin typeface="Aptos Display"/>
                <a:ea typeface="Aptos Display"/>
                <a:cs typeface="Aptos Display"/>
              </a:rPr>
              <a:t>The knowledge base is the rule source of truth.</a:t>
            </a:r>
          </a:p>
        </p:txBody>
      </p:sp>
      <p:sp>
        <p:nvSpPr>
          <p:cNvPr id="6" name="Rectangle 5">
            <a:extLst>
              <a:ext uri="{FF2B5EF4-FFF2-40B4-BE49-F238E27FC236}">
                <a16:creationId xmlns:a16="http://schemas.microsoft.com/office/drawing/2014/main" id="{480CC42D-8754-4AE4-A986-661F20E1A606}"/>
              </a:ext>
            </a:extLst>
          </p:cNvPr>
          <p:cNvSpPr>
            <a:spLocks noGrp="1"/>
          </p:cNvSpPr>
          <p:nvPr/>
        </p:nvSpPr>
        <p:spPr>
          <a:xfrm>
            <a:off x="857250" y="2143125"/>
            <a:ext cx="47625" cy="819150"/>
          </a:xfrm>
          <a:prstGeom prst="rect">
            <a:avLst/>
          </a:prstGeom>
          <a:solidFill>
            <a:srgbClr val="116A38"/>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A0CB2D7B-435C-4729-895B-AB05D25810DB}"/>
              </a:ext>
            </a:extLst>
          </p:cNvPr>
          <p:cNvSpPr>
            <a:spLocks noGrp="1"/>
          </p:cNvSpPr>
          <p:nvPr/>
        </p:nvSpPr>
        <p:spPr>
          <a:xfrm>
            <a:off x="1066800" y="210502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071F16"/>
                </a:solidFill>
                <a:latin typeface="Aptos Display"/>
                <a:ea typeface="Aptos Display"/>
                <a:cs typeface="Aptos Display"/>
              </a:defRPr>
            </a:pPr>
            <a:r>
              <a:rPr sz="2850" b="1">
                <a:solidFill>
                  <a:srgbClr val="071F16"/>
                </a:solidFill>
                <a:latin typeface="Aptos Display"/>
                <a:ea typeface="Aptos Display"/>
                <a:cs typeface="Aptos Display"/>
              </a:rPr>
              <a:t>67</a:t>
            </a:r>
          </a:p>
        </p:txBody>
      </p:sp>
      <p:sp>
        <p:nvSpPr>
          <p:cNvPr id="8" name="Rectangle 7">
            <a:extLst>
              <a:ext uri="{FF2B5EF4-FFF2-40B4-BE49-F238E27FC236}">
                <a16:creationId xmlns:a16="http://schemas.microsoft.com/office/drawing/2014/main" id="{01E9A125-F7F4-4DFF-BC21-1C708E754E17}"/>
              </a:ext>
            </a:extLst>
          </p:cNvPr>
          <p:cNvSpPr>
            <a:spLocks noGrp="1"/>
          </p:cNvSpPr>
          <p:nvPr/>
        </p:nvSpPr>
        <p:spPr>
          <a:xfrm>
            <a:off x="1066800" y="259080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4B5B52"/>
                </a:solidFill>
                <a:latin typeface="Aptos"/>
                <a:ea typeface="Aptos"/>
                <a:cs typeface="Aptos"/>
              </a:defRPr>
            </a:pPr>
            <a:r>
              <a:rPr sz="1500" b="1" dirty="0">
                <a:solidFill>
                  <a:srgbClr val="4B5B52"/>
                </a:solidFill>
                <a:latin typeface="Aptos"/>
                <a:ea typeface="Aptos"/>
                <a:cs typeface="Aptos"/>
              </a:rPr>
              <a:t>STRUCTURED RULES</a:t>
            </a:r>
          </a:p>
        </p:txBody>
      </p:sp>
      <p:sp>
        <p:nvSpPr>
          <p:cNvPr id="9" name="Rectangle 8">
            <a:extLst>
              <a:ext uri="{FF2B5EF4-FFF2-40B4-BE49-F238E27FC236}">
                <a16:creationId xmlns:a16="http://schemas.microsoft.com/office/drawing/2014/main" id="{F2D2208B-16EE-4D39-BE6C-0A20D06DE5BF}"/>
              </a:ext>
            </a:extLst>
          </p:cNvPr>
          <p:cNvSpPr>
            <a:spLocks noGrp="1"/>
          </p:cNvSpPr>
          <p:nvPr/>
        </p:nvSpPr>
        <p:spPr>
          <a:xfrm>
            <a:off x="1066800" y="280987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4B5B52"/>
                </a:solidFill>
                <a:latin typeface="Aptos"/>
                <a:ea typeface="Aptos"/>
                <a:cs typeface="Aptos"/>
              </a:defRPr>
            </a:pPr>
            <a:r>
              <a:rPr sz="1200" b="0" dirty="0" err="1">
                <a:solidFill>
                  <a:srgbClr val="4B5B52"/>
                </a:solidFill>
                <a:latin typeface="Aptos"/>
                <a:ea typeface="Aptos"/>
                <a:cs typeface="Aptos"/>
              </a:rPr>
              <a:t>halal_rules.json</a:t>
            </a:r>
            <a:endParaRPr sz="1200" b="0" dirty="0">
              <a:solidFill>
                <a:srgbClr val="4B5B52"/>
              </a:solidFill>
              <a:latin typeface="Aptos"/>
              <a:ea typeface="Aptos"/>
              <a:cs typeface="Aptos"/>
            </a:endParaRPr>
          </a:p>
        </p:txBody>
      </p:sp>
      <p:sp>
        <p:nvSpPr>
          <p:cNvPr id="10" name="Rectangle 9">
            <a:extLst>
              <a:ext uri="{FF2B5EF4-FFF2-40B4-BE49-F238E27FC236}">
                <a16:creationId xmlns:a16="http://schemas.microsoft.com/office/drawing/2014/main" id="{B7305CB6-8047-4F3D-9DDF-1CFAC45183B4}"/>
              </a:ext>
            </a:extLst>
          </p:cNvPr>
          <p:cNvSpPr>
            <a:spLocks noGrp="1"/>
          </p:cNvSpPr>
          <p:nvPr/>
        </p:nvSpPr>
        <p:spPr>
          <a:xfrm>
            <a:off x="857250" y="3381375"/>
            <a:ext cx="47625" cy="819150"/>
          </a:xfrm>
          <a:prstGeom prst="rect">
            <a:avLst/>
          </a:prstGeom>
          <a:solidFill>
            <a:srgbClr val="B8871F"/>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0F5F9CC3-292A-450F-88FA-93C2C3EAECF0}"/>
              </a:ext>
            </a:extLst>
          </p:cNvPr>
          <p:cNvSpPr>
            <a:spLocks noGrp="1"/>
          </p:cNvSpPr>
          <p:nvPr/>
        </p:nvSpPr>
        <p:spPr>
          <a:xfrm>
            <a:off x="1066800" y="334327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071F16"/>
                </a:solidFill>
                <a:latin typeface="Aptos Display"/>
                <a:ea typeface="Aptos Display"/>
                <a:cs typeface="Aptos Display"/>
              </a:defRPr>
            </a:pPr>
            <a:r>
              <a:rPr sz="2850" b="1">
                <a:solidFill>
                  <a:srgbClr val="071F16"/>
                </a:solidFill>
                <a:latin typeface="Aptos Display"/>
                <a:ea typeface="Aptos Display"/>
                <a:cs typeface="Aptos Display"/>
              </a:rPr>
              <a:t>5</a:t>
            </a:r>
          </a:p>
        </p:txBody>
      </p:sp>
      <p:sp>
        <p:nvSpPr>
          <p:cNvPr id="12" name="Rectangle 11">
            <a:extLst>
              <a:ext uri="{FF2B5EF4-FFF2-40B4-BE49-F238E27FC236}">
                <a16:creationId xmlns:a16="http://schemas.microsoft.com/office/drawing/2014/main" id="{36557E8D-7801-402B-9BB0-9DCC96373A0B}"/>
              </a:ext>
            </a:extLst>
          </p:cNvPr>
          <p:cNvSpPr>
            <a:spLocks noGrp="1"/>
          </p:cNvSpPr>
          <p:nvPr/>
        </p:nvSpPr>
        <p:spPr>
          <a:xfrm>
            <a:off x="1066800" y="382905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4B5B52"/>
                </a:solidFill>
                <a:latin typeface="Aptos"/>
                <a:ea typeface="Aptos"/>
                <a:cs typeface="Aptos"/>
              </a:defRPr>
            </a:pPr>
            <a:r>
              <a:rPr sz="1500" b="1" dirty="0">
                <a:solidFill>
                  <a:srgbClr val="4B5B52"/>
                </a:solidFill>
                <a:latin typeface="Aptos"/>
                <a:ea typeface="Aptos"/>
                <a:cs typeface="Aptos"/>
              </a:rPr>
              <a:t>CERTIFIERS</a:t>
            </a:r>
          </a:p>
        </p:txBody>
      </p:sp>
      <p:sp>
        <p:nvSpPr>
          <p:cNvPr id="13" name="Rectangle 12">
            <a:extLst>
              <a:ext uri="{FF2B5EF4-FFF2-40B4-BE49-F238E27FC236}">
                <a16:creationId xmlns:a16="http://schemas.microsoft.com/office/drawing/2014/main" id="{CCE0FB9F-3045-4677-8999-7AD587BFF8F5}"/>
              </a:ext>
            </a:extLst>
          </p:cNvPr>
          <p:cNvSpPr>
            <a:spLocks noGrp="1"/>
          </p:cNvSpPr>
          <p:nvPr/>
        </p:nvSpPr>
        <p:spPr>
          <a:xfrm>
            <a:off x="1066800" y="404812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4B5B52"/>
                </a:solidFill>
                <a:latin typeface="Aptos"/>
                <a:ea typeface="Aptos"/>
                <a:cs typeface="Aptos"/>
              </a:defRPr>
            </a:pPr>
            <a:r>
              <a:rPr sz="1200" b="0" dirty="0">
                <a:solidFill>
                  <a:srgbClr val="4B5B52"/>
                </a:solidFill>
                <a:latin typeface="Aptos"/>
                <a:ea typeface="Aptos"/>
                <a:cs typeface="Aptos"/>
              </a:rPr>
              <a:t>JAKIM, MUI, IFANCA, HFA, ESMA</a:t>
            </a:r>
          </a:p>
        </p:txBody>
      </p:sp>
      <p:sp>
        <p:nvSpPr>
          <p:cNvPr id="14" name="Rectangle 13">
            <a:extLst>
              <a:ext uri="{FF2B5EF4-FFF2-40B4-BE49-F238E27FC236}">
                <a16:creationId xmlns:a16="http://schemas.microsoft.com/office/drawing/2014/main" id="{DF8F996A-D8E6-4516-8D46-3DE05EC7EA3B}"/>
              </a:ext>
            </a:extLst>
          </p:cNvPr>
          <p:cNvSpPr>
            <a:spLocks noGrp="1"/>
          </p:cNvSpPr>
          <p:nvPr/>
        </p:nvSpPr>
        <p:spPr>
          <a:xfrm>
            <a:off x="857250" y="4619625"/>
            <a:ext cx="47625" cy="819150"/>
          </a:xfrm>
          <a:prstGeom prst="rect">
            <a:avLst/>
          </a:prstGeom>
          <a:solidFill>
            <a:srgbClr val="D40000"/>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214E4686-56FC-4F04-857B-8A58F8ECD413}"/>
              </a:ext>
            </a:extLst>
          </p:cNvPr>
          <p:cNvSpPr>
            <a:spLocks noGrp="1"/>
          </p:cNvSpPr>
          <p:nvPr/>
        </p:nvSpPr>
        <p:spPr>
          <a:xfrm>
            <a:off x="1066800" y="458152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071F16"/>
                </a:solidFill>
                <a:latin typeface="Aptos Display"/>
                <a:ea typeface="Aptos Display"/>
                <a:cs typeface="Aptos Display"/>
              </a:defRPr>
            </a:pPr>
            <a:r>
              <a:rPr sz="2850" b="1">
                <a:solidFill>
                  <a:srgbClr val="071F16"/>
                </a:solidFill>
                <a:latin typeface="Aptos Display"/>
                <a:ea typeface="Aptos Display"/>
                <a:cs typeface="Aptos Display"/>
              </a:rPr>
              <a:t>E</a:t>
            </a:r>
          </a:p>
        </p:txBody>
      </p:sp>
      <p:sp>
        <p:nvSpPr>
          <p:cNvPr id="16" name="Rectangle 15">
            <a:extLst>
              <a:ext uri="{FF2B5EF4-FFF2-40B4-BE49-F238E27FC236}">
                <a16:creationId xmlns:a16="http://schemas.microsoft.com/office/drawing/2014/main" id="{BE9B391B-B2D6-49F7-BA17-BE7CF0158517}"/>
              </a:ext>
            </a:extLst>
          </p:cNvPr>
          <p:cNvSpPr>
            <a:spLocks noGrp="1"/>
          </p:cNvSpPr>
          <p:nvPr/>
        </p:nvSpPr>
        <p:spPr>
          <a:xfrm>
            <a:off x="1066800" y="506730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4B5B52"/>
                </a:solidFill>
                <a:latin typeface="Aptos"/>
                <a:ea typeface="Aptos"/>
                <a:cs typeface="Aptos"/>
              </a:defRPr>
            </a:pPr>
            <a:r>
              <a:rPr sz="1200" b="1" dirty="0">
                <a:solidFill>
                  <a:srgbClr val="4B5B52"/>
                </a:solidFill>
                <a:latin typeface="Aptos"/>
                <a:ea typeface="Aptos"/>
                <a:cs typeface="Aptos"/>
              </a:rPr>
              <a:t>NUMBER TRIGGERS</a:t>
            </a:r>
          </a:p>
        </p:txBody>
      </p:sp>
      <p:sp>
        <p:nvSpPr>
          <p:cNvPr id="17" name="Rectangle 16">
            <a:extLst>
              <a:ext uri="{FF2B5EF4-FFF2-40B4-BE49-F238E27FC236}">
                <a16:creationId xmlns:a16="http://schemas.microsoft.com/office/drawing/2014/main" id="{88D1F89F-5DA8-4FE8-89D0-A7C07B916E7B}"/>
              </a:ext>
            </a:extLst>
          </p:cNvPr>
          <p:cNvSpPr>
            <a:spLocks noGrp="1"/>
          </p:cNvSpPr>
          <p:nvPr/>
        </p:nvSpPr>
        <p:spPr>
          <a:xfrm>
            <a:off x="1066800" y="528637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4B5B52"/>
                </a:solidFill>
                <a:latin typeface="Aptos"/>
                <a:ea typeface="Aptos"/>
                <a:cs typeface="Aptos"/>
              </a:defRPr>
            </a:pPr>
            <a:r>
              <a:rPr sz="1200" b="0" dirty="0">
                <a:solidFill>
                  <a:srgbClr val="4B5B52"/>
                </a:solidFill>
                <a:latin typeface="Aptos"/>
                <a:ea typeface="Aptos"/>
                <a:cs typeface="Aptos"/>
              </a:rPr>
              <a:t>E120 and more</a:t>
            </a:r>
          </a:p>
        </p:txBody>
      </p:sp>
      <p:sp>
        <p:nvSpPr>
          <p:cNvPr id="18" name="Rectangle 17">
            <a:extLst>
              <a:ext uri="{FF2B5EF4-FFF2-40B4-BE49-F238E27FC236}">
                <a16:creationId xmlns:a16="http://schemas.microsoft.com/office/drawing/2014/main" id="{BF6DE9F3-1F34-4424-9A2A-F828D83FCA60}"/>
              </a:ext>
            </a:extLst>
          </p:cNvPr>
          <p:cNvSpPr>
            <a:spLocks noGrp="1"/>
          </p:cNvSpPr>
          <p:nvPr/>
        </p:nvSpPr>
        <p:spPr>
          <a:xfrm>
            <a:off x="4000500" y="2238375"/>
            <a:ext cx="2857500" cy="2781300"/>
          </a:xfrm>
          <a:prstGeom prst="rect">
            <a:avLst/>
          </a:prstGeom>
          <a:solidFill>
            <a:srgbClr val="FFFFFF"/>
          </a:solidFill>
          <a:ln w="9525">
            <a:solidFill>
              <a:srgbClr val="CBBEAA"/>
            </a:solidFill>
            <a:prstDash val="solid"/>
          </a:ln>
        </p:spPr>
        <p:txBody>
          <a:bodyPr/>
          <a:lstStyle/>
          <a:p>
            <a:endParaRPr lang="en-US"/>
          </a:p>
        </p:txBody>
      </p:sp>
      <p:sp>
        <p:nvSpPr>
          <p:cNvPr id="19" name="Rectangle 18">
            <a:extLst>
              <a:ext uri="{FF2B5EF4-FFF2-40B4-BE49-F238E27FC236}">
                <a16:creationId xmlns:a16="http://schemas.microsoft.com/office/drawing/2014/main" id="{A8BA2DB3-28BF-4739-86D1-92467EA9C222}"/>
              </a:ext>
            </a:extLst>
          </p:cNvPr>
          <p:cNvSpPr>
            <a:spLocks noGrp="1"/>
          </p:cNvSpPr>
          <p:nvPr/>
        </p:nvSpPr>
        <p:spPr>
          <a:xfrm>
            <a:off x="4333875" y="2524125"/>
            <a:ext cx="2190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250" b="1">
                <a:solidFill>
                  <a:srgbClr val="116A38"/>
                </a:solidFill>
                <a:latin typeface="Aptos Display"/>
                <a:ea typeface="Aptos Display"/>
                <a:cs typeface="Aptos Display"/>
              </a:defRPr>
            </a:pPr>
            <a:r>
              <a:rPr sz="2250" b="1">
                <a:solidFill>
                  <a:srgbClr val="116A38"/>
                </a:solidFill>
                <a:latin typeface="Aptos Display"/>
                <a:ea typeface="Aptos Display"/>
                <a:cs typeface="Aptos Display"/>
              </a:rPr>
              <a:t>Rule contains:</a:t>
            </a:r>
          </a:p>
        </p:txBody>
      </p:sp>
      <p:sp>
        <p:nvSpPr>
          <p:cNvPr id="20" name="Rectangle 19">
            <a:extLst>
              <a:ext uri="{FF2B5EF4-FFF2-40B4-BE49-F238E27FC236}">
                <a16:creationId xmlns:a16="http://schemas.microsoft.com/office/drawing/2014/main" id="{C7A29083-E4B5-4906-A193-228BE0AAD04B}"/>
              </a:ext>
            </a:extLst>
          </p:cNvPr>
          <p:cNvSpPr>
            <a:spLocks noGrp="1"/>
          </p:cNvSpPr>
          <p:nvPr/>
        </p:nvSpPr>
        <p:spPr>
          <a:xfrm>
            <a:off x="4619625" y="3143250"/>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71F16"/>
                </a:solidFill>
                <a:latin typeface="Aptos"/>
                <a:ea typeface="Aptos"/>
                <a:cs typeface="Aptos"/>
              </a:defRPr>
            </a:pPr>
            <a:r>
              <a:rPr sz="1650" b="1">
                <a:solidFill>
                  <a:srgbClr val="071F16"/>
                </a:solidFill>
                <a:latin typeface="Aptos"/>
                <a:ea typeface="Aptos"/>
                <a:cs typeface="Aptos"/>
              </a:rPr>
              <a:t>status</a:t>
            </a:r>
          </a:p>
        </p:txBody>
      </p:sp>
      <p:sp>
        <p:nvSpPr>
          <p:cNvPr id="21" name="Rectangle 20">
            <a:extLst>
              <a:ext uri="{FF2B5EF4-FFF2-40B4-BE49-F238E27FC236}">
                <a16:creationId xmlns:a16="http://schemas.microsoft.com/office/drawing/2014/main" id="{6B17AD2F-0EB8-4919-A7D4-FC8BE255EEA7}"/>
              </a:ext>
            </a:extLst>
          </p:cNvPr>
          <p:cNvSpPr>
            <a:spLocks noGrp="1"/>
          </p:cNvSpPr>
          <p:nvPr/>
        </p:nvSpPr>
        <p:spPr>
          <a:xfrm>
            <a:off x="4619625" y="3429000"/>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1">
                <a:solidFill>
                  <a:srgbClr val="071F16"/>
                </a:solidFill>
                <a:latin typeface="Aptos"/>
                <a:ea typeface="Aptos"/>
                <a:cs typeface="Aptos"/>
              </a:defRPr>
            </a:pPr>
            <a:r>
              <a:rPr sz="1650" b="1">
                <a:solidFill>
                  <a:srgbClr val="071F16"/>
                </a:solidFill>
                <a:latin typeface="Aptos"/>
                <a:ea typeface="Aptos"/>
                <a:cs typeface="Aptos"/>
              </a:rPr>
              <a:t>category</a:t>
            </a:r>
          </a:p>
        </p:txBody>
      </p:sp>
      <p:sp>
        <p:nvSpPr>
          <p:cNvPr id="22" name="Rectangle 21">
            <a:extLst>
              <a:ext uri="{FF2B5EF4-FFF2-40B4-BE49-F238E27FC236}">
                <a16:creationId xmlns:a16="http://schemas.microsoft.com/office/drawing/2014/main" id="{54564DB8-756D-4F43-B204-8A597153F614}"/>
              </a:ext>
            </a:extLst>
          </p:cNvPr>
          <p:cNvSpPr>
            <a:spLocks noGrp="1"/>
          </p:cNvSpPr>
          <p:nvPr/>
        </p:nvSpPr>
        <p:spPr>
          <a:xfrm>
            <a:off x="4619625" y="3714750"/>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4B5B52"/>
                </a:solidFill>
                <a:latin typeface="Aptos"/>
                <a:ea typeface="Aptos"/>
                <a:cs typeface="Aptos"/>
              </a:defRPr>
            </a:pPr>
            <a:r>
              <a:rPr sz="1650" b="0" dirty="0">
                <a:solidFill>
                  <a:srgbClr val="4B5B52"/>
                </a:solidFill>
                <a:latin typeface="Aptos"/>
                <a:ea typeface="Aptos"/>
                <a:cs typeface="Aptos"/>
              </a:rPr>
              <a:t>keywords</a:t>
            </a:r>
          </a:p>
        </p:txBody>
      </p:sp>
      <p:sp>
        <p:nvSpPr>
          <p:cNvPr id="23" name="Rectangle 22">
            <a:extLst>
              <a:ext uri="{FF2B5EF4-FFF2-40B4-BE49-F238E27FC236}">
                <a16:creationId xmlns:a16="http://schemas.microsoft.com/office/drawing/2014/main" id="{026A8AD0-1218-4175-B719-5A2B5A4C7E40}"/>
              </a:ext>
            </a:extLst>
          </p:cNvPr>
          <p:cNvSpPr>
            <a:spLocks noGrp="1"/>
          </p:cNvSpPr>
          <p:nvPr/>
        </p:nvSpPr>
        <p:spPr>
          <a:xfrm>
            <a:off x="4619625" y="4000500"/>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4B5B52"/>
                </a:solidFill>
                <a:latin typeface="Aptos"/>
                <a:ea typeface="Aptos"/>
                <a:cs typeface="Aptos"/>
              </a:defRPr>
            </a:pPr>
            <a:r>
              <a:rPr sz="1650" b="0" dirty="0">
                <a:solidFill>
                  <a:srgbClr val="4B5B52"/>
                </a:solidFill>
                <a:latin typeface="Aptos"/>
                <a:ea typeface="Aptos"/>
                <a:cs typeface="Aptos"/>
              </a:rPr>
              <a:t>E-number</a:t>
            </a:r>
          </a:p>
        </p:txBody>
      </p:sp>
      <p:sp>
        <p:nvSpPr>
          <p:cNvPr id="24" name="Rectangle 23">
            <a:extLst>
              <a:ext uri="{FF2B5EF4-FFF2-40B4-BE49-F238E27FC236}">
                <a16:creationId xmlns:a16="http://schemas.microsoft.com/office/drawing/2014/main" id="{9E7C7E4C-258A-4ACA-956C-25A863126F26}"/>
              </a:ext>
            </a:extLst>
          </p:cNvPr>
          <p:cNvSpPr>
            <a:spLocks noGrp="1"/>
          </p:cNvSpPr>
          <p:nvPr/>
        </p:nvSpPr>
        <p:spPr>
          <a:xfrm>
            <a:off x="4619625" y="4286250"/>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4B5B52"/>
                </a:solidFill>
                <a:latin typeface="Aptos"/>
                <a:ea typeface="Aptos"/>
                <a:cs typeface="Aptos"/>
              </a:defRPr>
            </a:pPr>
            <a:r>
              <a:rPr sz="1650" b="0" dirty="0">
                <a:solidFill>
                  <a:srgbClr val="4B5B52"/>
                </a:solidFill>
                <a:latin typeface="Aptos"/>
                <a:ea typeface="Aptos"/>
                <a:cs typeface="Aptos"/>
              </a:rPr>
              <a:t>reason</a:t>
            </a:r>
          </a:p>
        </p:txBody>
      </p:sp>
      <p:sp>
        <p:nvSpPr>
          <p:cNvPr id="25" name="Rectangle 24">
            <a:extLst>
              <a:ext uri="{FF2B5EF4-FFF2-40B4-BE49-F238E27FC236}">
                <a16:creationId xmlns:a16="http://schemas.microsoft.com/office/drawing/2014/main" id="{82F2B8C6-3A1F-4A79-9639-3E795882792F}"/>
              </a:ext>
            </a:extLst>
          </p:cNvPr>
          <p:cNvSpPr>
            <a:spLocks noGrp="1"/>
          </p:cNvSpPr>
          <p:nvPr/>
        </p:nvSpPr>
        <p:spPr>
          <a:xfrm>
            <a:off x="4619625" y="4572000"/>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650" b="0">
                <a:solidFill>
                  <a:srgbClr val="4B5B52"/>
                </a:solidFill>
                <a:latin typeface="Aptos"/>
                <a:ea typeface="Aptos"/>
                <a:cs typeface="Aptos"/>
              </a:defRPr>
            </a:pPr>
            <a:r>
              <a:rPr sz="1650" b="0" dirty="0">
                <a:solidFill>
                  <a:srgbClr val="4B5B52"/>
                </a:solidFill>
                <a:latin typeface="Aptos"/>
                <a:ea typeface="Aptos"/>
                <a:cs typeface="Aptos"/>
              </a:rPr>
              <a:t>source</a:t>
            </a:r>
          </a:p>
        </p:txBody>
      </p:sp>
      <p:sp>
        <p:nvSpPr>
          <p:cNvPr id="26" name="Rectangle 25">
            <a:extLst>
              <a:ext uri="{FF2B5EF4-FFF2-40B4-BE49-F238E27FC236}">
                <a16:creationId xmlns:a16="http://schemas.microsoft.com/office/drawing/2014/main" id="{A01CD733-AF42-4603-AB29-3B28E14E2878}"/>
              </a:ext>
            </a:extLst>
          </p:cNvPr>
          <p:cNvSpPr>
            <a:spLocks noGrp="1"/>
          </p:cNvSpPr>
          <p:nvPr/>
        </p:nvSpPr>
        <p:spPr>
          <a:xfrm>
            <a:off x="7885112" y="1503362"/>
            <a:ext cx="3343275" cy="4792663"/>
          </a:xfrm>
          <a:prstGeom prst="rect">
            <a:avLst/>
          </a:prstGeom>
          <a:solidFill>
            <a:srgbClr val="FFFFFF"/>
          </a:solidFill>
          <a:ln w="9525">
            <a:solidFill>
              <a:srgbClr val="CBBEAA"/>
            </a:solidFill>
            <a:prstDash val="solid"/>
          </a:ln>
        </p:spPr>
        <p:txBody>
          <a:bodyPr/>
          <a:lstStyle/>
          <a:p>
            <a:endParaRPr lang="en-US"/>
          </a:p>
        </p:txBody>
      </p:sp>
      <p:pic>
        <p:nvPicPr>
          <p:cNvPr id="27" name="Picture 26"/>
          <p:cNvPicPr>
            <a:picLocks noChangeAspect="1"/>
          </p:cNvPicPr>
          <p:nvPr/>
        </p:nvPicPr>
        <p:blipFill>
          <a:blip r:embed="rId3"/>
          <a:stretch/>
        </p:blipFill>
        <p:spPr>
          <a:xfrm>
            <a:off x="7996237" y="1579562"/>
            <a:ext cx="3095625" cy="4586235"/>
          </a:xfrm>
          <a:prstGeom prst="rect">
            <a:avLst/>
          </a:prstGeom>
        </p:spPr>
      </p:pic>
      <p:sp>
        <p:nvSpPr>
          <p:cNvPr id="28" name="Rectangle 27">
            <a:extLst>
              <a:ext uri="{FF2B5EF4-FFF2-40B4-BE49-F238E27FC236}">
                <a16:creationId xmlns:a16="http://schemas.microsoft.com/office/drawing/2014/main" id="{7459B999-906C-4830-9C87-EDECA178C986}"/>
              </a:ext>
            </a:extLst>
          </p:cNvPr>
          <p:cNvSpPr>
            <a:spLocks noGrp="1"/>
          </p:cNvSpPr>
          <p:nvPr/>
        </p:nvSpPr>
        <p:spPr>
          <a:xfrm>
            <a:off x="666750" y="6419850"/>
            <a:ext cx="10572750" cy="19050"/>
          </a:xfrm>
          <a:prstGeom prst="rect">
            <a:avLst/>
          </a:prstGeom>
          <a:solidFill>
            <a:srgbClr val="CBBEAA"/>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F33BDD01-3211-4289-8DC6-A6207598A9FD}"/>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4B5B52"/>
                </a:solidFill>
                <a:latin typeface="Aptos"/>
                <a:ea typeface="Aptos"/>
                <a:cs typeface="Aptos"/>
              </a:defRPr>
            </a:pPr>
            <a:r>
              <a:rPr sz="900" b="0">
                <a:solidFill>
                  <a:srgbClr val="4B5B52"/>
                </a:solidFill>
                <a:latin typeface="Aptos"/>
                <a:ea typeface="Aptos"/>
                <a:cs typeface="Aptos"/>
              </a:rPr>
              <a:t>Knowledge Base Design | Rules, keywords, sources, certifiers</a:t>
            </a:r>
          </a:p>
        </p:txBody>
      </p:sp>
      <p:sp>
        <p:nvSpPr>
          <p:cNvPr id="30" name="Rectangle 29">
            <a:extLst>
              <a:ext uri="{FF2B5EF4-FFF2-40B4-BE49-F238E27FC236}">
                <a16:creationId xmlns:a16="http://schemas.microsoft.com/office/drawing/2014/main" id="{2E830D08-71F6-4FC0-8D2C-F0A5AF38596B}"/>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071F16"/>
                </a:solidFill>
                <a:latin typeface="Aptos Display"/>
                <a:ea typeface="Aptos Display"/>
                <a:cs typeface="Aptos Display"/>
              </a:defRPr>
            </a:pPr>
            <a:r>
              <a:rPr sz="1350" b="1">
                <a:solidFill>
                  <a:srgbClr val="071F16"/>
                </a:solidFill>
                <a:latin typeface="Aptos Display"/>
                <a:ea typeface="Aptos Display"/>
                <a:cs typeface="Aptos Display"/>
              </a:rPr>
              <a:t>05</a:t>
            </a:r>
          </a:p>
        </p:txBody>
      </p:sp>
    </p:spTree>
    <p:extLst>
      <p:ext uri="{BB962C8B-B14F-4D97-AF65-F5344CB8AC3E}">
        <p14:creationId xmlns:p14="http://schemas.microsoft.com/office/powerpoint/2010/main" val="433845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01A55A7-7528-47CB-909F-6BD4F92DB263}"/>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2E4D86DA-0E3B-4C00-8A7E-C2BF22DC02AD}"/>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78316397-2BDC-41CB-BC4D-1266AF640166}"/>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4B5B52"/>
                </a:solidFill>
                <a:latin typeface="Aptos"/>
                <a:ea typeface="Aptos"/>
                <a:cs typeface="Aptos"/>
              </a:defRPr>
            </a:pPr>
            <a:r>
              <a:rPr sz="1125" b="1">
                <a:solidFill>
                  <a:srgbClr val="4B5B52"/>
                </a:solidFill>
                <a:latin typeface="Aptos"/>
                <a:ea typeface="Aptos"/>
                <a:cs typeface="Aptos"/>
              </a:rPr>
              <a:t>RULE EXAMPLES</a:t>
            </a:r>
          </a:p>
        </p:txBody>
      </p:sp>
      <p:sp>
        <p:nvSpPr>
          <p:cNvPr id="5" name="Rectangle 4">
            <a:extLst>
              <a:ext uri="{FF2B5EF4-FFF2-40B4-BE49-F238E27FC236}">
                <a16:creationId xmlns:a16="http://schemas.microsoft.com/office/drawing/2014/main" id="{333A4019-D8F4-47BA-8AD6-876BCBEB9345}"/>
              </a:ext>
            </a:extLst>
          </p:cNvPr>
          <p:cNvSpPr>
            <a:spLocks noGrp="1"/>
          </p:cNvSpPr>
          <p:nvPr/>
        </p:nvSpPr>
        <p:spPr>
          <a:xfrm>
            <a:off x="666750" y="876300"/>
            <a:ext cx="78105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450" b="1">
                <a:solidFill>
                  <a:srgbClr val="071F16"/>
                </a:solidFill>
                <a:latin typeface="Aptos Display"/>
                <a:ea typeface="Aptos Display"/>
                <a:cs typeface="Aptos Display"/>
              </a:defRPr>
            </a:pPr>
            <a:r>
              <a:rPr sz="3450" b="1">
                <a:solidFill>
                  <a:srgbClr val="071F16"/>
                </a:solidFill>
                <a:latin typeface="Aptos Display"/>
                <a:ea typeface="Aptos Display"/>
                <a:cs typeface="Aptos Display"/>
              </a:rPr>
              <a:t>Examples show how rules become evidence.</a:t>
            </a:r>
          </a:p>
        </p:txBody>
      </p:sp>
      <p:sp>
        <p:nvSpPr>
          <p:cNvPr id="6" name="Rectangle 5">
            <a:extLst>
              <a:ext uri="{FF2B5EF4-FFF2-40B4-BE49-F238E27FC236}">
                <a16:creationId xmlns:a16="http://schemas.microsoft.com/office/drawing/2014/main" id="{93FFEF3D-9D1C-466F-9F56-D568D051ADF8}"/>
              </a:ext>
            </a:extLst>
          </p:cNvPr>
          <p:cNvSpPr>
            <a:spLocks noGrp="1"/>
          </p:cNvSpPr>
          <p:nvPr/>
        </p:nvSpPr>
        <p:spPr>
          <a:xfrm>
            <a:off x="1047750" y="1952625"/>
            <a:ext cx="9810750" cy="619125"/>
          </a:xfrm>
          <a:prstGeom prst="rect">
            <a:avLst/>
          </a:prstGeom>
          <a:solidFill>
            <a:srgbClr val="FFFFFF"/>
          </a:solidFill>
          <a:ln w="9525">
            <a:solidFill>
              <a:srgbClr val="CBBEAA"/>
            </a:solidFill>
            <a:prstDash val="solid"/>
          </a:ln>
        </p:spPr>
        <p:txBody>
          <a:bodyPr/>
          <a:lstStyle/>
          <a:p>
            <a:endParaRPr lang="en-US"/>
          </a:p>
        </p:txBody>
      </p:sp>
      <p:sp>
        <p:nvSpPr>
          <p:cNvPr id="7" name="Rectangle 6">
            <a:extLst>
              <a:ext uri="{FF2B5EF4-FFF2-40B4-BE49-F238E27FC236}">
                <a16:creationId xmlns:a16="http://schemas.microsoft.com/office/drawing/2014/main" id="{A0DCFEB0-E727-4B87-A221-897B520CC8B9}"/>
              </a:ext>
            </a:extLst>
          </p:cNvPr>
          <p:cNvSpPr>
            <a:spLocks noGrp="1"/>
          </p:cNvSpPr>
          <p:nvPr/>
        </p:nvSpPr>
        <p:spPr>
          <a:xfrm>
            <a:off x="1285875" y="2124075"/>
            <a:ext cx="1047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D40000"/>
                </a:solidFill>
                <a:latin typeface="Aptos Display"/>
                <a:ea typeface="Aptos Display"/>
                <a:cs typeface="Aptos Display"/>
              </a:defRPr>
            </a:pPr>
            <a:r>
              <a:rPr sz="1875" b="1">
                <a:solidFill>
                  <a:srgbClr val="D40000"/>
                </a:solidFill>
                <a:latin typeface="Aptos Display"/>
                <a:ea typeface="Aptos Display"/>
                <a:cs typeface="Aptos Display"/>
              </a:rPr>
              <a:t>R001</a:t>
            </a:r>
          </a:p>
        </p:txBody>
      </p:sp>
      <p:sp>
        <p:nvSpPr>
          <p:cNvPr id="8" name="Rectangle 7">
            <a:extLst>
              <a:ext uri="{FF2B5EF4-FFF2-40B4-BE49-F238E27FC236}">
                <a16:creationId xmlns:a16="http://schemas.microsoft.com/office/drawing/2014/main" id="{D50FD3F9-6538-4089-9307-8636CEB42345}"/>
              </a:ext>
            </a:extLst>
          </p:cNvPr>
          <p:cNvSpPr>
            <a:spLocks noGrp="1"/>
          </p:cNvSpPr>
          <p:nvPr/>
        </p:nvSpPr>
        <p:spPr>
          <a:xfrm>
            <a:off x="2667000" y="2124075"/>
            <a:ext cx="2571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071F16"/>
                </a:solidFill>
                <a:latin typeface="Aptos"/>
                <a:ea typeface="Aptos"/>
                <a:cs typeface="Aptos"/>
              </a:defRPr>
            </a:pPr>
            <a:r>
              <a:rPr sz="1875" b="1">
                <a:solidFill>
                  <a:srgbClr val="071F16"/>
                </a:solidFill>
                <a:latin typeface="Aptos"/>
                <a:ea typeface="Aptos"/>
                <a:cs typeface="Aptos"/>
              </a:rPr>
              <a:t>E120 / carmine</a:t>
            </a:r>
          </a:p>
        </p:txBody>
      </p:sp>
      <p:sp>
        <p:nvSpPr>
          <p:cNvPr id="9" name="Rectangle 8">
            <a:extLst>
              <a:ext uri="{FF2B5EF4-FFF2-40B4-BE49-F238E27FC236}">
                <a16:creationId xmlns:a16="http://schemas.microsoft.com/office/drawing/2014/main" id="{223B7B16-2E5D-4934-B0C7-CEDCE7A38DAE}"/>
              </a:ext>
            </a:extLst>
          </p:cNvPr>
          <p:cNvSpPr>
            <a:spLocks noGrp="1"/>
          </p:cNvSpPr>
          <p:nvPr/>
        </p:nvSpPr>
        <p:spPr>
          <a:xfrm>
            <a:off x="5667375" y="2066925"/>
            <a:ext cx="1476375" cy="400050"/>
          </a:xfrm>
          <a:prstGeom prst="rect">
            <a:avLst/>
          </a:prstGeom>
          <a:solidFill>
            <a:srgbClr val="D40000"/>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HARAM</a:t>
            </a:r>
          </a:p>
        </p:txBody>
      </p:sp>
      <p:sp>
        <p:nvSpPr>
          <p:cNvPr id="10" name="Rectangle 9">
            <a:extLst>
              <a:ext uri="{FF2B5EF4-FFF2-40B4-BE49-F238E27FC236}">
                <a16:creationId xmlns:a16="http://schemas.microsoft.com/office/drawing/2014/main" id="{B9E929A4-238F-4BEA-AAE0-88ACAD50D65B}"/>
              </a:ext>
            </a:extLst>
          </p:cNvPr>
          <p:cNvSpPr>
            <a:spLocks noGrp="1"/>
          </p:cNvSpPr>
          <p:nvPr/>
        </p:nvSpPr>
        <p:spPr>
          <a:xfrm>
            <a:off x="7620000" y="2124075"/>
            <a:ext cx="2667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4B5B52"/>
                </a:solidFill>
                <a:latin typeface="Aptos"/>
                <a:ea typeface="Aptos"/>
                <a:cs typeface="Aptos"/>
              </a:defRPr>
            </a:pPr>
            <a:r>
              <a:rPr sz="1725" b="0">
                <a:solidFill>
                  <a:srgbClr val="4B5B52"/>
                </a:solidFill>
                <a:latin typeface="Aptos"/>
                <a:ea typeface="Aptos"/>
                <a:cs typeface="Aptos"/>
              </a:rPr>
              <a:t>forces non-compliant</a:t>
            </a:r>
          </a:p>
        </p:txBody>
      </p:sp>
      <p:sp>
        <p:nvSpPr>
          <p:cNvPr id="11" name="Rectangle 10">
            <a:extLst>
              <a:ext uri="{FF2B5EF4-FFF2-40B4-BE49-F238E27FC236}">
                <a16:creationId xmlns:a16="http://schemas.microsoft.com/office/drawing/2014/main" id="{87D481F8-BBB9-479F-A1AB-4E48ED2F9BE6}"/>
              </a:ext>
            </a:extLst>
          </p:cNvPr>
          <p:cNvSpPr>
            <a:spLocks noGrp="1"/>
          </p:cNvSpPr>
          <p:nvPr/>
        </p:nvSpPr>
        <p:spPr>
          <a:xfrm>
            <a:off x="1047750" y="2809875"/>
            <a:ext cx="9810750" cy="619125"/>
          </a:xfrm>
          <a:prstGeom prst="rect">
            <a:avLst/>
          </a:prstGeom>
          <a:solidFill>
            <a:srgbClr val="FFFFFF"/>
          </a:solidFill>
          <a:ln w="9525">
            <a:solidFill>
              <a:srgbClr val="CBBEAA"/>
            </a:solidFill>
            <a:prstDash val="solid"/>
          </a:ln>
        </p:spPr>
        <p:txBody>
          <a:bodyPr/>
          <a:lstStyle/>
          <a:p>
            <a:endParaRPr lang="en-US"/>
          </a:p>
        </p:txBody>
      </p:sp>
      <p:sp>
        <p:nvSpPr>
          <p:cNvPr id="12" name="Rectangle 11">
            <a:extLst>
              <a:ext uri="{FF2B5EF4-FFF2-40B4-BE49-F238E27FC236}">
                <a16:creationId xmlns:a16="http://schemas.microsoft.com/office/drawing/2014/main" id="{8F44925A-C449-4476-A01D-234AFE2DDB20}"/>
              </a:ext>
            </a:extLst>
          </p:cNvPr>
          <p:cNvSpPr>
            <a:spLocks noGrp="1"/>
          </p:cNvSpPr>
          <p:nvPr/>
        </p:nvSpPr>
        <p:spPr>
          <a:xfrm>
            <a:off x="1285875" y="2981325"/>
            <a:ext cx="1047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B87900"/>
                </a:solidFill>
                <a:latin typeface="Aptos Display"/>
                <a:ea typeface="Aptos Display"/>
                <a:cs typeface="Aptos Display"/>
              </a:defRPr>
            </a:pPr>
            <a:r>
              <a:rPr sz="1875" b="1">
                <a:solidFill>
                  <a:srgbClr val="B87900"/>
                </a:solidFill>
                <a:latin typeface="Aptos Display"/>
                <a:ea typeface="Aptos Display"/>
                <a:cs typeface="Aptos Display"/>
              </a:rPr>
              <a:t>R002</a:t>
            </a:r>
          </a:p>
        </p:txBody>
      </p:sp>
      <p:sp>
        <p:nvSpPr>
          <p:cNvPr id="13" name="Rectangle 12">
            <a:extLst>
              <a:ext uri="{FF2B5EF4-FFF2-40B4-BE49-F238E27FC236}">
                <a16:creationId xmlns:a16="http://schemas.microsoft.com/office/drawing/2014/main" id="{83A91E12-4275-40B7-8542-F77B8104FA27}"/>
              </a:ext>
            </a:extLst>
          </p:cNvPr>
          <p:cNvSpPr>
            <a:spLocks noGrp="1"/>
          </p:cNvSpPr>
          <p:nvPr/>
        </p:nvSpPr>
        <p:spPr>
          <a:xfrm>
            <a:off x="2667000" y="2981325"/>
            <a:ext cx="2571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071F16"/>
                </a:solidFill>
                <a:latin typeface="Aptos"/>
                <a:ea typeface="Aptos"/>
                <a:cs typeface="Aptos"/>
              </a:defRPr>
            </a:pPr>
            <a:r>
              <a:rPr sz="1875" b="1">
                <a:solidFill>
                  <a:srgbClr val="071F16"/>
                </a:solidFill>
                <a:latin typeface="Aptos"/>
                <a:ea typeface="Aptos"/>
                <a:cs typeface="Aptos"/>
              </a:rPr>
              <a:t>gelatin</a:t>
            </a:r>
          </a:p>
        </p:txBody>
      </p:sp>
      <p:sp>
        <p:nvSpPr>
          <p:cNvPr id="14" name="Rectangle 13">
            <a:extLst>
              <a:ext uri="{FF2B5EF4-FFF2-40B4-BE49-F238E27FC236}">
                <a16:creationId xmlns:a16="http://schemas.microsoft.com/office/drawing/2014/main" id="{262BC2C0-128C-40B8-8257-B828847D6DEF}"/>
              </a:ext>
            </a:extLst>
          </p:cNvPr>
          <p:cNvSpPr>
            <a:spLocks noGrp="1"/>
          </p:cNvSpPr>
          <p:nvPr/>
        </p:nvSpPr>
        <p:spPr>
          <a:xfrm>
            <a:off x="5667375" y="2924175"/>
            <a:ext cx="1476375" cy="400050"/>
          </a:xfrm>
          <a:prstGeom prst="rect">
            <a:avLst/>
          </a:prstGeom>
          <a:solidFill>
            <a:srgbClr val="B87900"/>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DOUBTFUL</a:t>
            </a:r>
          </a:p>
        </p:txBody>
      </p:sp>
      <p:sp>
        <p:nvSpPr>
          <p:cNvPr id="15" name="Rectangle 14">
            <a:extLst>
              <a:ext uri="{FF2B5EF4-FFF2-40B4-BE49-F238E27FC236}">
                <a16:creationId xmlns:a16="http://schemas.microsoft.com/office/drawing/2014/main" id="{EDA3ABA2-4020-4071-B858-E750DDC5781B}"/>
              </a:ext>
            </a:extLst>
          </p:cNvPr>
          <p:cNvSpPr>
            <a:spLocks noGrp="1"/>
          </p:cNvSpPr>
          <p:nvPr/>
        </p:nvSpPr>
        <p:spPr>
          <a:xfrm>
            <a:off x="7620000" y="2981325"/>
            <a:ext cx="2667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4B5B52"/>
                </a:solidFill>
                <a:latin typeface="Aptos"/>
                <a:ea typeface="Aptos"/>
                <a:cs typeface="Aptos"/>
              </a:defRPr>
            </a:pPr>
            <a:r>
              <a:rPr sz="1725" b="0">
                <a:solidFill>
                  <a:srgbClr val="4B5B52"/>
                </a:solidFill>
                <a:latin typeface="Aptos"/>
                <a:ea typeface="Aptos"/>
                <a:cs typeface="Aptos"/>
              </a:rPr>
              <a:t>source warning shown</a:t>
            </a:r>
          </a:p>
        </p:txBody>
      </p:sp>
      <p:sp>
        <p:nvSpPr>
          <p:cNvPr id="16" name="Rectangle 15">
            <a:extLst>
              <a:ext uri="{FF2B5EF4-FFF2-40B4-BE49-F238E27FC236}">
                <a16:creationId xmlns:a16="http://schemas.microsoft.com/office/drawing/2014/main" id="{05522C3F-56B3-412B-8D10-5FDF0167070D}"/>
              </a:ext>
            </a:extLst>
          </p:cNvPr>
          <p:cNvSpPr>
            <a:spLocks noGrp="1"/>
          </p:cNvSpPr>
          <p:nvPr/>
        </p:nvSpPr>
        <p:spPr>
          <a:xfrm>
            <a:off x="1047750" y="3667125"/>
            <a:ext cx="9810750" cy="619125"/>
          </a:xfrm>
          <a:prstGeom prst="rect">
            <a:avLst/>
          </a:prstGeom>
          <a:solidFill>
            <a:srgbClr val="FFFFFF"/>
          </a:solidFill>
          <a:ln w="9525">
            <a:solidFill>
              <a:srgbClr val="CBBEAA"/>
            </a:solidFill>
            <a:prstDash val="solid"/>
          </a:ln>
        </p:spPr>
        <p:txBody>
          <a:bodyPr/>
          <a:lstStyle/>
          <a:p>
            <a:endParaRPr lang="en-US"/>
          </a:p>
        </p:txBody>
      </p:sp>
      <p:sp>
        <p:nvSpPr>
          <p:cNvPr id="17" name="Rectangle 16">
            <a:extLst>
              <a:ext uri="{FF2B5EF4-FFF2-40B4-BE49-F238E27FC236}">
                <a16:creationId xmlns:a16="http://schemas.microsoft.com/office/drawing/2014/main" id="{C56C21F4-3B76-48FC-ABB2-4A6E86E3B754}"/>
              </a:ext>
            </a:extLst>
          </p:cNvPr>
          <p:cNvSpPr>
            <a:spLocks noGrp="1"/>
          </p:cNvSpPr>
          <p:nvPr/>
        </p:nvSpPr>
        <p:spPr>
          <a:xfrm>
            <a:off x="1285875" y="3838575"/>
            <a:ext cx="1047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116A38"/>
                </a:solidFill>
                <a:latin typeface="Aptos Display"/>
                <a:ea typeface="Aptos Display"/>
                <a:cs typeface="Aptos Display"/>
              </a:defRPr>
            </a:pPr>
            <a:r>
              <a:rPr sz="1875" b="1">
                <a:solidFill>
                  <a:srgbClr val="116A38"/>
                </a:solidFill>
                <a:latin typeface="Aptos Display"/>
                <a:ea typeface="Aptos Display"/>
                <a:cs typeface="Aptos Display"/>
              </a:rPr>
              <a:t>R047</a:t>
            </a:r>
          </a:p>
        </p:txBody>
      </p:sp>
      <p:sp>
        <p:nvSpPr>
          <p:cNvPr id="18" name="Rectangle 17">
            <a:extLst>
              <a:ext uri="{FF2B5EF4-FFF2-40B4-BE49-F238E27FC236}">
                <a16:creationId xmlns:a16="http://schemas.microsoft.com/office/drawing/2014/main" id="{B06B4783-FD24-4435-8D81-8B1DBB971F5C}"/>
              </a:ext>
            </a:extLst>
          </p:cNvPr>
          <p:cNvSpPr>
            <a:spLocks noGrp="1"/>
          </p:cNvSpPr>
          <p:nvPr/>
        </p:nvSpPr>
        <p:spPr>
          <a:xfrm>
            <a:off x="2667000" y="3838575"/>
            <a:ext cx="2571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071F16"/>
                </a:solidFill>
                <a:latin typeface="Aptos"/>
                <a:ea typeface="Aptos"/>
                <a:cs typeface="Aptos"/>
              </a:defRPr>
            </a:pPr>
            <a:r>
              <a:rPr sz="1875" b="1">
                <a:solidFill>
                  <a:srgbClr val="071F16"/>
                </a:solidFill>
                <a:latin typeface="Aptos"/>
                <a:ea typeface="Aptos"/>
                <a:cs typeface="Aptos"/>
              </a:rPr>
              <a:t>sugar / salts</a:t>
            </a:r>
          </a:p>
        </p:txBody>
      </p:sp>
      <p:sp>
        <p:nvSpPr>
          <p:cNvPr id="19" name="Rectangle 18">
            <a:extLst>
              <a:ext uri="{FF2B5EF4-FFF2-40B4-BE49-F238E27FC236}">
                <a16:creationId xmlns:a16="http://schemas.microsoft.com/office/drawing/2014/main" id="{C46FCD54-3AF7-4223-9994-551DD2172D06}"/>
              </a:ext>
            </a:extLst>
          </p:cNvPr>
          <p:cNvSpPr>
            <a:spLocks noGrp="1"/>
          </p:cNvSpPr>
          <p:nvPr/>
        </p:nvSpPr>
        <p:spPr>
          <a:xfrm>
            <a:off x="5667375" y="3781425"/>
            <a:ext cx="1476375" cy="400050"/>
          </a:xfrm>
          <a:prstGeom prst="rect">
            <a:avLst/>
          </a:prstGeom>
          <a:solidFill>
            <a:srgbClr val="116A38"/>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HALAL</a:t>
            </a:r>
          </a:p>
        </p:txBody>
      </p:sp>
      <p:sp>
        <p:nvSpPr>
          <p:cNvPr id="20" name="Rectangle 19">
            <a:extLst>
              <a:ext uri="{FF2B5EF4-FFF2-40B4-BE49-F238E27FC236}">
                <a16:creationId xmlns:a16="http://schemas.microsoft.com/office/drawing/2014/main" id="{267DF46F-27B2-4682-83D4-9E7E622C006A}"/>
              </a:ext>
            </a:extLst>
          </p:cNvPr>
          <p:cNvSpPr>
            <a:spLocks noGrp="1"/>
          </p:cNvSpPr>
          <p:nvPr/>
        </p:nvSpPr>
        <p:spPr>
          <a:xfrm>
            <a:off x="7620000" y="3838575"/>
            <a:ext cx="2667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4B5B52"/>
                </a:solidFill>
                <a:latin typeface="Aptos"/>
                <a:ea typeface="Aptos"/>
                <a:cs typeface="Aptos"/>
              </a:defRPr>
            </a:pPr>
            <a:r>
              <a:rPr sz="1725" b="0">
                <a:solidFill>
                  <a:srgbClr val="4B5B52"/>
                </a:solidFill>
                <a:latin typeface="Aptos"/>
                <a:ea typeface="Aptos"/>
                <a:cs typeface="Aptos"/>
              </a:rPr>
              <a:t>supports compliant result</a:t>
            </a:r>
          </a:p>
        </p:txBody>
      </p:sp>
      <p:sp>
        <p:nvSpPr>
          <p:cNvPr id="21" name="Rectangle 20">
            <a:extLst>
              <a:ext uri="{FF2B5EF4-FFF2-40B4-BE49-F238E27FC236}">
                <a16:creationId xmlns:a16="http://schemas.microsoft.com/office/drawing/2014/main" id="{E5615CAF-1B44-419E-9E54-EEF0E79B17BF}"/>
              </a:ext>
            </a:extLst>
          </p:cNvPr>
          <p:cNvSpPr>
            <a:spLocks noGrp="1"/>
          </p:cNvSpPr>
          <p:nvPr/>
        </p:nvSpPr>
        <p:spPr>
          <a:xfrm>
            <a:off x="1047750" y="4524375"/>
            <a:ext cx="9810750" cy="619125"/>
          </a:xfrm>
          <a:prstGeom prst="rect">
            <a:avLst/>
          </a:prstGeom>
          <a:solidFill>
            <a:srgbClr val="FFFFFF"/>
          </a:solidFill>
          <a:ln w="9525">
            <a:solidFill>
              <a:srgbClr val="CBBEAA"/>
            </a:solidFill>
            <a:prstDash val="solid"/>
          </a:ln>
        </p:spPr>
        <p:txBody>
          <a:bodyPr/>
          <a:lstStyle/>
          <a:p>
            <a:endParaRPr lang="en-US"/>
          </a:p>
        </p:txBody>
      </p:sp>
      <p:sp>
        <p:nvSpPr>
          <p:cNvPr id="22" name="Rectangle 21">
            <a:extLst>
              <a:ext uri="{FF2B5EF4-FFF2-40B4-BE49-F238E27FC236}">
                <a16:creationId xmlns:a16="http://schemas.microsoft.com/office/drawing/2014/main" id="{737C424B-AE5C-459C-99E1-655EFBE7DB4D}"/>
              </a:ext>
            </a:extLst>
          </p:cNvPr>
          <p:cNvSpPr>
            <a:spLocks noGrp="1"/>
          </p:cNvSpPr>
          <p:nvPr/>
        </p:nvSpPr>
        <p:spPr>
          <a:xfrm>
            <a:off x="1285875" y="4695825"/>
            <a:ext cx="1047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0F4272"/>
                </a:solidFill>
                <a:latin typeface="Aptos Display"/>
                <a:ea typeface="Aptos Display"/>
                <a:cs typeface="Aptos Display"/>
              </a:defRPr>
            </a:pPr>
            <a:r>
              <a:rPr sz="1875" b="1">
                <a:solidFill>
                  <a:srgbClr val="0F4272"/>
                </a:solidFill>
                <a:latin typeface="Aptos Display"/>
                <a:ea typeface="Aptos Display"/>
                <a:cs typeface="Aptos Display"/>
              </a:rPr>
              <a:t>Certifiers</a:t>
            </a:r>
          </a:p>
        </p:txBody>
      </p:sp>
      <p:sp>
        <p:nvSpPr>
          <p:cNvPr id="23" name="Rectangle 22">
            <a:extLst>
              <a:ext uri="{FF2B5EF4-FFF2-40B4-BE49-F238E27FC236}">
                <a16:creationId xmlns:a16="http://schemas.microsoft.com/office/drawing/2014/main" id="{145CBB5B-7F2A-4E2E-A78E-EE689E3127B6}"/>
              </a:ext>
            </a:extLst>
          </p:cNvPr>
          <p:cNvSpPr>
            <a:spLocks noGrp="1"/>
          </p:cNvSpPr>
          <p:nvPr/>
        </p:nvSpPr>
        <p:spPr>
          <a:xfrm>
            <a:off x="2667000" y="4695825"/>
            <a:ext cx="2571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071F16"/>
                </a:solidFill>
                <a:latin typeface="Aptos"/>
                <a:ea typeface="Aptos"/>
                <a:cs typeface="Aptos"/>
              </a:defRPr>
            </a:pPr>
            <a:r>
              <a:rPr sz="1875" b="1">
                <a:solidFill>
                  <a:srgbClr val="071F16"/>
                </a:solidFill>
                <a:latin typeface="Aptos"/>
                <a:ea typeface="Aptos"/>
                <a:cs typeface="Aptos"/>
              </a:rPr>
              <a:t>JAKIM, MUI, IFANCA</a:t>
            </a:r>
          </a:p>
        </p:txBody>
      </p:sp>
      <p:sp>
        <p:nvSpPr>
          <p:cNvPr id="24" name="Rectangle 23">
            <a:extLst>
              <a:ext uri="{FF2B5EF4-FFF2-40B4-BE49-F238E27FC236}">
                <a16:creationId xmlns:a16="http://schemas.microsoft.com/office/drawing/2014/main" id="{C0144772-0A46-4B55-B6DB-90CCF06F5846}"/>
              </a:ext>
            </a:extLst>
          </p:cNvPr>
          <p:cNvSpPr>
            <a:spLocks noGrp="1"/>
          </p:cNvSpPr>
          <p:nvPr/>
        </p:nvSpPr>
        <p:spPr>
          <a:xfrm>
            <a:off x="5667375" y="4638675"/>
            <a:ext cx="1476375" cy="400050"/>
          </a:xfrm>
          <a:prstGeom prst="rect">
            <a:avLst/>
          </a:prstGeom>
          <a:solidFill>
            <a:srgbClr val="0F4272"/>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INFO</a:t>
            </a:r>
          </a:p>
        </p:txBody>
      </p:sp>
      <p:sp>
        <p:nvSpPr>
          <p:cNvPr id="25" name="Rectangle 24">
            <a:extLst>
              <a:ext uri="{FF2B5EF4-FFF2-40B4-BE49-F238E27FC236}">
                <a16:creationId xmlns:a16="http://schemas.microsoft.com/office/drawing/2014/main" id="{51366014-B138-4D63-95C0-92134B1349FC}"/>
              </a:ext>
            </a:extLst>
          </p:cNvPr>
          <p:cNvSpPr>
            <a:spLocks noGrp="1"/>
          </p:cNvSpPr>
          <p:nvPr/>
        </p:nvSpPr>
        <p:spPr>
          <a:xfrm>
            <a:off x="7620000" y="4695825"/>
            <a:ext cx="2667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725" b="0">
                <a:solidFill>
                  <a:srgbClr val="4B5B52"/>
                </a:solidFill>
                <a:latin typeface="Aptos"/>
                <a:ea typeface="Aptos"/>
                <a:cs typeface="Aptos"/>
              </a:defRPr>
            </a:pPr>
            <a:r>
              <a:rPr sz="1725" b="0">
                <a:solidFill>
                  <a:srgbClr val="4B5B52"/>
                </a:solidFill>
                <a:latin typeface="Aptos"/>
                <a:ea typeface="Aptos"/>
                <a:cs typeface="Aptos"/>
              </a:rPr>
              <a:t>recognized evidence</a:t>
            </a:r>
          </a:p>
        </p:txBody>
      </p:sp>
      <p:sp>
        <p:nvSpPr>
          <p:cNvPr id="26" name="Rectangle 25">
            <a:extLst>
              <a:ext uri="{FF2B5EF4-FFF2-40B4-BE49-F238E27FC236}">
                <a16:creationId xmlns:a16="http://schemas.microsoft.com/office/drawing/2014/main" id="{F6A9C791-BE73-412E-B617-60C190ECF9EC}"/>
              </a:ext>
            </a:extLst>
          </p:cNvPr>
          <p:cNvSpPr>
            <a:spLocks noGrp="1"/>
          </p:cNvSpPr>
          <p:nvPr/>
        </p:nvSpPr>
        <p:spPr>
          <a:xfrm>
            <a:off x="1238250" y="5619750"/>
            <a:ext cx="9429750" cy="457200"/>
          </a:xfrm>
          <a:prstGeom prst="rect">
            <a:avLst/>
          </a:prstGeom>
          <a:solidFill>
            <a:srgbClr val="116A38"/>
          </a:solidFill>
          <a:ln w="0">
            <a:solidFill>
              <a:srgbClr val="000000">
                <a:alpha val="0"/>
              </a:srgbClr>
            </a:solidFill>
            <a:prstDash val="solid"/>
          </a:ln>
        </p:spPr>
        <p:txBody>
          <a:bodyPr/>
          <a:lstStyle/>
          <a:p>
            <a:endParaRPr lang="en-US"/>
          </a:p>
        </p:txBody>
      </p:sp>
      <p:sp>
        <p:nvSpPr>
          <p:cNvPr id="27" name="Rectangle 26">
            <a:extLst>
              <a:ext uri="{FF2B5EF4-FFF2-40B4-BE49-F238E27FC236}">
                <a16:creationId xmlns:a16="http://schemas.microsoft.com/office/drawing/2014/main" id="{98B3C186-DEB5-4D8D-9140-D845A6875965}"/>
              </a:ext>
            </a:extLst>
          </p:cNvPr>
          <p:cNvSpPr>
            <a:spLocks noGrp="1"/>
          </p:cNvSpPr>
          <p:nvPr/>
        </p:nvSpPr>
        <p:spPr>
          <a:xfrm>
            <a:off x="1238250" y="5715000"/>
            <a:ext cx="94297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Certifier recognition helps, but haram evidence still wins.</a:t>
            </a:r>
          </a:p>
        </p:txBody>
      </p:sp>
      <p:sp>
        <p:nvSpPr>
          <p:cNvPr id="28" name="Rectangle 27">
            <a:extLst>
              <a:ext uri="{FF2B5EF4-FFF2-40B4-BE49-F238E27FC236}">
                <a16:creationId xmlns:a16="http://schemas.microsoft.com/office/drawing/2014/main" id="{2D68CAF3-0E6E-41B1-988E-2893D650091D}"/>
              </a:ext>
            </a:extLst>
          </p:cNvPr>
          <p:cNvSpPr>
            <a:spLocks noGrp="1"/>
          </p:cNvSpPr>
          <p:nvPr/>
        </p:nvSpPr>
        <p:spPr>
          <a:xfrm>
            <a:off x="666750" y="6419850"/>
            <a:ext cx="10572750" cy="19050"/>
          </a:xfrm>
          <a:prstGeom prst="rect">
            <a:avLst/>
          </a:prstGeom>
          <a:solidFill>
            <a:srgbClr val="CBBEAA"/>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609406C4-FE55-44A9-8AB3-64737F74D30C}"/>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4B5B52"/>
                </a:solidFill>
                <a:latin typeface="Aptos"/>
                <a:ea typeface="Aptos"/>
                <a:cs typeface="Aptos"/>
              </a:defRPr>
            </a:pPr>
            <a:r>
              <a:rPr sz="900" b="0">
                <a:solidFill>
                  <a:srgbClr val="4B5B52"/>
                </a:solidFill>
                <a:latin typeface="Aptos"/>
                <a:ea typeface="Aptos"/>
                <a:cs typeface="Aptos"/>
              </a:rPr>
              <a:t>Knowledge Base Design | Rule examples</a:t>
            </a:r>
          </a:p>
        </p:txBody>
      </p:sp>
      <p:sp>
        <p:nvSpPr>
          <p:cNvPr id="30" name="Rectangle 29">
            <a:extLst>
              <a:ext uri="{FF2B5EF4-FFF2-40B4-BE49-F238E27FC236}">
                <a16:creationId xmlns:a16="http://schemas.microsoft.com/office/drawing/2014/main" id="{105FA576-2330-40CD-B8A9-B6550921DA4A}"/>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071F16"/>
                </a:solidFill>
                <a:latin typeface="Aptos Display"/>
                <a:ea typeface="Aptos Display"/>
                <a:cs typeface="Aptos Display"/>
              </a:defRPr>
            </a:pPr>
            <a:r>
              <a:rPr sz="1350" b="1">
                <a:solidFill>
                  <a:srgbClr val="071F16"/>
                </a:solidFill>
                <a:latin typeface="Aptos Display"/>
                <a:ea typeface="Aptos Display"/>
                <a:cs typeface="Aptos Display"/>
              </a:rPr>
              <a:t>06</a:t>
            </a:r>
          </a:p>
        </p:txBody>
      </p:sp>
    </p:spTree>
    <p:extLst>
      <p:ext uri="{BB962C8B-B14F-4D97-AF65-F5344CB8AC3E}">
        <p14:creationId xmlns:p14="http://schemas.microsoft.com/office/powerpoint/2010/main" val="1465780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C487E11F-74D6-4A53-8260-778D4CD9561B}"/>
              </a:ext>
            </a:extLst>
          </p:cNvPr>
          <p:cNvSpPr>
            <a:spLocks noGrp="1"/>
          </p:cNvSpPr>
          <p:nvPr/>
        </p:nvSpPr>
        <p:spPr>
          <a:xfrm>
            <a:off x="0" y="0"/>
            <a:ext cx="12192000" cy="6858000"/>
          </a:xfrm>
          <a:prstGeom prst="rect">
            <a:avLst/>
          </a:prstGeom>
          <a:solidFill>
            <a:srgbClr val="073A23"/>
          </a:solidFill>
          <a:ln w="0">
            <a:solidFill>
              <a:srgbClr val="000000">
                <a:alpha val="0"/>
              </a:srgbClr>
            </a:solidFill>
            <a:prstDash val="solid"/>
          </a:ln>
        </p:spPr>
        <p:txBody>
          <a:bodyPr/>
          <a:lstStyle/>
          <a:p>
            <a:endParaRPr lang="en-US" dirty="0"/>
          </a:p>
        </p:txBody>
      </p:sp>
      <p:sp>
        <p:nvSpPr>
          <p:cNvPr id="2" name="Rectangle 1">
            <a:extLst>
              <a:ext uri="{FF2B5EF4-FFF2-40B4-BE49-F238E27FC236}">
                <a16:creationId xmlns:a16="http://schemas.microsoft.com/office/drawing/2014/main" id="{88222B3B-DEF3-4B6D-9DD3-C9E37A2106CC}"/>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3F1254E9-67B6-4E91-A6EB-A318DEB017CA}"/>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DCEBDD"/>
                </a:solidFill>
                <a:latin typeface="Aptos"/>
                <a:ea typeface="Aptos"/>
                <a:cs typeface="Aptos"/>
              </a:defRPr>
            </a:pPr>
            <a:r>
              <a:rPr sz="1125" b="1">
                <a:solidFill>
                  <a:srgbClr val="DCEBDD"/>
                </a:solidFill>
                <a:latin typeface="Aptos"/>
                <a:ea typeface="Aptos"/>
                <a:cs typeface="Aptos"/>
              </a:rPr>
              <a:t>REASONING ENGINE</a:t>
            </a:r>
          </a:p>
        </p:txBody>
      </p:sp>
      <p:sp>
        <p:nvSpPr>
          <p:cNvPr id="5" name="Rectangle 4">
            <a:extLst>
              <a:ext uri="{FF2B5EF4-FFF2-40B4-BE49-F238E27FC236}">
                <a16:creationId xmlns:a16="http://schemas.microsoft.com/office/drawing/2014/main" id="{6F62FEFB-68F5-40EB-8E4C-1E8BDECBAB52}"/>
              </a:ext>
            </a:extLst>
          </p:cNvPr>
          <p:cNvSpPr>
            <a:spLocks noGrp="1"/>
          </p:cNvSpPr>
          <p:nvPr/>
        </p:nvSpPr>
        <p:spPr>
          <a:xfrm>
            <a:off x="666750" y="87630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Product verdict is binary; ingredient warnings stay visible.</a:t>
            </a:r>
          </a:p>
        </p:txBody>
      </p:sp>
      <p:sp>
        <p:nvSpPr>
          <p:cNvPr id="6" name="Rectangle 5">
            <a:extLst>
              <a:ext uri="{FF2B5EF4-FFF2-40B4-BE49-F238E27FC236}">
                <a16:creationId xmlns:a16="http://schemas.microsoft.com/office/drawing/2014/main" id="{3FDEDD0B-4D41-4720-A609-87E12937E8C1}"/>
              </a:ext>
            </a:extLst>
          </p:cNvPr>
          <p:cNvSpPr>
            <a:spLocks noGrp="1"/>
          </p:cNvSpPr>
          <p:nvPr/>
        </p:nvSpPr>
        <p:spPr>
          <a:xfrm>
            <a:off x="1143000" y="1952625"/>
            <a:ext cx="8096250" cy="590550"/>
          </a:xfrm>
          <a:prstGeom prst="rect">
            <a:avLst/>
          </a:prstGeom>
          <a:solidFill>
            <a:srgbClr val="123B24"/>
          </a:solidFill>
          <a:ln w="9525">
            <a:solidFill>
              <a:srgbClr val="2C6E49"/>
            </a:solidFill>
            <a:prstDash val="solid"/>
          </a:ln>
        </p:spPr>
        <p:txBody>
          <a:bodyPr/>
          <a:lstStyle/>
          <a:p>
            <a:endParaRPr lang="en-US"/>
          </a:p>
        </p:txBody>
      </p:sp>
      <p:sp>
        <p:nvSpPr>
          <p:cNvPr id="7" name="Rectangle 6">
            <a:extLst>
              <a:ext uri="{FF2B5EF4-FFF2-40B4-BE49-F238E27FC236}">
                <a16:creationId xmlns:a16="http://schemas.microsoft.com/office/drawing/2014/main" id="{9A334C4C-A0F5-4E76-A97E-8C8884A84DFB}"/>
              </a:ext>
            </a:extLst>
          </p:cNvPr>
          <p:cNvSpPr>
            <a:spLocks noGrp="1"/>
          </p:cNvSpPr>
          <p:nvPr/>
        </p:nvSpPr>
        <p:spPr>
          <a:xfrm>
            <a:off x="1428750" y="2047875"/>
            <a:ext cx="47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D40000"/>
                </a:solidFill>
                <a:latin typeface="Aptos Display"/>
                <a:ea typeface="Aptos Display"/>
                <a:cs typeface="Aptos Display"/>
              </a:defRPr>
            </a:pPr>
            <a:r>
              <a:rPr sz="2400" b="1">
                <a:solidFill>
                  <a:srgbClr val="D40000"/>
                </a:solidFill>
                <a:latin typeface="Aptos Display"/>
                <a:ea typeface="Aptos Display"/>
                <a:cs typeface="Aptos Display"/>
              </a:rPr>
              <a:t>1</a:t>
            </a:r>
          </a:p>
        </p:txBody>
      </p:sp>
      <p:sp>
        <p:nvSpPr>
          <p:cNvPr id="8" name="Rectangle 7">
            <a:extLst>
              <a:ext uri="{FF2B5EF4-FFF2-40B4-BE49-F238E27FC236}">
                <a16:creationId xmlns:a16="http://schemas.microsoft.com/office/drawing/2014/main" id="{C1BD2502-864B-4781-9660-7B076E0EE86D}"/>
              </a:ext>
            </a:extLst>
          </p:cNvPr>
          <p:cNvSpPr>
            <a:spLocks noGrp="1"/>
          </p:cNvSpPr>
          <p:nvPr/>
        </p:nvSpPr>
        <p:spPr>
          <a:xfrm>
            <a:off x="2190750" y="2047875"/>
            <a:ext cx="1619250" cy="400050"/>
          </a:xfrm>
          <a:prstGeom prst="rect">
            <a:avLst/>
          </a:prstGeom>
          <a:solidFill>
            <a:srgbClr val="D40000"/>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HARAM</a:t>
            </a:r>
          </a:p>
        </p:txBody>
      </p:sp>
      <p:sp>
        <p:nvSpPr>
          <p:cNvPr id="9" name="Rectangle 8">
            <a:extLst>
              <a:ext uri="{FF2B5EF4-FFF2-40B4-BE49-F238E27FC236}">
                <a16:creationId xmlns:a16="http://schemas.microsoft.com/office/drawing/2014/main" id="{175BC8C6-9785-46AE-AF10-40E9D7856059}"/>
              </a:ext>
            </a:extLst>
          </p:cNvPr>
          <p:cNvSpPr>
            <a:spLocks noGrp="1"/>
          </p:cNvSpPr>
          <p:nvPr/>
        </p:nvSpPr>
        <p:spPr>
          <a:xfrm>
            <a:off x="4333875" y="2066925"/>
            <a:ext cx="3429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NON-COMPLIANT</a:t>
            </a:r>
          </a:p>
        </p:txBody>
      </p:sp>
      <p:sp>
        <p:nvSpPr>
          <p:cNvPr id="11" name="Rectangle 10">
            <a:extLst>
              <a:ext uri="{FF2B5EF4-FFF2-40B4-BE49-F238E27FC236}">
                <a16:creationId xmlns:a16="http://schemas.microsoft.com/office/drawing/2014/main" id="{5BFADCC2-318C-4953-869B-27917E7B69B9}"/>
              </a:ext>
            </a:extLst>
          </p:cNvPr>
          <p:cNvSpPr>
            <a:spLocks noGrp="1"/>
          </p:cNvSpPr>
          <p:nvPr/>
        </p:nvSpPr>
        <p:spPr>
          <a:xfrm>
            <a:off x="9953625" y="2105025"/>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D40000"/>
                </a:solidFill>
                <a:latin typeface="Aptos"/>
                <a:ea typeface="Aptos"/>
                <a:cs typeface="Aptos"/>
              </a:defRPr>
            </a:pPr>
            <a:endParaRPr sz="1950" b="1" dirty="0">
              <a:solidFill>
                <a:srgbClr val="D40000"/>
              </a:solidFill>
              <a:latin typeface="Aptos"/>
              <a:ea typeface="Aptos"/>
              <a:cs typeface="Aptos"/>
            </a:endParaRPr>
          </a:p>
        </p:txBody>
      </p:sp>
      <p:sp>
        <p:nvSpPr>
          <p:cNvPr id="12" name="Rectangle 11">
            <a:extLst>
              <a:ext uri="{FF2B5EF4-FFF2-40B4-BE49-F238E27FC236}">
                <a16:creationId xmlns:a16="http://schemas.microsoft.com/office/drawing/2014/main" id="{CF37C802-A4D1-4EFC-BC5E-FA140241B0AC}"/>
              </a:ext>
            </a:extLst>
          </p:cNvPr>
          <p:cNvSpPr>
            <a:spLocks noGrp="1"/>
          </p:cNvSpPr>
          <p:nvPr/>
        </p:nvSpPr>
        <p:spPr>
          <a:xfrm>
            <a:off x="1143000" y="2790825"/>
            <a:ext cx="8096250" cy="590550"/>
          </a:xfrm>
          <a:prstGeom prst="rect">
            <a:avLst/>
          </a:prstGeom>
          <a:solidFill>
            <a:srgbClr val="123B24"/>
          </a:solidFill>
          <a:ln w="9525">
            <a:solidFill>
              <a:srgbClr val="2C6E49"/>
            </a:solidFill>
            <a:prstDash val="solid"/>
          </a:ln>
        </p:spPr>
        <p:txBody>
          <a:bodyPr/>
          <a:lstStyle/>
          <a:p>
            <a:endParaRPr lang="en-US"/>
          </a:p>
        </p:txBody>
      </p:sp>
      <p:sp>
        <p:nvSpPr>
          <p:cNvPr id="13" name="Rectangle 12">
            <a:extLst>
              <a:ext uri="{FF2B5EF4-FFF2-40B4-BE49-F238E27FC236}">
                <a16:creationId xmlns:a16="http://schemas.microsoft.com/office/drawing/2014/main" id="{36229B17-B9F7-455C-BF0C-9A17B23B53A2}"/>
              </a:ext>
            </a:extLst>
          </p:cNvPr>
          <p:cNvSpPr>
            <a:spLocks noGrp="1"/>
          </p:cNvSpPr>
          <p:nvPr/>
        </p:nvSpPr>
        <p:spPr>
          <a:xfrm>
            <a:off x="1428750" y="2886075"/>
            <a:ext cx="47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B87900"/>
                </a:solidFill>
                <a:latin typeface="Aptos Display"/>
                <a:ea typeface="Aptos Display"/>
                <a:cs typeface="Aptos Display"/>
              </a:defRPr>
            </a:pPr>
            <a:r>
              <a:rPr sz="2400" b="1">
                <a:solidFill>
                  <a:srgbClr val="B87900"/>
                </a:solidFill>
                <a:latin typeface="Aptos Display"/>
                <a:ea typeface="Aptos Display"/>
                <a:cs typeface="Aptos Display"/>
              </a:rPr>
              <a:t>2</a:t>
            </a:r>
          </a:p>
        </p:txBody>
      </p:sp>
      <p:sp>
        <p:nvSpPr>
          <p:cNvPr id="14" name="Rectangle 13">
            <a:extLst>
              <a:ext uri="{FF2B5EF4-FFF2-40B4-BE49-F238E27FC236}">
                <a16:creationId xmlns:a16="http://schemas.microsoft.com/office/drawing/2014/main" id="{5817EC34-4D61-40FB-A6FD-F7444B25D073}"/>
              </a:ext>
            </a:extLst>
          </p:cNvPr>
          <p:cNvSpPr>
            <a:spLocks noGrp="1"/>
          </p:cNvSpPr>
          <p:nvPr/>
        </p:nvSpPr>
        <p:spPr>
          <a:xfrm>
            <a:off x="2190750" y="2886075"/>
            <a:ext cx="1619250" cy="400050"/>
          </a:xfrm>
          <a:prstGeom prst="rect">
            <a:avLst/>
          </a:prstGeom>
          <a:solidFill>
            <a:srgbClr val="B87900"/>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NO HARAM</a:t>
            </a:r>
          </a:p>
        </p:txBody>
      </p:sp>
      <p:sp>
        <p:nvSpPr>
          <p:cNvPr id="15" name="Rectangle 14">
            <a:extLst>
              <a:ext uri="{FF2B5EF4-FFF2-40B4-BE49-F238E27FC236}">
                <a16:creationId xmlns:a16="http://schemas.microsoft.com/office/drawing/2014/main" id="{A2B21CC9-56A4-4248-A624-CA0EFD675157}"/>
              </a:ext>
            </a:extLst>
          </p:cNvPr>
          <p:cNvSpPr>
            <a:spLocks noGrp="1"/>
          </p:cNvSpPr>
          <p:nvPr/>
        </p:nvSpPr>
        <p:spPr>
          <a:xfrm>
            <a:off x="4333875" y="2905125"/>
            <a:ext cx="3429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HALAL COMPLIANT</a:t>
            </a:r>
          </a:p>
        </p:txBody>
      </p:sp>
      <p:sp>
        <p:nvSpPr>
          <p:cNvPr id="17" name="Rectangle 16">
            <a:extLst>
              <a:ext uri="{FF2B5EF4-FFF2-40B4-BE49-F238E27FC236}">
                <a16:creationId xmlns:a16="http://schemas.microsoft.com/office/drawing/2014/main" id="{4E7F2881-2C3A-4C5E-8990-E07BCFEA426C}"/>
              </a:ext>
            </a:extLst>
          </p:cNvPr>
          <p:cNvSpPr>
            <a:spLocks noGrp="1"/>
          </p:cNvSpPr>
          <p:nvPr/>
        </p:nvSpPr>
        <p:spPr>
          <a:xfrm>
            <a:off x="9953625" y="2943225"/>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87900"/>
                </a:solidFill>
                <a:latin typeface="Aptos"/>
                <a:ea typeface="Aptos"/>
                <a:cs typeface="Aptos"/>
              </a:defRPr>
            </a:pPr>
            <a:endParaRPr sz="1950" b="1" dirty="0">
              <a:solidFill>
                <a:srgbClr val="B87900"/>
              </a:solidFill>
              <a:latin typeface="Aptos"/>
              <a:ea typeface="Aptos"/>
              <a:cs typeface="Aptos"/>
            </a:endParaRPr>
          </a:p>
        </p:txBody>
      </p:sp>
      <p:sp>
        <p:nvSpPr>
          <p:cNvPr id="18" name="Rectangle 17">
            <a:extLst>
              <a:ext uri="{FF2B5EF4-FFF2-40B4-BE49-F238E27FC236}">
                <a16:creationId xmlns:a16="http://schemas.microsoft.com/office/drawing/2014/main" id="{C25AAB2C-C966-48D7-AC5B-DA5A9AFA653F}"/>
              </a:ext>
            </a:extLst>
          </p:cNvPr>
          <p:cNvSpPr>
            <a:spLocks noGrp="1"/>
          </p:cNvSpPr>
          <p:nvPr/>
        </p:nvSpPr>
        <p:spPr>
          <a:xfrm>
            <a:off x="1143000" y="3629025"/>
            <a:ext cx="8096250" cy="590550"/>
          </a:xfrm>
          <a:prstGeom prst="rect">
            <a:avLst/>
          </a:prstGeom>
          <a:solidFill>
            <a:srgbClr val="123B24"/>
          </a:solidFill>
          <a:ln w="9525">
            <a:solidFill>
              <a:srgbClr val="2C6E49"/>
            </a:solidFill>
            <a:prstDash val="solid"/>
          </a:ln>
        </p:spPr>
        <p:txBody>
          <a:bodyPr/>
          <a:lstStyle/>
          <a:p>
            <a:endParaRPr lang="en-US"/>
          </a:p>
        </p:txBody>
      </p:sp>
      <p:sp>
        <p:nvSpPr>
          <p:cNvPr id="19" name="Rectangle 18">
            <a:extLst>
              <a:ext uri="{FF2B5EF4-FFF2-40B4-BE49-F238E27FC236}">
                <a16:creationId xmlns:a16="http://schemas.microsoft.com/office/drawing/2014/main" id="{7365562A-A4F9-4868-B4D2-73D01C7D431F}"/>
              </a:ext>
            </a:extLst>
          </p:cNvPr>
          <p:cNvSpPr>
            <a:spLocks noGrp="1"/>
          </p:cNvSpPr>
          <p:nvPr/>
        </p:nvSpPr>
        <p:spPr>
          <a:xfrm>
            <a:off x="1428750" y="3724275"/>
            <a:ext cx="47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0F4272"/>
                </a:solidFill>
                <a:latin typeface="Aptos Display"/>
                <a:ea typeface="Aptos Display"/>
                <a:cs typeface="Aptos Display"/>
              </a:defRPr>
            </a:pPr>
            <a:r>
              <a:rPr sz="2400" b="1">
                <a:solidFill>
                  <a:srgbClr val="0F4272"/>
                </a:solidFill>
                <a:latin typeface="Aptos Display"/>
                <a:ea typeface="Aptos Display"/>
                <a:cs typeface="Aptos Display"/>
              </a:rPr>
              <a:t>3</a:t>
            </a:r>
          </a:p>
        </p:txBody>
      </p:sp>
      <p:sp>
        <p:nvSpPr>
          <p:cNvPr id="20" name="Rectangle 19">
            <a:extLst>
              <a:ext uri="{FF2B5EF4-FFF2-40B4-BE49-F238E27FC236}">
                <a16:creationId xmlns:a16="http://schemas.microsoft.com/office/drawing/2014/main" id="{32EB5ABA-7E20-47AD-A097-C8CAD04C48C0}"/>
              </a:ext>
            </a:extLst>
          </p:cNvPr>
          <p:cNvSpPr>
            <a:spLocks noGrp="1"/>
          </p:cNvSpPr>
          <p:nvPr/>
        </p:nvSpPr>
        <p:spPr>
          <a:xfrm>
            <a:off x="2190750" y="3724275"/>
            <a:ext cx="1619250" cy="400050"/>
          </a:xfrm>
          <a:prstGeom prst="rect">
            <a:avLst/>
          </a:prstGeom>
          <a:solidFill>
            <a:srgbClr val="0F4272"/>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WARNINGS</a:t>
            </a:r>
          </a:p>
        </p:txBody>
      </p:sp>
      <p:sp>
        <p:nvSpPr>
          <p:cNvPr id="21" name="Rectangle 20">
            <a:extLst>
              <a:ext uri="{FF2B5EF4-FFF2-40B4-BE49-F238E27FC236}">
                <a16:creationId xmlns:a16="http://schemas.microsoft.com/office/drawing/2014/main" id="{4BCD9F71-D70A-4524-8ADE-81342C3A29BA}"/>
              </a:ext>
            </a:extLst>
          </p:cNvPr>
          <p:cNvSpPr>
            <a:spLocks noGrp="1"/>
          </p:cNvSpPr>
          <p:nvPr/>
        </p:nvSpPr>
        <p:spPr>
          <a:xfrm>
            <a:off x="4333875" y="3743325"/>
            <a:ext cx="3429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HALAL COMPLIANT</a:t>
            </a:r>
          </a:p>
        </p:txBody>
      </p:sp>
      <p:sp>
        <p:nvSpPr>
          <p:cNvPr id="23" name="Rectangle 22">
            <a:extLst>
              <a:ext uri="{FF2B5EF4-FFF2-40B4-BE49-F238E27FC236}">
                <a16:creationId xmlns:a16="http://schemas.microsoft.com/office/drawing/2014/main" id="{53590122-96F2-4C33-9D1D-0BBB7E2E9CEC}"/>
              </a:ext>
            </a:extLst>
          </p:cNvPr>
          <p:cNvSpPr>
            <a:spLocks noGrp="1"/>
          </p:cNvSpPr>
          <p:nvPr/>
        </p:nvSpPr>
        <p:spPr>
          <a:xfrm>
            <a:off x="9953625" y="3781425"/>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0F4272"/>
                </a:solidFill>
                <a:latin typeface="Aptos"/>
                <a:ea typeface="Aptos"/>
                <a:cs typeface="Aptos"/>
              </a:defRPr>
            </a:pPr>
            <a:endParaRPr sz="1950" b="1" dirty="0">
              <a:solidFill>
                <a:srgbClr val="0F4272"/>
              </a:solidFill>
              <a:latin typeface="Aptos"/>
              <a:ea typeface="Aptos"/>
              <a:cs typeface="Aptos"/>
            </a:endParaRPr>
          </a:p>
        </p:txBody>
      </p:sp>
      <p:sp>
        <p:nvSpPr>
          <p:cNvPr id="24" name="Rectangle 23">
            <a:extLst>
              <a:ext uri="{FF2B5EF4-FFF2-40B4-BE49-F238E27FC236}">
                <a16:creationId xmlns:a16="http://schemas.microsoft.com/office/drawing/2014/main" id="{11DC6294-0595-41E9-9EE5-13BC4E5D0301}"/>
              </a:ext>
            </a:extLst>
          </p:cNvPr>
          <p:cNvSpPr>
            <a:spLocks noGrp="1"/>
          </p:cNvSpPr>
          <p:nvPr/>
        </p:nvSpPr>
        <p:spPr>
          <a:xfrm>
            <a:off x="1143000" y="4467225"/>
            <a:ext cx="8096250" cy="590550"/>
          </a:xfrm>
          <a:prstGeom prst="rect">
            <a:avLst/>
          </a:prstGeom>
          <a:solidFill>
            <a:srgbClr val="123B24"/>
          </a:solidFill>
          <a:ln w="9525">
            <a:solidFill>
              <a:srgbClr val="2C6E49"/>
            </a:solidFill>
            <a:prstDash val="solid"/>
          </a:ln>
        </p:spPr>
        <p:txBody>
          <a:bodyPr/>
          <a:lstStyle/>
          <a:p>
            <a:endParaRPr lang="en-US"/>
          </a:p>
        </p:txBody>
      </p:sp>
      <p:sp>
        <p:nvSpPr>
          <p:cNvPr id="25" name="Rectangle 24">
            <a:extLst>
              <a:ext uri="{FF2B5EF4-FFF2-40B4-BE49-F238E27FC236}">
                <a16:creationId xmlns:a16="http://schemas.microsoft.com/office/drawing/2014/main" id="{0BE62339-1FE9-474E-A318-EA32E46B092D}"/>
              </a:ext>
            </a:extLst>
          </p:cNvPr>
          <p:cNvSpPr>
            <a:spLocks noGrp="1"/>
          </p:cNvSpPr>
          <p:nvPr/>
        </p:nvSpPr>
        <p:spPr>
          <a:xfrm>
            <a:off x="1428750" y="4562475"/>
            <a:ext cx="476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116A38"/>
                </a:solidFill>
                <a:latin typeface="Aptos Display"/>
                <a:ea typeface="Aptos Display"/>
                <a:cs typeface="Aptos Display"/>
              </a:defRPr>
            </a:pPr>
            <a:r>
              <a:rPr sz="2400" b="1">
                <a:solidFill>
                  <a:srgbClr val="116A38"/>
                </a:solidFill>
                <a:latin typeface="Aptos Display"/>
                <a:ea typeface="Aptos Display"/>
                <a:cs typeface="Aptos Display"/>
              </a:rPr>
              <a:t>4</a:t>
            </a:r>
          </a:p>
        </p:txBody>
      </p:sp>
      <p:sp>
        <p:nvSpPr>
          <p:cNvPr id="26" name="Rectangle 25">
            <a:extLst>
              <a:ext uri="{FF2B5EF4-FFF2-40B4-BE49-F238E27FC236}">
                <a16:creationId xmlns:a16="http://schemas.microsoft.com/office/drawing/2014/main" id="{4BB465F6-C865-4EAA-8847-2491CBA8F746}"/>
              </a:ext>
            </a:extLst>
          </p:cNvPr>
          <p:cNvSpPr>
            <a:spLocks noGrp="1"/>
          </p:cNvSpPr>
          <p:nvPr/>
        </p:nvSpPr>
        <p:spPr>
          <a:xfrm>
            <a:off x="2190750" y="4562475"/>
            <a:ext cx="1619250" cy="400050"/>
          </a:xfrm>
          <a:prstGeom prst="rect">
            <a:avLst/>
          </a:prstGeom>
          <a:solidFill>
            <a:srgbClr val="116A38"/>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HALAL</a:t>
            </a:r>
          </a:p>
        </p:txBody>
      </p:sp>
      <p:sp>
        <p:nvSpPr>
          <p:cNvPr id="27" name="Rectangle 26">
            <a:extLst>
              <a:ext uri="{FF2B5EF4-FFF2-40B4-BE49-F238E27FC236}">
                <a16:creationId xmlns:a16="http://schemas.microsoft.com/office/drawing/2014/main" id="{3092BE97-0A8F-481E-9AAD-12BA70D8D74B}"/>
              </a:ext>
            </a:extLst>
          </p:cNvPr>
          <p:cNvSpPr>
            <a:spLocks noGrp="1"/>
          </p:cNvSpPr>
          <p:nvPr/>
        </p:nvSpPr>
        <p:spPr>
          <a:xfrm>
            <a:off x="4333875" y="4581525"/>
            <a:ext cx="3429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HALAL COMPLIANT</a:t>
            </a:r>
          </a:p>
        </p:txBody>
      </p:sp>
      <p:sp>
        <p:nvSpPr>
          <p:cNvPr id="28" name="Rectangle 27">
            <a:extLst>
              <a:ext uri="{FF2B5EF4-FFF2-40B4-BE49-F238E27FC236}">
                <a16:creationId xmlns:a16="http://schemas.microsoft.com/office/drawing/2014/main" id="{FE0BD4C8-1FF0-46E3-A301-B7809FF38A74}"/>
              </a:ext>
            </a:extLst>
          </p:cNvPr>
          <p:cNvSpPr>
            <a:spLocks noGrp="1"/>
          </p:cNvSpPr>
          <p:nvPr/>
        </p:nvSpPr>
        <p:spPr>
          <a:xfrm>
            <a:off x="1619250" y="5619750"/>
            <a:ext cx="8096250" cy="457200"/>
          </a:xfrm>
          <a:prstGeom prst="rect">
            <a:avLst/>
          </a:prstGeom>
          <a:solidFill>
            <a:srgbClr val="B8871F"/>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BD3977DA-3C39-461C-9BF3-7CA0CB2C8DD8}"/>
              </a:ext>
            </a:extLst>
          </p:cNvPr>
          <p:cNvSpPr>
            <a:spLocks noGrp="1"/>
          </p:cNvSpPr>
          <p:nvPr/>
        </p:nvSpPr>
        <p:spPr>
          <a:xfrm>
            <a:off x="1619250" y="5715000"/>
            <a:ext cx="80962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Product priority: HARAM &gt; HALAL; DOUBTFUL/UNKNOWN stay as ingredient evidence</a:t>
            </a:r>
          </a:p>
        </p:txBody>
      </p:sp>
      <p:sp>
        <p:nvSpPr>
          <p:cNvPr id="30" name="Rectangle 29">
            <a:extLst>
              <a:ext uri="{FF2B5EF4-FFF2-40B4-BE49-F238E27FC236}">
                <a16:creationId xmlns:a16="http://schemas.microsoft.com/office/drawing/2014/main" id="{43B6075D-4FAD-404D-A3D9-51A5EBD3EDF0}"/>
              </a:ext>
            </a:extLst>
          </p:cNvPr>
          <p:cNvSpPr>
            <a:spLocks noGrp="1"/>
          </p:cNvSpPr>
          <p:nvPr/>
        </p:nvSpPr>
        <p:spPr>
          <a:xfrm>
            <a:off x="666750" y="6419850"/>
            <a:ext cx="10572750" cy="19050"/>
          </a:xfrm>
          <a:prstGeom prst="rect">
            <a:avLst/>
          </a:prstGeom>
          <a:solidFill>
            <a:srgbClr val="699274"/>
          </a:solidFill>
          <a:ln w="0">
            <a:solidFill>
              <a:srgbClr val="000000">
                <a:alpha val="0"/>
              </a:srgbClr>
            </a:solidFill>
            <a:prstDash val="solid"/>
          </a:ln>
        </p:spPr>
        <p:txBody>
          <a:bodyPr/>
          <a:lstStyle/>
          <a:p>
            <a:endParaRPr lang="en-US"/>
          </a:p>
        </p:txBody>
      </p:sp>
      <p:sp>
        <p:nvSpPr>
          <p:cNvPr id="31" name="Rectangle 30">
            <a:extLst>
              <a:ext uri="{FF2B5EF4-FFF2-40B4-BE49-F238E27FC236}">
                <a16:creationId xmlns:a16="http://schemas.microsoft.com/office/drawing/2014/main" id="{C203ED43-2CD2-4337-89DD-6C3CB61BEE3C}"/>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DCEBDD"/>
                </a:solidFill>
                <a:latin typeface="Aptos"/>
                <a:ea typeface="Aptos"/>
                <a:cs typeface="Aptos"/>
              </a:defRPr>
            </a:pPr>
            <a:r>
              <a:rPr sz="900" b="0">
                <a:solidFill>
                  <a:srgbClr val="DCEBDD"/>
                </a:solidFill>
                <a:latin typeface="Aptos"/>
                <a:ea typeface="Aptos"/>
                <a:cs typeface="Aptos"/>
              </a:rPr>
              <a:t>Reasoning Engine | Correct inference</a:t>
            </a:r>
          </a:p>
        </p:txBody>
      </p:sp>
      <p:sp>
        <p:nvSpPr>
          <p:cNvPr id="32" name="Rectangle 31">
            <a:extLst>
              <a:ext uri="{FF2B5EF4-FFF2-40B4-BE49-F238E27FC236}">
                <a16:creationId xmlns:a16="http://schemas.microsoft.com/office/drawing/2014/main" id="{F5A13192-C767-463A-A3F1-50F156E88EA1}"/>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07</a:t>
            </a:r>
          </a:p>
        </p:txBody>
      </p:sp>
      <p:sp>
        <p:nvSpPr>
          <p:cNvPr id="34" name="Arrow: Right 33">
            <a:extLst>
              <a:ext uri="{FF2B5EF4-FFF2-40B4-BE49-F238E27FC236}">
                <a16:creationId xmlns:a16="http://schemas.microsoft.com/office/drawing/2014/main" id="{75D144E9-CB78-12C5-44A2-77BF72042D60}"/>
              </a:ext>
            </a:extLst>
          </p:cNvPr>
          <p:cNvSpPr/>
          <p:nvPr/>
        </p:nvSpPr>
        <p:spPr>
          <a:xfrm>
            <a:off x="9390062" y="2141537"/>
            <a:ext cx="1174750" cy="212725"/>
          </a:xfrm>
          <a:prstGeom prst="rightArrow">
            <a:avLst/>
          </a:prstGeom>
          <a:solidFill>
            <a:srgbClr val="D4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Arrow: Right 34">
            <a:extLst>
              <a:ext uri="{FF2B5EF4-FFF2-40B4-BE49-F238E27FC236}">
                <a16:creationId xmlns:a16="http://schemas.microsoft.com/office/drawing/2014/main" id="{66C0F8BE-25DE-D434-7044-62040F0A6D55}"/>
              </a:ext>
            </a:extLst>
          </p:cNvPr>
          <p:cNvSpPr/>
          <p:nvPr/>
        </p:nvSpPr>
        <p:spPr>
          <a:xfrm>
            <a:off x="9413875" y="2978149"/>
            <a:ext cx="1174750" cy="212725"/>
          </a:xfrm>
          <a:prstGeom prst="rightArrow">
            <a:avLst/>
          </a:prstGeom>
          <a:solidFill>
            <a:srgbClr val="B879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Arrow: Right 35">
            <a:extLst>
              <a:ext uri="{FF2B5EF4-FFF2-40B4-BE49-F238E27FC236}">
                <a16:creationId xmlns:a16="http://schemas.microsoft.com/office/drawing/2014/main" id="{727B1C70-A989-E8D9-5611-541331F5D2F9}"/>
              </a:ext>
            </a:extLst>
          </p:cNvPr>
          <p:cNvSpPr/>
          <p:nvPr/>
        </p:nvSpPr>
        <p:spPr>
          <a:xfrm>
            <a:off x="9437688" y="3814761"/>
            <a:ext cx="1174750" cy="212725"/>
          </a:xfrm>
          <a:prstGeom prst="rightArrow">
            <a:avLst/>
          </a:prstGeom>
          <a:solidFill>
            <a:srgbClr val="0F427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Arrow: Right 36">
            <a:extLst>
              <a:ext uri="{FF2B5EF4-FFF2-40B4-BE49-F238E27FC236}">
                <a16:creationId xmlns:a16="http://schemas.microsoft.com/office/drawing/2014/main" id="{2BA5818D-307B-C3F8-457C-6AE1588A14DD}"/>
              </a:ext>
            </a:extLst>
          </p:cNvPr>
          <p:cNvSpPr/>
          <p:nvPr/>
        </p:nvSpPr>
        <p:spPr>
          <a:xfrm>
            <a:off x="9461501" y="4651373"/>
            <a:ext cx="1174750" cy="212725"/>
          </a:xfrm>
          <a:prstGeom prst="rightArrow">
            <a:avLst/>
          </a:prstGeom>
          <a:solidFill>
            <a:srgbClr val="116A3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87668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0904D176-E7B4-4FDD-A959-9702BE244663}"/>
              </a:ext>
            </a:extLst>
          </p:cNvPr>
          <p:cNvSpPr>
            <a:spLocks noGrp="1"/>
          </p:cNvSpPr>
          <p:nvPr/>
        </p:nvSpPr>
        <p:spPr>
          <a:xfrm>
            <a:off x="-142875" y="0"/>
            <a:ext cx="12192000" cy="6858000"/>
          </a:xfrm>
          <a:prstGeom prst="rect">
            <a:avLst/>
          </a:prstGeom>
          <a:solidFill>
            <a:srgbClr val="FFF8EA"/>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F4C03094-0F8E-45D3-BF31-A5B4BE20D410}"/>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BE7E43E6-1165-4FDD-8AFF-B2ADBCB5F16F}"/>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4B5B52"/>
                </a:solidFill>
                <a:latin typeface="Aptos"/>
                <a:ea typeface="Aptos"/>
                <a:cs typeface="Aptos"/>
              </a:defRPr>
            </a:pPr>
            <a:r>
              <a:rPr sz="1125" b="1">
                <a:solidFill>
                  <a:srgbClr val="4B5B52"/>
                </a:solidFill>
                <a:latin typeface="Aptos"/>
                <a:ea typeface="Aptos"/>
                <a:cs typeface="Aptos"/>
              </a:rPr>
              <a:t>SYSTEM INTEGRATION</a:t>
            </a:r>
          </a:p>
        </p:txBody>
      </p:sp>
      <p:sp>
        <p:nvSpPr>
          <p:cNvPr id="5" name="Rectangle 4">
            <a:extLst>
              <a:ext uri="{FF2B5EF4-FFF2-40B4-BE49-F238E27FC236}">
                <a16:creationId xmlns:a16="http://schemas.microsoft.com/office/drawing/2014/main" id="{D08C2F2C-F485-4309-A92D-891F83F563DA}"/>
              </a:ext>
            </a:extLst>
          </p:cNvPr>
          <p:cNvSpPr>
            <a:spLocks noGrp="1"/>
          </p:cNvSpPr>
          <p:nvPr/>
        </p:nvSpPr>
        <p:spPr>
          <a:xfrm>
            <a:off x="666750" y="876300"/>
            <a:ext cx="7239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600" b="1">
                <a:solidFill>
                  <a:srgbClr val="071F16"/>
                </a:solidFill>
                <a:latin typeface="Aptos Display"/>
                <a:ea typeface="Aptos Display"/>
                <a:cs typeface="Aptos Display"/>
              </a:defRPr>
            </a:pPr>
            <a:r>
              <a:rPr sz="3600" b="1">
                <a:solidFill>
                  <a:srgbClr val="071F16"/>
                </a:solidFill>
                <a:latin typeface="Aptos Display"/>
                <a:ea typeface="Aptos Display"/>
                <a:cs typeface="Aptos Display"/>
              </a:rPr>
              <a:t>All parts work together in one flow.</a:t>
            </a:r>
          </a:p>
        </p:txBody>
      </p:sp>
      <p:sp>
        <p:nvSpPr>
          <p:cNvPr id="6" name="Rectangle 5">
            <a:extLst>
              <a:ext uri="{FF2B5EF4-FFF2-40B4-BE49-F238E27FC236}">
                <a16:creationId xmlns:a16="http://schemas.microsoft.com/office/drawing/2014/main" id="{86F644F9-A996-4BCD-A89C-30E904F2276D}"/>
              </a:ext>
            </a:extLst>
          </p:cNvPr>
          <p:cNvSpPr>
            <a:spLocks noGrp="1"/>
          </p:cNvSpPr>
          <p:nvPr/>
        </p:nvSpPr>
        <p:spPr>
          <a:xfrm>
            <a:off x="666750" y="2095500"/>
            <a:ext cx="1619250" cy="904875"/>
          </a:xfrm>
          <a:prstGeom prst="rect">
            <a:avLst/>
          </a:prstGeom>
          <a:solidFill>
            <a:srgbClr val="FFFFFF"/>
          </a:solidFill>
          <a:ln w="9525">
            <a:solidFill>
              <a:srgbClr val="CBBEAA"/>
            </a:solidFill>
            <a:prstDash val="solid"/>
          </a:ln>
        </p:spPr>
        <p:txBody>
          <a:bodyPr/>
          <a:lstStyle/>
          <a:p>
            <a:endParaRPr lang="en-US"/>
          </a:p>
        </p:txBody>
      </p:sp>
      <p:sp>
        <p:nvSpPr>
          <p:cNvPr id="7" name="Rectangle 6">
            <a:extLst>
              <a:ext uri="{FF2B5EF4-FFF2-40B4-BE49-F238E27FC236}">
                <a16:creationId xmlns:a16="http://schemas.microsoft.com/office/drawing/2014/main" id="{5B01182F-F28D-481C-8B85-AA5E97291AA0}"/>
              </a:ext>
            </a:extLst>
          </p:cNvPr>
          <p:cNvSpPr>
            <a:spLocks noGrp="1"/>
          </p:cNvSpPr>
          <p:nvPr/>
        </p:nvSpPr>
        <p:spPr>
          <a:xfrm>
            <a:off x="666750" y="2095500"/>
            <a:ext cx="1619250" cy="85725"/>
          </a:xfrm>
          <a:prstGeom prst="rect">
            <a:avLst/>
          </a:prstGeom>
          <a:solidFill>
            <a:srgbClr val="0F4272"/>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B7C7EC53-84AF-4F93-86FD-5A3DCE795C96}"/>
              </a:ext>
            </a:extLst>
          </p:cNvPr>
          <p:cNvSpPr>
            <a:spLocks noGrp="1"/>
          </p:cNvSpPr>
          <p:nvPr/>
        </p:nvSpPr>
        <p:spPr>
          <a:xfrm>
            <a:off x="838200" y="2305050"/>
            <a:ext cx="1276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0F4272"/>
                </a:solidFill>
                <a:latin typeface="Aptos"/>
                <a:ea typeface="Aptos"/>
                <a:cs typeface="Aptos"/>
              </a:defRPr>
            </a:pPr>
            <a:r>
              <a:rPr sz="1500" b="1">
                <a:solidFill>
                  <a:srgbClr val="0F4272"/>
                </a:solidFill>
                <a:latin typeface="Aptos"/>
                <a:ea typeface="Aptos"/>
                <a:cs typeface="Aptos"/>
              </a:rPr>
              <a:t>React App</a:t>
            </a:r>
          </a:p>
        </p:txBody>
      </p:sp>
      <p:sp>
        <p:nvSpPr>
          <p:cNvPr id="9" name="Rectangle 8">
            <a:extLst>
              <a:ext uri="{FF2B5EF4-FFF2-40B4-BE49-F238E27FC236}">
                <a16:creationId xmlns:a16="http://schemas.microsoft.com/office/drawing/2014/main" id="{F9AE58FF-7BA5-4DF7-AFA8-D466C23C3217}"/>
              </a:ext>
            </a:extLst>
          </p:cNvPr>
          <p:cNvSpPr>
            <a:spLocks noGrp="1"/>
          </p:cNvSpPr>
          <p:nvPr/>
        </p:nvSpPr>
        <p:spPr>
          <a:xfrm>
            <a:off x="838200" y="2647950"/>
            <a:ext cx="1276350" cy="2762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B52"/>
                </a:solidFill>
                <a:latin typeface="Aptos"/>
                <a:ea typeface="Aptos"/>
                <a:cs typeface="Aptos"/>
              </a:defRPr>
            </a:pPr>
            <a:r>
              <a:rPr sz="1200" b="0">
                <a:solidFill>
                  <a:srgbClr val="4B5B52"/>
                </a:solidFill>
                <a:latin typeface="Aptos"/>
                <a:ea typeface="Aptos"/>
                <a:cs typeface="Aptos"/>
              </a:rPr>
              <a:t>scanner + pages</a:t>
            </a:r>
          </a:p>
        </p:txBody>
      </p:sp>
      <p:sp>
        <p:nvSpPr>
          <p:cNvPr id="10" name="Rectangle 9">
            <a:extLst>
              <a:ext uri="{FF2B5EF4-FFF2-40B4-BE49-F238E27FC236}">
                <a16:creationId xmlns:a16="http://schemas.microsoft.com/office/drawing/2014/main" id="{E1190BCD-FA39-4F08-9562-8FC3E20DB65D}"/>
              </a:ext>
            </a:extLst>
          </p:cNvPr>
          <p:cNvSpPr>
            <a:spLocks noGrp="1"/>
          </p:cNvSpPr>
          <p:nvPr/>
        </p:nvSpPr>
        <p:spPr>
          <a:xfrm>
            <a:off x="2381250" y="2524125"/>
            <a:ext cx="476250" cy="47625"/>
          </a:xfrm>
          <a:prstGeom prst="rect">
            <a:avLst/>
          </a:prstGeom>
          <a:solidFill>
            <a:srgbClr val="B8871F"/>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ADA36CDF-CDA5-4E44-A334-27F5E462F02B}"/>
              </a:ext>
            </a:extLst>
          </p:cNvPr>
          <p:cNvSpPr>
            <a:spLocks noGrp="1"/>
          </p:cNvSpPr>
          <p:nvPr/>
        </p:nvSpPr>
        <p:spPr>
          <a:xfrm>
            <a:off x="2714625" y="2390775"/>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8871F"/>
                </a:solidFill>
                <a:latin typeface="Aptos"/>
                <a:ea typeface="Aptos"/>
                <a:cs typeface="Aptos"/>
              </a:defRPr>
            </a:pPr>
            <a:r>
              <a:rPr sz="1950" b="1">
                <a:solidFill>
                  <a:srgbClr val="B8871F"/>
                </a:solidFill>
                <a:latin typeface="Aptos"/>
                <a:ea typeface="Aptos"/>
                <a:cs typeface="Aptos"/>
              </a:rPr>
              <a:t>&gt;</a:t>
            </a:r>
          </a:p>
        </p:txBody>
      </p:sp>
      <p:sp>
        <p:nvSpPr>
          <p:cNvPr id="12" name="Rectangle 11">
            <a:extLst>
              <a:ext uri="{FF2B5EF4-FFF2-40B4-BE49-F238E27FC236}">
                <a16:creationId xmlns:a16="http://schemas.microsoft.com/office/drawing/2014/main" id="{280CB155-5F76-4602-9C75-026D9270DE69}"/>
              </a:ext>
            </a:extLst>
          </p:cNvPr>
          <p:cNvSpPr>
            <a:spLocks noGrp="1"/>
          </p:cNvSpPr>
          <p:nvPr/>
        </p:nvSpPr>
        <p:spPr>
          <a:xfrm>
            <a:off x="3048000" y="2095500"/>
            <a:ext cx="1619250" cy="904875"/>
          </a:xfrm>
          <a:prstGeom prst="rect">
            <a:avLst/>
          </a:prstGeom>
          <a:solidFill>
            <a:srgbClr val="FFFFFF"/>
          </a:solidFill>
          <a:ln w="9525">
            <a:solidFill>
              <a:srgbClr val="CBBEAA"/>
            </a:solidFill>
            <a:prstDash val="solid"/>
          </a:ln>
        </p:spPr>
        <p:txBody>
          <a:bodyPr/>
          <a:lstStyle/>
          <a:p>
            <a:endParaRPr lang="en-US"/>
          </a:p>
        </p:txBody>
      </p:sp>
      <p:sp>
        <p:nvSpPr>
          <p:cNvPr id="13" name="Rectangle 12">
            <a:extLst>
              <a:ext uri="{FF2B5EF4-FFF2-40B4-BE49-F238E27FC236}">
                <a16:creationId xmlns:a16="http://schemas.microsoft.com/office/drawing/2014/main" id="{E53E6685-DBD7-4BF2-8E13-1DDECD1D8808}"/>
              </a:ext>
            </a:extLst>
          </p:cNvPr>
          <p:cNvSpPr>
            <a:spLocks noGrp="1"/>
          </p:cNvSpPr>
          <p:nvPr/>
        </p:nvSpPr>
        <p:spPr>
          <a:xfrm>
            <a:off x="3048000" y="2095500"/>
            <a:ext cx="1619250" cy="85725"/>
          </a:xfrm>
          <a:prstGeom prst="rect">
            <a:avLst/>
          </a:prstGeom>
          <a:solidFill>
            <a:srgbClr val="116A38"/>
          </a:solidFill>
          <a:ln w="0">
            <a:solidFill>
              <a:srgbClr val="000000">
                <a:alpha val="0"/>
              </a:srgbClr>
            </a:solidFill>
            <a:prstDash val="solid"/>
          </a:ln>
        </p:spPr>
        <p:txBody>
          <a:bodyPr/>
          <a:lstStyle/>
          <a:p>
            <a:endParaRPr lang="en-US"/>
          </a:p>
        </p:txBody>
      </p:sp>
      <p:sp>
        <p:nvSpPr>
          <p:cNvPr id="14" name="Rectangle 13">
            <a:extLst>
              <a:ext uri="{FF2B5EF4-FFF2-40B4-BE49-F238E27FC236}">
                <a16:creationId xmlns:a16="http://schemas.microsoft.com/office/drawing/2014/main" id="{52EB42FE-E854-4CF1-92FB-E208CFF76A69}"/>
              </a:ext>
            </a:extLst>
          </p:cNvPr>
          <p:cNvSpPr>
            <a:spLocks noGrp="1"/>
          </p:cNvSpPr>
          <p:nvPr/>
        </p:nvSpPr>
        <p:spPr>
          <a:xfrm>
            <a:off x="3219450" y="2305050"/>
            <a:ext cx="1276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116A38"/>
                </a:solidFill>
                <a:latin typeface="Aptos"/>
                <a:ea typeface="Aptos"/>
                <a:cs typeface="Aptos"/>
              </a:defRPr>
            </a:pPr>
            <a:r>
              <a:rPr sz="1500" b="1">
                <a:solidFill>
                  <a:srgbClr val="116A38"/>
                </a:solidFill>
                <a:latin typeface="Aptos"/>
                <a:ea typeface="Aptos"/>
                <a:cs typeface="Aptos"/>
              </a:rPr>
              <a:t>Vercel API</a:t>
            </a:r>
          </a:p>
        </p:txBody>
      </p:sp>
      <p:sp>
        <p:nvSpPr>
          <p:cNvPr id="15" name="Rectangle 14">
            <a:extLst>
              <a:ext uri="{FF2B5EF4-FFF2-40B4-BE49-F238E27FC236}">
                <a16:creationId xmlns:a16="http://schemas.microsoft.com/office/drawing/2014/main" id="{E939AB2A-275E-4731-8FEC-4E6FB08E5D93}"/>
              </a:ext>
            </a:extLst>
          </p:cNvPr>
          <p:cNvSpPr>
            <a:spLocks noGrp="1"/>
          </p:cNvSpPr>
          <p:nvPr/>
        </p:nvSpPr>
        <p:spPr>
          <a:xfrm>
            <a:off x="3219450" y="2647950"/>
            <a:ext cx="1276350" cy="2762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B52"/>
                </a:solidFill>
                <a:latin typeface="Aptos"/>
                <a:ea typeface="Aptos"/>
                <a:cs typeface="Aptos"/>
              </a:defRPr>
            </a:pPr>
            <a:r>
              <a:rPr sz="1200" b="0">
                <a:solidFill>
                  <a:srgbClr val="4B5B52"/>
                </a:solidFill>
                <a:latin typeface="Aptos"/>
                <a:ea typeface="Aptos"/>
                <a:cs typeface="Aptos"/>
              </a:rPr>
              <a:t>serverless routes</a:t>
            </a:r>
          </a:p>
        </p:txBody>
      </p:sp>
      <p:sp>
        <p:nvSpPr>
          <p:cNvPr id="16" name="Rectangle 15">
            <a:extLst>
              <a:ext uri="{FF2B5EF4-FFF2-40B4-BE49-F238E27FC236}">
                <a16:creationId xmlns:a16="http://schemas.microsoft.com/office/drawing/2014/main" id="{51432727-F4F1-4F6E-BCE1-D04D8B3A6CFB}"/>
              </a:ext>
            </a:extLst>
          </p:cNvPr>
          <p:cNvSpPr>
            <a:spLocks noGrp="1"/>
          </p:cNvSpPr>
          <p:nvPr/>
        </p:nvSpPr>
        <p:spPr>
          <a:xfrm>
            <a:off x="4762500" y="2524125"/>
            <a:ext cx="476250" cy="47625"/>
          </a:xfrm>
          <a:prstGeom prst="rect">
            <a:avLst/>
          </a:prstGeom>
          <a:solidFill>
            <a:srgbClr val="B8871F"/>
          </a:solidFill>
          <a:ln w="0">
            <a:solidFill>
              <a:srgbClr val="000000">
                <a:alpha val="0"/>
              </a:srgbClr>
            </a:solidFill>
            <a:prstDash val="solid"/>
          </a:ln>
        </p:spPr>
        <p:txBody>
          <a:bodyPr/>
          <a:lstStyle/>
          <a:p>
            <a:endParaRPr lang="en-US"/>
          </a:p>
        </p:txBody>
      </p:sp>
      <p:sp>
        <p:nvSpPr>
          <p:cNvPr id="17" name="Rectangle 16">
            <a:extLst>
              <a:ext uri="{FF2B5EF4-FFF2-40B4-BE49-F238E27FC236}">
                <a16:creationId xmlns:a16="http://schemas.microsoft.com/office/drawing/2014/main" id="{9F9EBE1E-9D86-4BAA-9DDC-2E9E06C58ED7}"/>
              </a:ext>
            </a:extLst>
          </p:cNvPr>
          <p:cNvSpPr>
            <a:spLocks noGrp="1"/>
          </p:cNvSpPr>
          <p:nvPr/>
        </p:nvSpPr>
        <p:spPr>
          <a:xfrm>
            <a:off x="5095875" y="2390775"/>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8871F"/>
                </a:solidFill>
                <a:latin typeface="Aptos"/>
                <a:ea typeface="Aptos"/>
                <a:cs typeface="Aptos"/>
              </a:defRPr>
            </a:pPr>
            <a:r>
              <a:rPr sz="1950" b="1">
                <a:solidFill>
                  <a:srgbClr val="B8871F"/>
                </a:solidFill>
                <a:latin typeface="Aptos"/>
                <a:ea typeface="Aptos"/>
                <a:cs typeface="Aptos"/>
              </a:rPr>
              <a:t>&gt;</a:t>
            </a:r>
          </a:p>
        </p:txBody>
      </p:sp>
      <p:sp>
        <p:nvSpPr>
          <p:cNvPr id="18" name="Rectangle 17">
            <a:extLst>
              <a:ext uri="{FF2B5EF4-FFF2-40B4-BE49-F238E27FC236}">
                <a16:creationId xmlns:a16="http://schemas.microsoft.com/office/drawing/2014/main" id="{A16AE1E2-AE36-4F0D-9DEC-2C61D0B42E0D}"/>
              </a:ext>
            </a:extLst>
          </p:cNvPr>
          <p:cNvSpPr>
            <a:spLocks noGrp="1"/>
          </p:cNvSpPr>
          <p:nvPr/>
        </p:nvSpPr>
        <p:spPr>
          <a:xfrm>
            <a:off x="5429250" y="2095500"/>
            <a:ext cx="1619250" cy="904875"/>
          </a:xfrm>
          <a:prstGeom prst="rect">
            <a:avLst/>
          </a:prstGeom>
          <a:solidFill>
            <a:srgbClr val="FFFFFF"/>
          </a:solidFill>
          <a:ln w="9525">
            <a:solidFill>
              <a:srgbClr val="CBBEAA"/>
            </a:solidFill>
            <a:prstDash val="solid"/>
          </a:ln>
        </p:spPr>
        <p:txBody>
          <a:bodyPr/>
          <a:lstStyle/>
          <a:p>
            <a:endParaRPr lang="en-US"/>
          </a:p>
        </p:txBody>
      </p:sp>
      <p:sp>
        <p:nvSpPr>
          <p:cNvPr id="19" name="Rectangle 18">
            <a:extLst>
              <a:ext uri="{FF2B5EF4-FFF2-40B4-BE49-F238E27FC236}">
                <a16:creationId xmlns:a16="http://schemas.microsoft.com/office/drawing/2014/main" id="{0E2C02E5-2C29-43C6-A040-E09920014B8E}"/>
              </a:ext>
            </a:extLst>
          </p:cNvPr>
          <p:cNvSpPr>
            <a:spLocks noGrp="1"/>
          </p:cNvSpPr>
          <p:nvPr/>
        </p:nvSpPr>
        <p:spPr>
          <a:xfrm>
            <a:off x="5429250" y="2095500"/>
            <a:ext cx="1619250" cy="85725"/>
          </a:xfrm>
          <a:prstGeom prst="rect">
            <a:avLst/>
          </a:prstGeom>
          <a:solidFill>
            <a:srgbClr val="116A38"/>
          </a:solidFill>
          <a:ln w="0">
            <a:solidFill>
              <a:srgbClr val="000000">
                <a:alpha val="0"/>
              </a:srgbClr>
            </a:solidFill>
            <a:prstDash val="solid"/>
          </a:ln>
        </p:spPr>
        <p:txBody>
          <a:bodyPr/>
          <a:lstStyle/>
          <a:p>
            <a:endParaRPr lang="en-US"/>
          </a:p>
        </p:txBody>
      </p:sp>
      <p:sp>
        <p:nvSpPr>
          <p:cNvPr id="20" name="Rectangle 19">
            <a:extLst>
              <a:ext uri="{FF2B5EF4-FFF2-40B4-BE49-F238E27FC236}">
                <a16:creationId xmlns:a16="http://schemas.microsoft.com/office/drawing/2014/main" id="{F50CF179-8E48-4C44-A4F9-53A0274EED29}"/>
              </a:ext>
            </a:extLst>
          </p:cNvPr>
          <p:cNvSpPr>
            <a:spLocks noGrp="1"/>
          </p:cNvSpPr>
          <p:nvPr/>
        </p:nvSpPr>
        <p:spPr>
          <a:xfrm>
            <a:off x="5600700" y="2305050"/>
            <a:ext cx="1276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116A38"/>
                </a:solidFill>
                <a:latin typeface="Aptos"/>
                <a:ea typeface="Aptos"/>
                <a:cs typeface="Aptos"/>
              </a:defRPr>
            </a:pPr>
            <a:r>
              <a:rPr sz="1500" b="1">
                <a:solidFill>
                  <a:srgbClr val="116A38"/>
                </a:solidFill>
                <a:latin typeface="Aptos"/>
                <a:ea typeface="Aptos"/>
                <a:cs typeface="Aptos"/>
              </a:rPr>
              <a:t>Flask API</a:t>
            </a:r>
          </a:p>
        </p:txBody>
      </p:sp>
      <p:sp>
        <p:nvSpPr>
          <p:cNvPr id="21" name="Rectangle 20">
            <a:extLst>
              <a:ext uri="{FF2B5EF4-FFF2-40B4-BE49-F238E27FC236}">
                <a16:creationId xmlns:a16="http://schemas.microsoft.com/office/drawing/2014/main" id="{0F0A3ABF-EA2A-4BA9-BE5A-36C066190344}"/>
              </a:ext>
            </a:extLst>
          </p:cNvPr>
          <p:cNvSpPr>
            <a:spLocks noGrp="1"/>
          </p:cNvSpPr>
          <p:nvPr/>
        </p:nvSpPr>
        <p:spPr>
          <a:xfrm>
            <a:off x="5600700" y="2647950"/>
            <a:ext cx="1276350" cy="2762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B52"/>
                </a:solidFill>
                <a:latin typeface="Aptos"/>
                <a:ea typeface="Aptos"/>
                <a:cs typeface="Aptos"/>
              </a:defRPr>
            </a:pPr>
            <a:r>
              <a:rPr sz="1200" b="0">
                <a:solidFill>
                  <a:srgbClr val="4B5B52"/>
                </a:solidFill>
                <a:latin typeface="Aptos"/>
                <a:ea typeface="Aptos"/>
                <a:cs typeface="Aptos"/>
              </a:rPr>
              <a:t>local backend</a:t>
            </a:r>
          </a:p>
        </p:txBody>
      </p:sp>
      <p:sp>
        <p:nvSpPr>
          <p:cNvPr id="22" name="Rectangle 21">
            <a:extLst>
              <a:ext uri="{FF2B5EF4-FFF2-40B4-BE49-F238E27FC236}">
                <a16:creationId xmlns:a16="http://schemas.microsoft.com/office/drawing/2014/main" id="{8EBC1C85-9E78-4D21-AA31-F9D5E5CBF2FB}"/>
              </a:ext>
            </a:extLst>
          </p:cNvPr>
          <p:cNvSpPr>
            <a:spLocks noGrp="1"/>
          </p:cNvSpPr>
          <p:nvPr/>
        </p:nvSpPr>
        <p:spPr>
          <a:xfrm>
            <a:off x="7143750" y="2524125"/>
            <a:ext cx="476250" cy="47625"/>
          </a:xfrm>
          <a:prstGeom prst="rect">
            <a:avLst/>
          </a:prstGeom>
          <a:solidFill>
            <a:srgbClr val="B8871F"/>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3D7E9992-D0E9-4018-AD1C-6F553D74EE7D}"/>
              </a:ext>
            </a:extLst>
          </p:cNvPr>
          <p:cNvSpPr>
            <a:spLocks noGrp="1"/>
          </p:cNvSpPr>
          <p:nvPr/>
        </p:nvSpPr>
        <p:spPr>
          <a:xfrm>
            <a:off x="7477125" y="2390775"/>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8871F"/>
                </a:solidFill>
                <a:latin typeface="Aptos"/>
                <a:ea typeface="Aptos"/>
                <a:cs typeface="Aptos"/>
              </a:defRPr>
            </a:pPr>
            <a:r>
              <a:rPr sz="1950" b="1">
                <a:solidFill>
                  <a:srgbClr val="B8871F"/>
                </a:solidFill>
                <a:latin typeface="Aptos"/>
                <a:ea typeface="Aptos"/>
                <a:cs typeface="Aptos"/>
              </a:rPr>
              <a:t>&gt;</a:t>
            </a:r>
          </a:p>
        </p:txBody>
      </p:sp>
      <p:sp>
        <p:nvSpPr>
          <p:cNvPr id="24" name="Rectangle 23">
            <a:extLst>
              <a:ext uri="{FF2B5EF4-FFF2-40B4-BE49-F238E27FC236}">
                <a16:creationId xmlns:a16="http://schemas.microsoft.com/office/drawing/2014/main" id="{E7542245-EB25-4928-BFD6-6F5EB31815A9}"/>
              </a:ext>
            </a:extLst>
          </p:cNvPr>
          <p:cNvSpPr>
            <a:spLocks noGrp="1"/>
          </p:cNvSpPr>
          <p:nvPr/>
        </p:nvSpPr>
        <p:spPr>
          <a:xfrm>
            <a:off x="7810500" y="2095500"/>
            <a:ext cx="1619250" cy="904875"/>
          </a:xfrm>
          <a:prstGeom prst="rect">
            <a:avLst/>
          </a:prstGeom>
          <a:solidFill>
            <a:srgbClr val="FFFFFF"/>
          </a:solidFill>
          <a:ln w="9525">
            <a:solidFill>
              <a:srgbClr val="CBBEAA"/>
            </a:solidFill>
            <a:prstDash val="solid"/>
          </a:ln>
        </p:spPr>
        <p:txBody>
          <a:bodyPr/>
          <a:lstStyle/>
          <a:p>
            <a:endParaRPr lang="en-US"/>
          </a:p>
        </p:txBody>
      </p:sp>
      <p:sp>
        <p:nvSpPr>
          <p:cNvPr id="25" name="Rectangle 24">
            <a:extLst>
              <a:ext uri="{FF2B5EF4-FFF2-40B4-BE49-F238E27FC236}">
                <a16:creationId xmlns:a16="http://schemas.microsoft.com/office/drawing/2014/main" id="{F803AA6B-E60C-40FE-A37B-F3FC7D94B078}"/>
              </a:ext>
            </a:extLst>
          </p:cNvPr>
          <p:cNvSpPr>
            <a:spLocks noGrp="1"/>
          </p:cNvSpPr>
          <p:nvPr/>
        </p:nvSpPr>
        <p:spPr>
          <a:xfrm>
            <a:off x="7810500" y="2095500"/>
            <a:ext cx="1619250" cy="85725"/>
          </a:xfrm>
          <a:prstGeom prst="rect">
            <a:avLst/>
          </a:prstGeom>
          <a:solidFill>
            <a:srgbClr val="B8871F"/>
          </a:solidFill>
          <a:ln w="0">
            <a:solidFill>
              <a:srgbClr val="000000">
                <a:alpha val="0"/>
              </a:srgbClr>
            </a:solidFill>
            <a:prstDash val="solid"/>
          </a:ln>
        </p:spPr>
        <p:txBody>
          <a:bodyPr/>
          <a:lstStyle/>
          <a:p>
            <a:endParaRPr lang="en-US"/>
          </a:p>
        </p:txBody>
      </p:sp>
      <p:sp>
        <p:nvSpPr>
          <p:cNvPr id="26" name="Rectangle 25">
            <a:extLst>
              <a:ext uri="{FF2B5EF4-FFF2-40B4-BE49-F238E27FC236}">
                <a16:creationId xmlns:a16="http://schemas.microsoft.com/office/drawing/2014/main" id="{BBDA9362-EA69-4976-A340-011A77C41BB0}"/>
              </a:ext>
            </a:extLst>
          </p:cNvPr>
          <p:cNvSpPr>
            <a:spLocks noGrp="1"/>
          </p:cNvSpPr>
          <p:nvPr/>
        </p:nvSpPr>
        <p:spPr>
          <a:xfrm>
            <a:off x="7981950" y="2305050"/>
            <a:ext cx="1276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B8871F"/>
                </a:solidFill>
                <a:latin typeface="Aptos"/>
                <a:ea typeface="Aptos"/>
                <a:cs typeface="Aptos"/>
              </a:defRPr>
            </a:pPr>
            <a:r>
              <a:rPr sz="1500" b="1">
                <a:solidFill>
                  <a:srgbClr val="B8871F"/>
                </a:solidFill>
                <a:latin typeface="Aptos"/>
                <a:ea typeface="Aptos"/>
                <a:cs typeface="Aptos"/>
              </a:rPr>
              <a:t>ML + KB</a:t>
            </a:r>
          </a:p>
        </p:txBody>
      </p:sp>
      <p:sp>
        <p:nvSpPr>
          <p:cNvPr id="27" name="Rectangle 26">
            <a:extLst>
              <a:ext uri="{FF2B5EF4-FFF2-40B4-BE49-F238E27FC236}">
                <a16:creationId xmlns:a16="http://schemas.microsoft.com/office/drawing/2014/main" id="{79A42DE9-425B-4C42-BC84-DC485962F8C6}"/>
              </a:ext>
            </a:extLst>
          </p:cNvPr>
          <p:cNvSpPr>
            <a:spLocks noGrp="1"/>
          </p:cNvSpPr>
          <p:nvPr/>
        </p:nvSpPr>
        <p:spPr>
          <a:xfrm>
            <a:off x="7981950" y="2647950"/>
            <a:ext cx="1276350" cy="2762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B52"/>
                </a:solidFill>
                <a:latin typeface="Aptos"/>
                <a:ea typeface="Aptos"/>
                <a:cs typeface="Aptos"/>
              </a:defRPr>
            </a:pPr>
            <a:r>
              <a:rPr sz="1200" b="0">
                <a:solidFill>
                  <a:srgbClr val="4B5B52"/>
                </a:solidFill>
                <a:latin typeface="Aptos"/>
                <a:ea typeface="Aptos"/>
                <a:cs typeface="Aptos"/>
              </a:rPr>
              <a:t>classification + rules</a:t>
            </a:r>
          </a:p>
        </p:txBody>
      </p:sp>
      <p:sp>
        <p:nvSpPr>
          <p:cNvPr id="28" name="Rectangle 27">
            <a:extLst>
              <a:ext uri="{FF2B5EF4-FFF2-40B4-BE49-F238E27FC236}">
                <a16:creationId xmlns:a16="http://schemas.microsoft.com/office/drawing/2014/main" id="{099335CF-23A0-42F7-A0E0-7D4238555445}"/>
              </a:ext>
            </a:extLst>
          </p:cNvPr>
          <p:cNvSpPr>
            <a:spLocks noGrp="1"/>
          </p:cNvSpPr>
          <p:nvPr/>
        </p:nvSpPr>
        <p:spPr>
          <a:xfrm>
            <a:off x="9525000" y="2524125"/>
            <a:ext cx="476250" cy="47625"/>
          </a:xfrm>
          <a:prstGeom prst="rect">
            <a:avLst/>
          </a:prstGeom>
          <a:solidFill>
            <a:srgbClr val="B8871F"/>
          </a:solidFill>
          <a:ln w="0">
            <a:solidFill>
              <a:srgbClr val="000000">
                <a:alpha val="0"/>
              </a:srgbClr>
            </a:solidFill>
            <a:prstDash val="solid"/>
          </a:ln>
        </p:spPr>
        <p:txBody>
          <a:bodyPr/>
          <a:lstStyle/>
          <a:p>
            <a:endParaRPr lang="en-US"/>
          </a:p>
        </p:txBody>
      </p:sp>
      <p:sp>
        <p:nvSpPr>
          <p:cNvPr id="29" name="Rectangle 28">
            <a:extLst>
              <a:ext uri="{FF2B5EF4-FFF2-40B4-BE49-F238E27FC236}">
                <a16:creationId xmlns:a16="http://schemas.microsoft.com/office/drawing/2014/main" id="{324E06A6-B05D-433D-B10F-DF3DC461ED68}"/>
              </a:ext>
            </a:extLst>
          </p:cNvPr>
          <p:cNvSpPr>
            <a:spLocks noGrp="1"/>
          </p:cNvSpPr>
          <p:nvPr/>
        </p:nvSpPr>
        <p:spPr>
          <a:xfrm>
            <a:off x="9858375" y="2390775"/>
            <a:ext cx="2286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B8871F"/>
                </a:solidFill>
                <a:latin typeface="Aptos"/>
                <a:ea typeface="Aptos"/>
                <a:cs typeface="Aptos"/>
              </a:defRPr>
            </a:pPr>
            <a:r>
              <a:rPr sz="1950" b="1">
                <a:solidFill>
                  <a:srgbClr val="B8871F"/>
                </a:solidFill>
                <a:latin typeface="Aptos"/>
                <a:ea typeface="Aptos"/>
                <a:cs typeface="Aptos"/>
              </a:rPr>
              <a:t>&gt;</a:t>
            </a:r>
          </a:p>
        </p:txBody>
      </p:sp>
      <p:sp>
        <p:nvSpPr>
          <p:cNvPr id="30" name="Rectangle 29">
            <a:extLst>
              <a:ext uri="{FF2B5EF4-FFF2-40B4-BE49-F238E27FC236}">
                <a16:creationId xmlns:a16="http://schemas.microsoft.com/office/drawing/2014/main" id="{1148935F-557E-4EEF-A436-E072C9C4736C}"/>
              </a:ext>
            </a:extLst>
          </p:cNvPr>
          <p:cNvSpPr>
            <a:spLocks noGrp="1"/>
          </p:cNvSpPr>
          <p:nvPr/>
        </p:nvSpPr>
        <p:spPr>
          <a:xfrm>
            <a:off x="10191750" y="2095500"/>
            <a:ext cx="1333500" cy="904875"/>
          </a:xfrm>
          <a:prstGeom prst="rect">
            <a:avLst/>
          </a:prstGeom>
          <a:solidFill>
            <a:srgbClr val="FFFFFF"/>
          </a:solidFill>
          <a:ln w="9525">
            <a:solidFill>
              <a:srgbClr val="CBBEAA"/>
            </a:solidFill>
            <a:prstDash val="solid"/>
          </a:ln>
        </p:spPr>
        <p:txBody>
          <a:bodyPr/>
          <a:lstStyle/>
          <a:p>
            <a:endParaRPr lang="en-US"/>
          </a:p>
        </p:txBody>
      </p:sp>
      <p:sp>
        <p:nvSpPr>
          <p:cNvPr id="31" name="Rectangle 30">
            <a:extLst>
              <a:ext uri="{FF2B5EF4-FFF2-40B4-BE49-F238E27FC236}">
                <a16:creationId xmlns:a16="http://schemas.microsoft.com/office/drawing/2014/main" id="{EFF23CFD-8E7E-4D2A-B836-075B4E19EE88}"/>
              </a:ext>
            </a:extLst>
          </p:cNvPr>
          <p:cNvSpPr>
            <a:spLocks noGrp="1"/>
          </p:cNvSpPr>
          <p:nvPr/>
        </p:nvSpPr>
        <p:spPr>
          <a:xfrm>
            <a:off x="10191750" y="2095500"/>
            <a:ext cx="1333500" cy="85725"/>
          </a:xfrm>
          <a:prstGeom prst="rect">
            <a:avLst/>
          </a:prstGeom>
          <a:solidFill>
            <a:srgbClr val="D40000"/>
          </a:solidFill>
          <a:ln w="0">
            <a:solidFill>
              <a:srgbClr val="000000">
                <a:alpha val="0"/>
              </a:srgbClr>
            </a:solidFill>
            <a:prstDash val="solid"/>
          </a:ln>
        </p:spPr>
        <p:txBody>
          <a:bodyPr/>
          <a:lstStyle/>
          <a:p>
            <a:endParaRPr lang="en-US"/>
          </a:p>
        </p:txBody>
      </p:sp>
      <p:sp>
        <p:nvSpPr>
          <p:cNvPr id="32" name="Rectangle 31">
            <a:extLst>
              <a:ext uri="{FF2B5EF4-FFF2-40B4-BE49-F238E27FC236}">
                <a16:creationId xmlns:a16="http://schemas.microsoft.com/office/drawing/2014/main" id="{27CB1A59-F965-4030-9E59-CB36F474D5ED}"/>
              </a:ext>
            </a:extLst>
          </p:cNvPr>
          <p:cNvSpPr>
            <a:spLocks noGrp="1"/>
          </p:cNvSpPr>
          <p:nvPr/>
        </p:nvSpPr>
        <p:spPr>
          <a:xfrm>
            <a:off x="10363200" y="2305050"/>
            <a:ext cx="9906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500" b="1">
                <a:solidFill>
                  <a:srgbClr val="D40000"/>
                </a:solidFill>
                <a:latin typeface="Aptos"/>
                <a:ea typeface="Aptos"/>
                <a:cs typeface="Aptos"/>
              </a:defRPr>
            </a:pPr>
            <a:r>
              <a:rPr sz="1500" b="1">
                <a:solidFill>
                  <a:srgbClr val="D40000"/>
                </a:solidFill>
                <a:latin typeface="Aptos"/>
                <a:ea typeface="Aptos"/>
                <a:cs typeface="Aptos"/>
              </a:rPr>
              <a:t>Result</a:t>
            </a:r>
          </a:p>
        </p:txBody>
      </p:sp>
      <p:sp>
        <p:nvSpPr>
          <p:cNvPr id="33" name="Rectangle 32">
            <a:extLst>
              <a:ext uri="{FF2B5EF4-FFF2-40B4-BE49-F238E27FC236}">
                <a16:creationId xmlns:a16="http://schemas.microsoft.com/office/drawing/2014/main" id="{F91B9F99-9C77-44BF-A8CB-FCA53D3489DF}"/>
              </a:ext>
            </a:extLst>
          </p:cNvPr>
          <p:cNvSpPr>
            <a:spLocks noGrp="1"/>
          </p:cNvSpPr>
          <p:nvPr/>
        </p:nvSpPr>
        <p:spPr>
          <a:xfrm>
            <a:off x="10363200" y="2647950"/>
            <a:ext cx="990600" cy="2762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0">
                <a:solidFill>
                  <a:srgbClr val="4B5B52"/>
                </a:solidFill>
                <a:latin typeface="Aptos"/>
                <a:ea typeface="Aptos"/>
                <a:cs typeface="Aptos"/>
              </a:defRPr>
            </a:pPr>
            <a:r>
              <a:rPr sz="1200" b="0">
                <a:solidFill>
                  <a:srgbClr val="4B5B52"/>
                </a:solidFill>
                <a:latin typeface="Aptos"/>
                <a:ea typeface="Aptos"/>
                <a:cs typeface="Aptos"/>
              </a:rPr>
              <a:t>saved history</a:t>
            </a:r>
          </a:p>
        </p:txBody>
      </p:sp>
      <p:sp>
        <p:nvSpPr>
          <p:cNvPr id="34" name="Rectangle 33">
            <a:extLst>
              <a:ext uri="{FF2B5EF4-FFF2-40B4-BE49-F238E27FC236}">
                <a16:creationId xmlns:a16="http://schemas.microsoft.com/office/drawing/2014/main" id="{7B1A8B90-C71A-488C-A949-B00FF39A045C}"/>
              </a:ext>
            </a:extLst>
          </p:cNvPr>
          <p:cNvSpPr>
            <a:spLocks noGrp="1"/>
          </p:cNvSpPr>
          <p:nvPr/>
        </p:nvSpPr>
        <p:spPr>
          <a:xfrm>
            <a:off x="5024437" y="3165475"/>
            <a:ext cx="2268268" cy="3238500"/>
          </a:xfrm>
          <a:prstGeom prst="rect">
            <a:avLst/>
          </a:prstGeom>
          <a:solidFill>
            <a:srgbClr val="FFFFFF"/>
          </a:solidFill>
          <a:ln w="9525">
            <a:solidFill>
              <a:srgbClr val="CBBEAA"/>
            </a:solidFill>
            <a:prstDash val="solid"/>
          </a:ln>
        </p:spPr>
        <p:txBody>
          <a:bodyPr/>
          <a:lstStyle/>
          <a:p>
            <a:endParaRPr lang="en-US"/>
          </a:p>
        </p:txBody>
      </p:sp>
      <p:pic>
        <p:nvPicPr>
          <p:cNvPr id="35" name="Picture 34"/>
          <p:cNvPicPr>
            <a:picLocks noChangeAspect="1"/>
          </p:cNvPicPr>
          <p:nvPr/>
        </p:nvPicPr>
        <p:blipFill>
          <a:blip r:embed="rId3"/>
          <a:stretch/>
        </p:blipFill>
        <p:spPr>
          <a:xfrm>
            <a:off x="5133975" y="3235324"/>
            <a:ext cx="2049193" cy="3057526"/>
          </a:xfrm>
          <a:prstGeom prst="rect">
            <a:avLst/>
          </a:prstGeom>
        </p:spPr>
      </p:pic>
      <p:sp>
        <p:nvSpPr>
          <p:cNvPr id="36" name="Rectangle 35">
            <a:extLst>
              <a:ext uri="{FF2B5EF4-FFF2-40B4-BE49-F238E27FC236}">
                <a16:creationId xmlns:a16="http://schemas.microsoft.com/office/drawing/2014/main" id="{84156DBA-C598-49D8-9C64-3DEDBAD59D85}"/>
              </a:ext>
            </a:extLst>
          </p:cNvPr>
          <p:cNvSpPr>
            <a:spLocks noGrp="1"/>
          </p:cNvSpPr>
          <p:nvPr/>
        </p:nvSpPr>
        <p:spPr>
          <a:xfrm>
            <a:off x="666750" y="6419850"/>
            <a:ext cx="10572750" cy="19050"/>
          </a:xfrm>
          <a:prstGeom prst="rect">
            <a:avLst/>
          </a:prstGeom>
          <a:solidFill>
            <a:srgbClr val="CBBEAA"/>
          </a:solidFill>
          <a:ln w="0">
            <a:solidFill>
              <a:srgbClr val="000000">
                <a:alpha val="0"/>
              </a:srgbClr>
            </a:solidFill>
            <a:prstDash val="solid"/>
          </a:ln>
        </p:spPr>
        <p:txBody>
          <a:bodyPr/>
          <a:lstStyle/>
          <a:p>
            <a:endParaRPr lang="en-US"/>
          </a:p>
        </p:txBody>
      </p:sp>
      <p:sp>
        <p:nvSpPr>
          <p:cNvPr id="37" name="Rectangle 36">
            <a:extLst>
              <a:ext uri="{FF2B5EF4-FFF2-40B4-BE49-F238E27FC236}">
                <a16:creationId xmlns:a16="http://schemas.microsoft.com/office/drawing/2014/main" id="{073226EB-EF47-4646-8582-A1C8A0BDF239}"/>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4B5B52"/>
                </a:solidFill>
                <a:latin typeface="Aptos"/>
                <a:ea typeface="Aptos"/>
                <a:cs typeface="Aptos"/>
              </a:defRPr>
            </a:pPr>
            <a:r>
              <a:rPr sz="900" b="0">
                <a:solidFill>
                  <a:srgbClr val="4B5B52"/>
                </a:solidFill>
                <a:latin typeface="Aptos"/>
                <a:ea typeface="Aptos"/>
                <a:cs typeface="Aptos"/>
              </a:rPr>
              <a:t>System Integration | ML + KBD + RE together</a:t>
            </a:r>
          </a:p>
        </p:txBody>
      </p:sp>
      <p:sp>
        <p:nvSpPr>
          <p:cNvPr id="38" name="Rectangle 37">
            <a:extLst>
              <a:ext uri="{FF2B5EF4-FFF2-40B4-BE49-F238E27FC236}">
                <a16:creationId xmlns:a16="http://schemas.microsoft.com/office/drawing/2014/main" id="{C44F9E16-BAF5-46F2-8DBC-C55E6776051F}"/>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071F16"/>
                </a:solidFill>
                <a:latin typeface="Aptos Display"/>
                <a:ea typeface="Aptos Display"/>
                <a:cs typeface="Aptos Display"/>
              </a:defRPr>
            </a:pPr>
            <a:r>
              <a:rPr sz="1350" b="1">
                <a:solidFill>
                  <a:srgbClr val="071F16"/>
                </a:solidFill>
                <a:latin typeface="Aptos Display"/>
                <a:ea typeface="Aptos Display"/>
                <a:cs typeface="Aptos Display"/>
              </a:rPr>
              <a:t>08</a:t>
            </a:r>
          </a:p>
        </p:txBody>
      </p:sp>
    </p:spTree>
    <p:extLst>
      <p:ext uri="{BB962C8B-B14F-4D97-AF65-F5344CB8AC3E}">
        <p14:creationId xmlns:p14="http://schemas.microsoft.com/office/powerpoint/2010/main" val="2049943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30EC051-EF46-423B-8E5E-5DA3D35F102B}"/>
              </a:ext>
            </a:extLst>
          </p:cNvPr>
          <p:cNvSpPr>
            <a:spLocks noGrp="1"/>
          </p:cNvSpPr>
          <p:nvPr/>
        </p:nvSpPr>
        <p:spPr>
          <a:xfrm>
            <a:off x="-450626" y="-47171"/>
            <a:ext cx="13774740" cy="7304314"/>
          </a:xfrm>
          <a:prstGeom prst="rect">
            <a:avLst/>
          </a:prstGeom>
          <a:solidFill>
            <a:srgbClr val="FFF8EA"/>
          </a:solidFill>
          <a:ln w="0">
            <a:solidFill>
              <a:srgbClr val="000000">
                <a:alpha val="0"/>
              </a:srgbClr>
            </a:solidFill>
            <a:prstDash val="solid"/>
          </a:ln>
        </p:spPr>
        <p:txBody>
          <a:bodyPr/>
          <a:lstStyle/>
          <a:p>
            <a:endParaRPr lang="en-US" dirty="0"/>
          </a:p>
        </p:txBody>
      </p:sp>
      <p:sp>
        <p:nvSpPr>
          <p:cNvPr id="2" name="Rectangle 1">
            <a:extLst>
              <a:ext uri="{FF2B5EF4-FFF2-40B4-BE49-F238E27FC236}">
                <a16:creationId xmlns:a16="http://schemas.microsoft.com/office/drawing/2014/main" id="{983E1FB6-77BE-4FD4-B877-8D779F6DA9E3}"/>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E03236BD-2721-4523-8377-BFBE12DCB011}"/>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4B5B52"/>
                </a:solidFill>
                <a:latin typeface="Aptos"/>
                <a:ea typeface="Aptos"/>
                <a:cs typeface="Aptos"/>
              </a:defRPr>
            </a:pPr>
            <a:r>
              <a:rPr sz="1125" b="1">
                <a:solidFill>
                  <a:srgbClr val="4B5B52"/>
                </a:solidFill>
                <a:latin typeface="Aptos"/>
                <a:ea typeface="Aptos"/>
                <a:cs typeface="Aptos"/>
              </a:rPr>
              <a:t>DEMO CASES</a:t>
            </a:r>
          </a:p>
        </p:txBody>
      </p:sp>
      <p:sp>
        <p:nvSpPr>
          <p:cNvPr id="5" name="Rectangle 4">
            <a:extLst>
              <a:ext uri="{FF2B5EF4-FFF2-40B4-BE49-F238E27FC236}">
                <a16:creationId xmlns:a16="http://schemas.microsoft.com/office/drawing/2014/main" id="{5BDBEF79-DE10-4BCC-A5D6-699543E1F0A4}"/>
              </a:ext>
            </a:extLst>
          </p:cNvPr>
          <p:cNvSpPr>
            <a:spLocks noGrp="1"/>
          </p:cNvSpPr>
          <p:nvPr/>
        </p:nvSpPr>
        <p:spPr>
          <a:xfrm>
            <a:off x="666750" y="687615"/>
            <a:ext cx="70485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900" b="1">
                <a:solidFill>
                  <a:srgbClr val="071F16"/>
                </a:solidFill>
                <a:latin typeface="Aptos Display"/>
                <a:ea typeface="Aptos Display"/>
                <a:cs typeface="Aptos Display"/>
              </a:defRPr>
            </a:pPr>
            <a:r>
              <a:rPr sz="3900" b="1" dirty="0">
                <a:solidFill>
                  <a:srgbClr val="071F16"/>
                </a:solidFill>
                <a:latin typeface="Aptos Display"/>
                <a:ea typeface="Aptos Display"/>
                <a:cs typeface="Aptos Display"/>
              </a:rPr>
              <a:t>Demo these three cases.</a:t>
            </a:r>
          </a:p>
        </p:txBody>
      </p:sp>
      <p:sp>
        <p:nvSpPr>
          <p:cNvPr id="6" name="Rectangle 5">
            <a:extLst>
              <a:ext uri="{FF2B5EF4-FFF2-40B4-BE49-F238E27FC236}">
                <a16:creationId xmlns:a16="http://schemas.microsoft.com/office/drawing/2014/main" id="{0C3126BA-9FAF-4DD3-8582-13D58A0EEE83}"/>
              </a:ext>
            </a:extLst>
          </p:cNvPr>
          <p:cNvSpPr>
            <a:spLocks noGrp="1"/>
          </p:cNvSpPr>
          <p:nvPr/>
        </p:nvSpPr>
        <p:spPr>
          <a:xfrm>
            <a:off x="762000" y="1500415"/>
            <a:ext cx="3143250" cy="1952625"/>
          </a:xfrm>
          <a:prstGeom prst="rect">
            <a:avLst/>
          </a:prstGeom>
          <a:solidFill>
            <a:srgbClr val="FFFFFF"/>
          </a:solidFill>
          <a:ln w="9525">
            <a:solidFill>
              <a:srgbClr val="CBBEAA"/>
            </a:solidFill>
            <a:prstDash val="solid"/>
          </a:ln>
        </p:spPr>
        <p:txBody>
          <a:bodyPr/>
          <a:lstStyle/>
          <a:p>
            <a:endParaRPr lang="en-US"/>
          </a:p>
        </p:txBody>
      </p:sp>
      <p:sp>
        <p:nvSpPr>
          <p:cNvPr id="7" name="Rectangle 6">
            <a:extLst>
              <a:ext uri="{FF2B5EF4-FFF2-40B4-BE49-F238E27FC236}">
                <a16:creationId xmlns:a16="http://schemas.microsoft.com/office/drawing/2014/main" id="{E5B67150-1BA7-4ADE-89AE-340DBD223712}"/>
              </a:ext>
            </a:extLst>
          </p:cNvPr>
          <p:cNvSpPr>
            <a:spLocks noGrp="1"/>
          </p:cNvSpPr>
          <p:nvPr/>
        </p:nvSpPr>
        <p:spPr>
          <a:xfrm>
            <a:off x="1143000" y="1786165"/>
            <a:ext cx="1571625" cy="400050"/>
          </a:xfrm>
          <a:prstGeom prst="rect">
            <a:avLst/>
          </a:prstGeom>
          <a:solidFill>
            <a:srgbClr val="116A38"/>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dirty="0">
                <a:solidFill>
                  <a:srgbClr val="FFFFFF"/>
                </a:solidFill>
                <a:latin typeface="Aptos"/>
                <a:ea typeface="Aptos"/>
                <a:cs typeface="Aptos"/>
              </a:rPr>
              <a:t>HALAL</a:t>
            </a:r>
          </a:p>
        </p:txBody>
      </p:sp>
      <p:sp>
        <p:nvSpPr>
          <p:cNvPr id="8" name="Rectangle 7">
            <a:extLst>
              <a:ext uri="{FF2B5EF4-FFF2-40B4-BE49-F238E27FC236}">
                <a16:creationId xmlns:a16="http://schemas.microsoft.com/office/drawing/2014/main" id="{6647E546-B1E9-4A0F-A76E-D45CC00A268F}"/>
              </a:ext>
            </a:extLst>
          </p:cNvPr>
          <p:cNvSpPr>
            <a:spLocks noGrp="1"/>
          </p:cNvSpPr>
          <p:nvPr/>
        </p:nvSpPr>
        <p:spPr>
          <a:xfrm>
            <a:off x="1143000" y="2405290"/>
            <a:ext cx="2333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71F16"/>
                </a:solidFill>
                <a:latin typeface="Aptos"/>
                <a:ea typeface="Aptos"/>
                <a:cs typeface="Aptos"/>
              </a:defRPr>
            </a:pPr>
            <a:r>
              <a:rPr sz="1800" b="1">
                <a:solidFill>
                  <a:srgbClr val="071F16"/>
                </a:solidFill>
                <a:latin typeface="Aptos"/>
                <a:ea typeface="Aptos"/>
                <a:cs typeface="Aptos"/>
              </a:rPr>
              <a:t>rice + oil + salt</a:t>
            </a:r>
          </a:p>
        </p:txBody>
      </p:sp>
      <p:sp>
        <p:nvSpPr>
          <p:cNvPr id="9" name="Rectangle 8">
            <a:extLst>
              <a:ext uri="{FF2B5EF4-FFF2-40B4-BE49-F238E27FC236}">
                <a16:creationId xmlns:a16="http://schemas.microsoft.com/office/drawing/2014/main" id="{60A4BC55-C12D-4072-B503-D69494D909A4}"/>
              </a:ext>
            </a:extLst>
          </p:cNvPr>
          <p:cNvSpPr>
            <a:spLocks noGrp="1"/>
          </p:cNvSpPr>
          <p:nvPr/>
        </p:nvSpPr>
        <p:spPr>
          <a:xfrm>
            <a:off x="1143000" y="2757715"/>
            <a:ext cx="23336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4B5B52"/>
                </a:solidFill>
                <a:latin typeface="Aptos"/>
                <a:ea typeface="Aptos"/>
                <a:cs typeface="Aptos"/>
              </a:defRPr>
            </a:pPr>
            <a:r>
              <a:rPr sz="1575" b="0">
                <a:solidFill>
                  <a:srgbClr val="4B5B52"/>
                </a:solidFill>
                <a:latin typeface="Aptos"/>
                <a:ea typeface="Aptos"/>
                <a:cs typeface="Aptos"/>
              </a:rPr>
              <a:t>JAKIM</a:t>
            </a:r>
          </a:p>
        </p:txBody>
      </p:sp>
      <p:sp>
        <p:nvSpPr>
          <p:cNvPr id="10" name="Rectangle 9">
            <a:extLst>
              <a:ext uri="{FF2B5EF4-FFF2-40B4-BE49-F238E27FC236}">
                <a16:creationId xmlns:a16="http://schemas.microsoft.com/office/drawing/2014/main" id="{37D94F13-2379-455A-8542-018CB3817F2D}"/>
              </a:ext>
            </a:extLst>
          </p:cNvPr>
          <p:cNvSpPr>
            <a:spLocks noGrp="1"/>
          </p:cNvSpPr>
          <p:nvPr/>
        </p:nvSpPr>
        <p:spPr>
          <a:xfrm>
            <a:off x="1143000" y="3119665"/>
            <a:ext cx="23336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116A38"/>
                </a:solidFill>
                <a:latin typeface="Aptos"/>
                <a:ea typeface="Aptos"/>
                <a:cs typeface="Aptos"/>
              </a:defRPr>
            </a:pPr>
            <a:r>
              <a:rPr sz="1500" b="1">
                <a:solidFill>
                  <a:srgbClr val="116A38"/>
                </a:solidFill>
                <a:latin typeface="Aptos"/>
                <a:ea typeface="Aptos"/>
                <a:cs typeface="Aptos"/>
              </a:rPr>
              <a:t>HALAL COMPLIANT</a:t>
            </a:r>
          </a:p>
        </p:txBody>
      </p:sp>
      <p:sp>
        <p:nvSpPr>
          <p:cNvPr id="11" name="Rectangle 10">
            <a:extLst>
              <a:ext uri="{FF2B5EF4-FFF2-40B4-BE49-F238E27FC236}">
                <a16:creationId xmlns:a16="http://schemas.microsoft.com/office/drawing/2014/main" id="{F9DBCBF5-4348-4F92-8168-257538B73351}"/>
              </a:ext>
            </a:extLst>
          </p:cNvPr>
          <p:cNvSpPr>
            <a:spLocks noGrp="1"/>
          </p:cNvSpPr>
          <p:nvPr/>
        </p:nvSpPr>
        <p:spPr>
          <a:xfrm>
            <a:off x="4478562" y="1485530"/>
            <a:ext cx="3143250" cy="1952625"/>
          </a:xfrm>
          <a:prstGeom prst="rect">
            <a:avLst/>
          </a:prstGeom>
          <a:solidFill>
            <a:srgbClr val="FFFFFF"/>
          </a:solidFill>
          <a:ln w="9525">
            <a:solidFill>
              <a:srgbClr val="CBBEAA"/>
            </a:solidFill>
            <a:prstDash val="solid"/>
          </a:ln>
        </p:spPr>
        <p:txBody>
          <a:bodyPr/>
          <a:lstStyle/>
          <a:p>
            <a:endParaRPr lang="en-US" dirty="0"/>
          </a:p>
        </p:txBody>
      </p:sp>
      <p:sp>
        <p:nvSpPr>
          <p:cNvPr id="12" name="Rectangle 11">
            <a:extLst>
              <a:ext uri="{FF2B5EF4-FFF2-40B4-BE49-F238E27FC236}">
                <a16:creationId xmlns:a16="http://schemas.microsoft.com/office/drawing/2014/main" id="{EAA82DBA-7620-4506-8E34-C0AE7D020D13}"/>
              </a:ext>
            </a:extLst>
          </p:cNvPr>
          <p:cNvSpPr>
            <a:spLocks noGrp="1"/>
          </p:cNvSpPr>
          <p:nvPr/>
        </p:nvSpPr>
        <p:spPr>
          <a:xfrm>
            <a:off x="4859562" y="1771280"/>
            <a:ext cx="1571625" cy="400050"/>
          </a:xfrm>
          <a:prstGeom prst="rect">
            <a:avLst/>
          </a:prstGeom>
          <a:solidFill>
            <a:srgbClr val="D40000"/>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HARAM</a:t>
            </a:r>
          </a:p>
        </p:txBody>
      </p:sp>
      <p:sp>
        <p:nvSpPr>
          <p:cNvPr id="13" name="Rectangle 12">
            <a:extLst>
              <a:ext uri="{FF2B5EF4-FFF2-40B4-BE49-F238E27FC236}">
                <a16:creationId xmlns:a16="http://schemas.microsoft.com/office/drawing/2014/main" id="{2B679405-F3DC-492C-B950-561429F1ECB7}"/>
              </a:ext>
            </a:extLst>
          </p:cNvPr>
          <p:cNvSpPr>
            <a:spLocks noGrp="1"/>
          </p:cNvSpPr>
          <p:nvPr/>
        </p:nvSpPr>
        <p:spPr>
          <a:xfrm>
            <a:off x="4859562" y="2390405"/>
            <a:ext cx="2333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71F16"/>
                </a:solidFill>
                <a:latin typeface="Aptos"/>
                <a:ea typeface="Aptos"/>
                <a:cs typeface="Aptos"/>
              </a:defRPr>
            </a:pPr>
            <a:r>
              <a:rPr sz="1800" b="1">
                <a:solidFill>
                  <a:srgbClr val="071F16"/>
                </a:solidFill>
                <a:latin typeface="Aptos"/>
                <a:ea typeface="Aptos"/>
                <a:cs typeface="Aptos"/>
              </a:rPr>
              <a:t>sugar + E120</a:t>
            </a:r>
          </a:p>
        </p:txBody>
      </p:sp>
      <p:sp>
        <p:nvSpPr>
          <p:cNvPr id="14" name="Rectangle 13">
            <a:extLst>
              <a:ext uri="{FF2B5EF4-FFF2-40B4-BE49-F238E27FC236}">
                <a16:creationId xmlns:a16="http://schemas.microsoft.com/office/drawing/2014/main" id="{CDFFEDE5-FBD6-4B43-AE49-21E58833D9FE}"/>
              </a:ext>
            </a:extLst>
          </p:cNvPr>
          <p:cNvSpPr>
            <a:spLocks noGrp="1"/>
          </p:cNvSpPr>
          <p:nvPr/>
        </p:nvSpPr>
        <p:spPr>
          <a:xfrm>
            <a:off x="4859562" y="2742830"/>
            <a:ext cx="23336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4B5B52"/>
                </a:solidFill>
                <a:latin typeface="Aptos"/>
                <a:ea typeface="Aptos"/>
                <a:cs typeface="Aptos"/>
              </a:defRPr>
            </a:pPr>
            <a:r>
              <a:rPr sz="1575" b="0">
                <a:solidFill>
                  <a:srgbClr val="4B5B52"/>
                </a:solidFill>
                <a:latin typeface="Aptos"/>
                <a:ea typeface="Aptos"/>
                <a:cs typeface="Aptos"/>
              </a:rPr>
              <a:t>JAKIM</a:t>
            </a:r>
          </a:p>
        </p:txBody>
      </p:sp>
      <p:sp>
        <p:nvSpPr>
          <p:cNvPr id="15" name="Rectangle 14">
            <a:extLst>
              <a:ext uri="{FF2B5EF4-FFF2-40B4-BE49-F238E27FC236}">
                <a16:creationId xmlns:a16="http://schemas.microsoft.com/office/drawing/2014/main" id="{FB7B24F4-A1B2-462B-ACD3-9D74A5E0DD2E}"/>
              </a:ext>
            </a:extLst>
          </p:cNvPr>
          <p:cNvSpPr>
            <a:spLocks noGrp="1"/>
          </p:cNvSpPr>
          <p:nvPr/>
        </p:nvSpPr>
        <p:spPr>
          <a:xfrm>
            <a:off x="4859562" y="3104780"/>
            <a:ext cx="23336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D40000"/>
                </a:solidFill>
                <a:latin typeface="Aptos"/>
                <a:ea typeface="Aptos"/>
                <a:cs typeface="Aptos"/>
              </a:defRPr>
            </a:pPr>
            <a:r>
              <a:rPr sz="1500" b="1">
                <a:solidFill>
                  <a:srgbClr val="D40000"/>
                </a:solidFill>
                <a:latin typeface="Aptos"/>
                <a:ea typeface="Aptos"/>
                <a:cs typeface="Aptos"/>
              </a:rPr>
              <a:t>NON-COMPLIANT</a:t>
            </a:r>
          </a:p>
        </p:txBody>
      </p:sp>
      <p:sp>
        <p:nvSpPr>
          <p:cNvPr id="16" name="Rectangle 15">
            <a:extLst>
              <a:ext uri="{FF2B5EF4-FFF2-40B4-BE49-F238E27FC236}">
                <a16:creationId xmlns:a16="http://schemas.microsoft.com/office/drawing/2014/main" id="{064781BB-439B-4023-80C0-8438C1A31B0E}"/>
              </a:ext>
            </a:extLst>
          </p:cNvPr>
          <p:cNvSpPr>
            <a:spLocks noGrp="1"/>
          </p:cNvSpPr>
          <p:nvPr/>
        </p:nvSpPr>
        <p:spPr>
          <a:xfrm>
            <a:off x="8191500" y="1485899"/>
            <a:ext cx="3143250" cy="1952625"/>
          </a:xfrm>
          <a:prstGeom prst="rect">
            <a:avLst/>
          </a:prstGeom>
          <a:solidFill>
            <a:srgbClr val="FFFFFF"/>
          </a:solidFill>
          <a:ln w="9525">
            <a:solidFill>
              <a:srgbClr val="CBBEAA"/>
            </a:solidFill>
            <a:prstDash val="solid"/>
          </a:ln>
        </p:spPr>
        <p:txBody>
          <a:bodyPr/>
          <a:lstStyle/>
          <a:p>
            <a:endParaRPr lang="en-US"/>
          </a:p>
        </p:txBody>
      </p:sp>
      <p:sp>
        <p:nvSpPr>
          <p:cNvPr id="17" name="Rectangle 16">
            <a:extLst>
              <a:ext uri="{FF2B5EF4-FFF2-40B4-BE49-F238E27FC236}">
                <a16:creationId xmlns:a16="http://schemas.microsoft.com/office/drawing/2014/main" id="{B65AE1BF-C6EF-438C-B502-7F31721BB08D}"/>
              </a:ext>
            </a:extLst>
          </p:cNvPr>
          <p:cNvSpPr>
            <a:spLocks noGrp="1"/>
          </p:cNvSpPr>
          <p:nvPr/>
        </p:nvSpPr>
        <p:spPr>
          <a:xfrm>
            <a:off x="8572500" y="1771649"/>
            <a:ext cx="1571625" cy="400050"/>
          </a:xfrm>
          <a:prstGeom prst="rect">
            <a:avLst/>
          </a:prstGeom>
          <a:solidFill>
            <a:srgbClr val="B87900"/>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WARNINGS</a:t>
            </a:r>
          </a:p>
        </p:txBody>
      </p:sp>
      <p:sp>
        <p:nvSpPr>
          <p:cNvPr id="18" name="Rectangle 17">
            <a:extLst>
              <a:ext uri="{FF2B5EF4-FFF2-40B4-BE49-F238E27FC236}">
                <a16:creationId xmlns:a16="http://schemas.microsoft.com/office/drawing/2014/main" id="{36ADA126-B21F-4A14-AE0F-8C133BEB18EE}"/>
              </a:ext>
            </a:extLst>
          </p:cNvPr>
          <p:cNvSpPr>
            <a:spLocks noGrp="1"/>
          </p:cNvSpPr>
          <p:nvPr/>
        </p:nvSpPr>
        <p:spPr>
          <a:xfrm>
            <a:off x="8572500" y="2390774"/>
            <a:ext cx="2333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071F16"/>
                </a:solidFill>
                <a:latin typeface="Aptos"/>
                <a:ea typeface="Aptos"/>
                <a:cs typeface="Aptos"/>
              </a:defRPr>
            </a:pPr>
            <a:r>
              <a:rPr sz="1800" b="1">
                <a:solidFill>
                  <a:srgbClr val="071F16"/>
                </a:solidFill>
                <a:latin typeface="Aptos"/>
                <a:ea typeface="Aptos"/>
                <a:cs typeface="Aptos"/>
              </a:rPr>
              <a:t>gelatin + flavors</a:t>
            </a:r>
          </a:p>
        </p:txBody>
      </p:sp>
      <p:sp>
        <p:nvSpPr>
          <p:cNvPr id="19" name="Rectangle 18">
            <a:extLst>
              <a:ext uri="{FF2B5EF4-FFF2-40B4-BE49-F238E27FC236}">
                <a16:creationId xmlns:a16="http://schemas.microsoft.com/office/drawing/2014/main" id="{13B7E1E1-767A-4285-B39B-9E5AC90A7045}"/>
              </a:ext>
            </a:extLst>
          </p:cNvPr>
          <p:cNvSpPr>
            <a:spLocks noGrp="1"/>
          </p:cNvSpPr>
          <p:nvPr/>
        </p:nvSpPr>
        <p:spPr>
          <a:xfrm>
            <a:off x="8572500" y="2743199"/>
            <a:ext cx="23336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4B5B52"/>
                </a:solidFill>
                <a:latin typeface="Aptos"/>
                <a:ea typeface="Aptos"/>
                <a:cs typeface="Aptos"/>
              </a:defRPr>
            </a:pPr>
            <a:r>
              <a:rPr sz="1575" b="0">
                <a:solidFill>
                  <a:srgbClr val="4B5B52"/>
                </a:solidFill>
                <a:latin typeface="Aptos"/>
                <a:ea typeface="Aptos"/>
                <a:cs typeface="Aptos"/>
              </a:rPr>
              <a:t>IFANCA</a:t>
            </a:r>
          </a:p>
        </p:txBody>
      </p:sp>
      <p:sp>
        <p:nvSpPr>
          <p:cNvPr id="20" name="Rectangle 19">
            <a:extLst>
              <a:ext uri="{FF2B5EF4-FFF2-40B4-BE49-F238E27FC236}">
                <a16:creationId xmlns:a16="http://schemas.microsoft.com/office/drawing/2014/main" id="{B635C426-34D1-4F97-8400-711F7CF3BE99}"/>
              </a:ext>
            </a:extLst>
          </p:cNvPr>
          <p:cNvSpPr>
            <a:spLocks noGrp="1"/>
          </p:cNvSpPr>
          <p:nvPr/>
        </p:nvSpPr>
        <p:spPr>
          <a:xfrm>
            <a:off x="8572500" y="3105149"/>
            <a:ext cx="2333625"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B87900"/>
                </a:solidFill>
                <a:latin typeface="Aptos"/>
                <a:ea typeface="Aptos"/>
                <a:cs typeface="Aptos"/>
              </a:defRPr>
            </a:pPr>
            <a:r>
              <a:rPr sz="1500" b="1">
                <a:solidFill>
                  <a:srgbClr val="B87900"/>
                </a:solidFill>
                <a:latin typeface="Aptos"/>
                <a:ea typeface="Aptos"/>
                <a:cs typeface="Aptos"/>
              </a:rPr>
              <a:t>HALAL COMPLIANT</a:t>
            </a:r>
          </a:p>
        </p:txBody>
      </p:sp>
      <p:sp>
        <p:nvSpPr>
          <p:cNvPr id="21" name="Rectangle 20">
            <a:extLst>
              <a:ext uri="{FF2B5EF4-FFF2-40B4-BE49-F238E27FC236}">
                <a16:creationId xmlns:a16="http://schemas.microsoft.com/office/drawing/2014/main" id="{FFE1FCA2-5881-45DA-9FC2-896DD56C1A4C}"/>
              </a:ext>
            </a:extLst>
          </p:cNvPr>
          <p:cNvSpPr>
            <a:spLocks noGrp="1"/>
          </p:cNvSpPr>
          <p:nvPr/>
        </p:nvSpPr>
        <p:spPr>
          <a:xfrm>
            <a:off x="4478562" y="3538933"/>
            <a:ext cx="3236688" cy="2866032"/>
          </a:xfrm>
          <a:prstGeom prst="rect">
            <a:avLst/>
          </a:prstGeom>
          <a:solidFill>
            <a:srgbClr val="FFFFFF"/>
          </a:solidFill>
          <a:ln w="9525">
            <a:solidFill>
              <a:srgbClr val="CBBEAA"/>
            </a:solidFill>
            <a:prstDash val="solid"/>
          </a:ln>
        </p:spPr>
        <p:txBody>
          <a:bodyPr/>
          <a:lstStyle/>
          <a:p>
            <a:endParaRPr lang="en-US"/>
          </a:p>
        </p:txBody>
      </p:sp>
      <p:pic>
        <p:nvPicPr>
          <p:cNvPr id="22" name="Picture 21"/>
          <p:cNvPicPr>
            <a:picLocks noChangeAspect="1"/>
          </p:cNvPicPr>
          <p:nvPr/>
        </p:nvPicPr>
        <p:blipFill>
          <a:blip r:embed="rId3"/>
          <a:stretch/>
        </p:blipFill>
        <p:spPr>
          <a:xfrm>
            <a:off x="4688114" y="3567508"/>
            <a:ext cx="2832696" cy="2809479"/>
          </a:xfrm>
          <a:prstGeom prst="rect">
            <a:avLst/>
          </a:prstGeom>
        </p:spPr>
      </p:pic>
      <p:sp>
        <p:nvSpPr>
          <p:cNvPr id="23" name="Rectangle 22">
            <a:extLst>
              <a:ext uri="{FF2B5EF4-FFF2-40B4-BE49-F238E27FC236}">
                <a16:creationId xmlns:a16="http://schemas.microsoft.com/office/drawing/2014/main" id="{133A3F5F-1750-489D-8ECC-802012D0F5EE}"/>
              </a:ext>
            </a:extLst>
          </p:cNvPr>
          <p:cNvSpPr>
            <a:spLocks noGrp="1"/>
          </p:cNvSpPr>
          <p:nvPr/>
        </p:nvSpPr>
        <p:spPr>
          <a:xfrm>
            <a:off x="666750" y="6419850"/>
            <a:ext cx="10572750" cy="19050"/>
          </a:xfrm>
          <a:prstGeom prst="rect">
            <a:avLst/>
          </a:prstGeom>
          <a:solidFill>
            <a:srgbClr val="CBBEAA"/>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6FF6568A-C6E3-4E0D-A9FE-501471597263}"/>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4B5B52"/>
                </a:solidFill>
                <a:latin typeface="Aptos"/>
                <a:ea typeface="Aptos"/>
                <a:cs typeface="Aptos"/>
              </a:defRPr>
            </a:pPr>
            <a:r>
              <a:rPr sz="900" b="0">
                <a:solidFill>
                  <a:srgbClr val="4B5B52"/>
                </a:solidFill>
                <a:latin typeface="Aptos"/>
                <a:ea typeface="Aptos"/>
                <a:cs typeface="Aptos"/>
              </a:rPr>
              <a:t>Demo | HALAL, HARAM, and ingredient warnings</a:t>
            </a:r>
          </a:p>
        </p:txBody>
      </p:sp>
      <p:sp>
        <p:nvSpPr>
          <p:cNvPr id="25" name="Rectangle 24">
            <a:extLst>
              <a:ext uri="{FF2B5EF4-FFF2-40B4-BE49-F238E27FC236}">
                <a16:creationId xmlns:a16="http://schemas.microsoft.com/office/drawing/2014/main" id="{C884380C-F3B4-4EB6-8CC9-F241ED14A577}"/>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071F16"/>
                </a:solidFill>
                <a:latin typeface="Aptos Display"/>
                <a:ea typeface="Aptos Display"/>
                <a:cs typeface="Aptos Display"/>
              </a:defRPr>
            </a:pPr>
            <a:r>
              <a:rPr sz="1350" b="1">
                <a:solidFill>
                  <a:srgbClr val="071F16"/>
                </a:solidFill>
                <a:latin typeface="Aptos Display"/>
                <a:ea typeface="Aptos Display"/>
                <a:cs typeface="Aptos Display"/>
              </a:rPr>
              <a:t>09</a:t>
            </a:r>
          </a:p>
        </p:txBody>
      </p:sp>
    </p:spTree>
    <p:extLst>
      <p:ext uri="{BB962C8B-B14F-4D97-AF65-F5344CB8AC3E}">
        <p14:creationId xmlns:p14="http://schemas.microsoft.com/office/powerpoint/2010/main" val="2098231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75FCC4D3-6457-4C26-ADD9-1A849B655D41}"/>
              </a:ext>
            </a:extLst>
          </p:cNvPr>
          <p:cNvSpPr>
            <a:spLocks noGrp="1"/>
          </p:cNvSpPr>
          <p:nvPr/>
        </p:nvSpPr>
        <p:spPr>
          <a:xfrm>
            <a:off x="0" y="0"/>
            <a:ext cx="12192000" cy="6858000"/>
          </a:xfrm>
          <a:prstGeom prst="rect">
            <a:avLst/>
          </a:prstGeom>
          <a:solidFill>
            <a:srgbClr val="FFF8EA"/>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2E21CBB5-8C30-4BF3-95A8-0EA2AFE06CE6}"/>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0F189FB7-9E29-4145-A955-2A34AC056C15}"/>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4B5B52"/>
                </a:solidFill>
                <a:latin typeface="Aptos"/>
                <a:ea typeface="Aptos"/>
                <a:cs typeface="Aptos"/>
              </a:defRPr>
            </a:pPr>
            <a:r>
              <a:rPr sz="1125" b="1">
                <a:solidFill>
                  <a:srgbClr val="4B5B52"/>
                </a:solidFill>
                <a:latin typeface="Aptos"/>
                <a:ea typeface="Aptos"/>
                <a:cs typeface="Aptos"/>
              </a:rPr>
              <a:t>EVALUATION</a:t>
            </a:r>
          </a:p>
        </p:txBody>
      </p:sp>
      <p:sp>
        <p:nvSpPr>
          <p:cNvPr id="5" name="Rectangle 4">
            <a:extLst>
              <a:ext uri="{FF2B5EF4-FFF2-40B4-BE49-F238E27FC236}">
                <a16:creationId xmlns:a16="http://schemas.microsoft.com/office/drawing/2014/main" id="{717E229E-507C-428C-B87D-50A890AB6505}"/>
              </a:ext>
            </a:extLst>
          </p:cNvPr>
          <p:cNvSpPr>
            <a:spLocks noGrp="1"/>
          </p:cNvSpPr>
          <p:nvPr/>
        </p:nvSpPr>
        <p:spPr>
          <a:xfrm>
            <a:off x="666750" y="876300"/>
            <a:ext cx="685800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050" b="1">
                <a:solidFill>
                  <a:srgbClr val="071F16"/>
                </a:solidFill>
                <a:latin typeface="Aptos Display"/>
                <a:ea typeface="Aptos Display"/>
                <a:cs typeface="Aptos Display"/>
              </a:defRPr>
            </a:pPr>
            <a:r>
              <a:rPr sz="4050" b="1">
                <a:solidFill>
                  <a:srgbClr val="071F16"/>
                </a:solidFill>
                <a:latin typeface="Aptos Display"/>
                <a:ea typeface="Aptos Display"/>
                <a:cs typeface="Aptos Display"/>
              </a:rPr>
              <a:t>The project is test-backed.</a:t>
            </a:r>
          </a:p>
        </p:txBody>
      </p:sp>
      <p:sp>
        <p:nvSpPr>
          <p:cNvPr id="6" name="Rectangle 5">
            <a:extLst>
              <a:ext uri="{FF2B5EF4-FFF2-40B4-BE49-F238E27FC236}">
                <a16:creationId xmlns:a16="http://schemas.microsoft.com/office/drawing/2014/main" id="{4CF23A6D-5E6A-4FB3-8398-9E4654A6EEC0}"/>
              </a:ext>
            </a:extLst>
          </p:cNvPr>
          <p:cNvSpPr>
            <a:spLocks noGrp="1"/>
          </p:cNvSpPr>
          <p:nvPr/>
        </p:nvSpPr>
        <p:spPr>
          <a:xfrm>
            <a:off x="904875" y="2047875"/>
            <a:ext cx="47625" cy="819150"/>
          </a:xfrm>
          <a:prstGeom prst="rect">
            <a:avLst/>
          </a:prstGeom>
          <a:solidFill>
            <a:srgbClr val="116A38"/>
          </a:solidFill>
          <a:ln w="0">
            <a:solidFill>
              <a:srgbClr val="000000">
                <a:alpha val="0"/>
              </a:srgbClr>
            </a:solidFill>
            <a:prstDash val="solid"/>
          </a:ln>
        </p:spPr>
        <p:txBody>
          <a:bodyPr/>
          <a:lstStyle/>
          <a:p>
            <a:endParaRPr lang="en-US"/>
          </a:p>
        </p:txBody>
      </p:sp>
      <p:sp>
        <p:nvSpPr>
          <p:cNvPr id="7" name="Rectangle 6">
            <a:extLst>
              <a:ext uri="{FF2B5EF4-FFF2-40B4-BE49-F238E27FC236}">
                <a16:creationId xmlns:a16="http://schemas.microsoft.com/office/drawing/2014/main" id="{1622D3DC-6243-482E-9150-0DCA92852B30}"/>
              </a:ext>
            </a:extLst>
          </p:cNvPr>
          <p:cNvSpPr>
            <a:spLocks noGrp="1"/>
          </p:cNvSpPr>
          <p:nvPr/>
        </p:nvSpPr>
        <p:spPr>
          <a:xfrm>
            <a:off x="1114425" y="200977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071F16"/>
                </a:solidFill>
                <a:latin typeface="Aptos Display"/>
                <a:ea typeface="Aptos Display"/>
                <a:cs typeface="Aptos Display"/>
              </a:defRPr>
            </a:pPr>
            <a:r>
              <a:rPr sz="2850" b="1">
                <a:solidFill>
                  <a:srgbClr val="071F16"/>
                </a:solidFill>
                <a:latin typeface="Aptos Display"/>
                <a:ea typeface="Aptos Display"/>
                <a:cs typeface="Aptos Display"/>
              </a:rPr>
              <a:t>30/30</a:t>
            </a:r>
          </a:p>
        </p:txBody>
      </p:sp>
      <p:sp>
        <p:nvSpPr>
          <p:cNvPr id="8" name="Rectangle 7">
            <a:extLst>
              <a:ext uri="{FF2B5EF4-FFF2-40B4-BE49-F238E27FC236}">
                <a16:creationId xmlns:a16="http://schemas.microsoft.com/office/drawing/2014/main" id="{AC52F077-C5B0-48AB-9680-834AB58B1185}"/>
              </a:ext>
            </a:extLst>
          </p:cNvPr>
          <p:cNvSpPr>
            <a:spLocks noGrp="1"/>
          </p:cNvSpPr>
          <p:nvPr/>
        </p:nvSpPr>
        <p:spPr>
          <a:xfrm>
            <a:off x="1114425" y="249555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4B5B52"/>
                </a:solidFill>
                <a:latin typeface="Aptos"/>
                <a:ea typeface="Aptos"/>
                <a:cs typeface="Aptos"/>
              </a:defRPr>
            </a:pPr>
            <a:r>
              <a:rPr sz="1050" b="1">
                <a:solidFill>
                  <a:srgbClr val="4B5B52"/>
                </a:solidFill>
                <a:latin typeface="Aptos"/>
                <a:ea typeface="Aptos"/>
                <a:cs typeface="Aptos"/>
              </a:rPr>
              <a:t>KR&amp;R CASES</a:t>
            </a:r>
          </a:p>
        </p:txBody>
      </p:sp>
      <p:sp>
        <p:nvSpPr>
          <p:cNvPr id="9" name="Rectangle 8">
            <a:extLst>
              <a:ext uri="{FF2B5EF4-FFF2-40B4-BE49-F238E27FC236}">
                <a16:creationId xmlns:a16="http://schemas.microsoft.com/office/drawing/2014/main" id="{E557374F-74EB-4570-AC31-93DFC0DC25FE}"/>
              </a:ext>
            </a:extLst>
          </p:cNvPr>
          <p:cNvSpPr>
            <a:spLocks noGrp="1"/>
          </p:cNvSpPr>
          <p:nvPr/>
        </p:nvSpPr>
        <p:spPr>
          <a:xfrm>
            <a:off x="1114425" y="271462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4B5B52"/>
                </a:solidFill>
                <a:latin typeface="Aptos"/>
                <a:ea typeface="Aptos"/>
                <a:cs typeface="Aptos"/>
              </a:defRPr>
            </a:pPr>
            <a:r>
              <a:rPr sz="1050" b="0">
                <a:solidFill>
                  <a:srgbClr val="4B5B52"/>
                </a:solidFill>
                <a:latin typeface="Aptos"/>
                <a:ea typeface="Aptos"/>
                <a:cs typeface="Aptos"/>
              </a:rPr>
              <a:t>rule engine</a:t>
            </a:r>
          </a:p>
        </p:txBody>
      </p:sp>
      <p:sp>
        <p:nvSpPr>
          <p:cNvPr id="10" name="Rectangle 9">
            <a:extLst>
              <a:ext uri="{FF2B5EF4-FFF2-40B4-BE49-F238E27FC236}">
                <a16:creationId xmlns:a16="http://schemas.microsoft.com/office/drawing/2014/main" id="{FE8A7EFD-34AA-4E0B-B897-B620D29A5AFB}"/>
              </a:ext>
            </a:extLst>
          </p:cNvPr>
          <p:cNvSpPr>
            <a:spLocks noGrp="1"/>
          </p:cNvSpPr>
          <p:nvPr/>
        </p:nvSpPr>
        <p:spPr>
          <a:xfrm>
            <a:off x="904875" y="3381375"/>
            <a:ext cx="47625" cy="819150"/>
          </a:xfrm>
          <a:prstGeom prst="rect">
            <a:avLst/>
          </a:prstGeom>
          <a:solidFill>
            <a:srgbClr val="0F4272"/>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B9F7C029-0086-42D9-9C4D-BC55B506559D}"/>
              </a:ext>
            </a:extLst>
          </p:cNvPr>
          <p:cNvSpPr>
            <a:spLocks noGrp="1"/>
          </p:cNvSpPr>
          <p:nvPr/>
        </p:nvSpPr>
        <p:spPr>
          <a:xfrm>
            <a:off x="1114425" y="334327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071F16"/>
                </a:solidFill>
                <a:latin typeface="Aptos Display"/>
                <a:ea typeface="Aptos Display"/>
                <a:cs typeface="Aptos Display"/>
              </a:defRPr>
            </a:pPr>
            <a:r>
              <a:rPr sz="2850" b="1">
                <a:solidFill>
                  <a:srgbClr val="071F16"/>
                </a:solidFill>
                <a:latin typeface="Aptos Display"/>
                <a:ea typeface="Aptos Display"/>
                <a:cs typeface="Aptos Display"/>
              </a:rPr>
              <a:t>36/36</a:t>
            </a:r>
          </a:p>
        </p:txBody>
      </p:sp>
      <p:sp>
        <p:nvSpPr>
          <p:cNvPr id="12" name="Rectangle 11">
            <a:extLst>
              <a:ext uri="{FF2B5EF4-FFF2-40B4-BE49-F238E27FC236}">
                <a16:creationId xmlns:a16="http://schemas.microsoft.com/office/drawing/2014/main" id="{5E4E3FA5-88E2-4E47-970E-836ABE413906}"/>
              </a:ext>
            </a:extLst>
          </p:cNvPr>
          <p:cNvSpPr>
            <a:spLocks noGrp="1"/>
          </p:cNvSpPr>
          <p:nvPr/>
        </p:nvSpPr>
        <p:spPr>
          <a:xfrm>
            <a:off x="1114425" y="382905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4B5B52"/>
                </a:solidFill>
                <a:latin typeface="Aptos"/>
                <a:ea typeface="Aptos"/>
                <a:cs typeface="Aptos"/>
              </a:defRPr>
            </a:pPr>
            <a:r>
              <a:rPr sz="1050" b="1">
                <a:solidFill>
                  <a:srgbClr val="4B5B52"/>
                </a:solidFill>
                <a:latin typeface="Aptos"/>
                <a:ea typeface="Aptos"/>
                <a:cs typeface="Aptos"/>
              </a:rPr>
              <a:t>ML HOLDOUT</a:t>
            </a:r>
          </a:p>
        </p:txBody>
      </p:sp>
      <p:sp>
        <p:nvSpPr>
          <p:cNvPr id="13" name="Rectangle 12">
            <a:extLst>
              <a:ext uri="{FF2B5EF4-FFF2-40B4-BE49-F238E27FC236}">
                <a16:creationId xmlns:a16="http://schemas.microsoft.com/office/drawing/2014/main" id="{C2C5D7A3-0337-4F8B-9CF5-97F87758FB57}"/>
              </a:ext>
            </a:extLst>
          </p:cNvPr>
          <p:cNvSpPr>
            <a:spLocks noGrp="1"/>
          </p:cNvSpPr>
          <p:nvPr/>
        </p:nvSpPr>
        <p:spPr>
          <a:xfrm>
            <a:off x="1114425" y="404812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4B5B52"/>
                </a:solidFill>
                <a:latin typeface="Aptos"/>
                <a:ea typeface="Aptos"/>
                <a:cs typeface="Aptos"/>
              </a:defRPr>
            </a:pPr>
            <a:r>
              <a:rPr sz="1050" b="0">
                <a:solidFill>
                  <a:srgbClr val="4B5B52"/>
                </a:solidFill>
                <a:latin typeface="Aptos"/>
                <a:ea typeface="Aptos"/>
                <a:cs typeface="Aptos"/>
              </a:rPr>
              <a:t>fallback model</a:t>
            </a:r>
          </a:p>
        </p:txBody>
      </p:sp>
      <p:sp>
        <p:nvSpPr>
          <p:cNvPr id="14" name="Rectangle 13">
            <a:extLst>
              <a:ext uri="{FF2B5EF4-FFF2-40B4-BE49-F238E27FC236}">
                <a16:creationId xmlns:a16="http://schemas.microsoft.com/office/drawing/2014/main" id="{725721DD-7033-4114-BA9C-66F7BC36BDD9}"/>
              </a:ext>
            </a:extLst>
          </p:cNvPr>
          <p:cNvSpPr>
            <a:spLocks noGrp="1"/>
          </p:cNvSpPr>
          <p:nvPr/>
        </p:nvSpPr>
        <p:spPr>
          <a:xfrm>
            <a:off x="904875" y="4714875"/>
            <a:ext cx="47625" cy="819150"/>
          </a:xfrm>
          <a:prstGeom prst="rect">
            <a:avLst/>
          </a:prstGeom>
          <a:solidFill>
            <a:srgbClr val="B8871F"/>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9324A8B9-79DB-4831-A219-E5C389FEF39D}"/>
              </a:ext>
            </a:extLst>
          </p:cNvPr>
          <p:cNvSpPr>
            <a:spLocks noGrp="1"/>
          </p:cNvSpPr>
          <p:nvPr/>
        </p:nvSpPr>
        <p:spPr>
          <a:xfrm>
            <a:off x="1114425" y="4676775"/>
            <a:ext cx="20955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071F16"/>
                </a:solidFill>
                <a:latin typeface="Aptos Display"/>
                <a:ea typeface="Aptos Display"/>
                <a:cs typeface="Aptos Display"/>
              </a:defRPr>
            </a:pPr>
            <a:r>
              <a:rPr sz="2850" b="1">
                <a:solidFill>
                  <a:srgbClr val="071F16"/>
                </a:solidFill>
                <a:latin typeface="Aptos Display"/>
                <a:ea typeface="Aptos Display"/>
                <a:cs typeface="Aptos Display"/>
              </a:rPr>
              <a:t>21/21</a:t>
            </a:r>
          </a:p>
        </p:txBody>
      </p:sp>
      <p:sp>
        <p:nvSpPr>
          <p:cNvPr id="16" name="Rectangle 15">
            <a:extLst>
              <a:ext uri="{FF2B5EF4-FFF2-40B4-BE49-F238E27FC236}">
                <a16:creationId xmlns:a16="http://schemas.microsoft.com/office/drawing/2014/main" id="{73D78A5D-01E1-493E-82C8-C9DD49B5B9F7}"/>
              </a:ext>
            </a:extLst>
          </p:cNvPr>
          <p:cNvSpPr>
            <a:spLocks noGrp="1"/>
          </p:cNvSpPr>
          <p:nvPr/>
        </p:nvSpPr>
        <p:spPr>
          <a:xfrm>
            <a:off x="1114425" y="5162550"/>
            <a:ext cx="2190750" cy="2000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4B5B52"/>
                </a:solidFill>
                <a:latin typeface="Aptos"/>
                <a:ea typeface="Aptos"/>
                <a:cs typeface="Aptos"/>
              </a:defRPr>
            </a:pPr>
            <a:r>
              <a:rPr sz="1050" b="1">
                <a:solidFill>
                  <a:srgbClr val="4B5B52"/>
                </a:solidFill>
                <a:latin typeface="Aptos"/>
                <a:ea typeface="Aptos"/>
                <a:cs typeface="Aptos"/>
              </a:rPr>
              <a:t>BACKEND TESTS</a:t>
            </a:r>
          </a:p>
        </p:txBody>
      </p:sp>
      <p:sp>
        <p:nvSpPr>
          <p:cNvPr id="17" name="Rectangle 16">
            <a:extLst>
              <a:ext uri="{FF2B5EF4-FFF2-40B4-BE49-F238E27FC236}">
                <a16:creationId xmlns:a16="http://schemas.microsoft.com/office/drawing/2014/main" id="{68BEE4ED-8795-431B-A7BF-1342B7FA31EC}"/>
              </a:ext>
            </a:extLst>
          </p:cNvPr>
          <p:cNvSpPr>
            <a:spLocks noGrp="1"/>
          </p:cNvSpPr>
          <p:nvPr/>
        </p:nvSpPr>
        <p:spPr>
          <a:xfrm>
            <a:off x="1114425" y="538162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4B5B52"/>
                </a:solidFill>
                <a:latin typeface="Aptos"/>
                <a:ea typeface="Aptos"/>
                <a:cs typeface="Aptos"/>
              </a:defRPr>
            </a:pPr>
            <a:r>
              <a:rPr sz="1050" b="0">
                <a:solidFill>
                  <a:srgbClr val="4B5B52"/>
                </a:solidFill>
                <a:latin typeface="Aptos"/>
                <a:ea typeface="Aptos"/>
                <a:cs typeface="Aptos"/>
              </a:rPr>
              <a:t>all passing</a:t>
            </a:r>
          </a:p>
        </p:txBody>
      </p:sp>
      <p:sp>
        <p:nvSpPr>
          <p:cNvPr id="18" name="Rectangle 17">
            <a:extLst>
              <a:ext uri="{FF2B5EF4-FFF2-40B4-BE49-F238E27FC236}">
                <a16:creationId xmlns:a16="http://schemas.microsoft.com/office/drawing/2014/main" id="{5408900C-75A4-47C7-B4F1-BE2A1F4D2233}"/>
              </a:ext>
            </a:extLst>
          </p:cNvPr>
          <p:cNvSpPr>
            <a:spLocks noGrp="1"/>
          </p:cNvSpPr>
          <p:nvPr/>
        </p:nvSpPr>
        <p:spPr>
          <a:xfrm>
            <a:off x="3905250" y="2190750"/>
            <a:ext cx="2857500" cy="2667000"/>
          </a:xfrm>
          <a:prstGeom prst="rect">
            <a:avLst/>
          </a:prstGeom>
          <a:solidFill>
            <a:srgbClr val="FFFFFF"/>
          </a:solidFill>
          <a:ln w="9525">
            <a:solidFill>
              <a:srgbClr val="CBBEAA"/>
            </a:solidFill>
            <a:prstDash val="solid"/>
          </a:ln>
        </p:spPr>
        <p:txBody>
          <a:bodyPr/>
          <a:lstStyle/>
          <a:p>
            <a:endParaRPr lang="en-US"/>
          </a:p>
        </p:txBody>
      </p:sp>
      <p:sp>
        <p:nvSpPr>
          <p:cNvPr id="19" name="Rectangle 18">
            <a:extLst>
              <a:ext uri="{FF2B5EF4-FFF2-40B4-BE49-F238E27FC236}">
                <a16:creationId xmlns:a16="http://schemas.microsoft.com/office/drawing/2014/main" id="{3C2134BB-39F2-4169-AC23-46FDFA46B1E1}"/>
              </a:ext>
            </a:extLst>
          </p:cNvPr>
          <p:cNvSpPr>
            <a:spLocks noGrp="1"/>
          </p:cNvSpPr>
          <p:nvPr/>
        </p:nvSpPr>
        <p:spPr>
          <a:xfrm>
            <a:off x="4286250" y="2476500"/>
            <a:ext cx="2095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250" b="1">
                <a:solidFill>
                  <a:srgbClr val="116A38"/>
                </a:solidFill>
                <a:latin typeface="Aptos Display"/>
                <a:ea typeface="Aptos Display"/>
                <a:cs typeface="Aptos Display"/>
              </a:defRPr>
            </a:pPr>
            <a:r>
              <a:rPr sz="2250" b="1">
                <a:solidFill>
                  <a:srgbClr val="116A38"/>
                </a:solidFill>
                <a:latin typeface="Aptos Display"/>
                <a:ea typeface="Aptos Display"/>
                <a:cs typeface="Aptos Display"/>
              </a:rPr>
              <a:t>Also passed:</a:t>
            </a:r>
          </a:p>
        </p:txBody>
      </p:sp>
      <p:sp>
        <p:nvSpPr>
          <p:cNvPr id="20" name="Rectangle 19">
            <a:extLst>
              <a:ext uri="{FF2B5EF4-FFF2-40B4-BE49-F238E27FC236}">
                <a16:creationId xmlns:a16="http://schemas.microsoft.com/office/drawing/2014/main" id="{C82EB998-B06F-4F15-8E94-FFAF0BCBABEA}"/>
              </a:ext>
            </a:extLst>
          </p:cNvPr>
          <p:cNvSpPr>
            <a:spLocks noGrp="1"/>
          </p:cNvSpPr>
          <p:nvPr/>
        </p:nvSpPr>
        <p:spPr>
          <a:xfrm>
            <a:off x="4476750" y="3095625"/>
            <a:ext cx="1714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071F16"/>
                </a:solidFill>
                <a:latin typeface="Aptos"/>
                <a:ea typeface="Aptos"/>
                <a:cs typeface="Aptos"/>
              </a:defRPr>
            </a:pPr>
            <a:r>
              <a:rPr sz="1875" b="1">
                <a:solidFill>
                  <a:srgbClr val="071F16"/>
                </a:solidFill>
                <a:latin typeface="Aptos"/>
                <a:ea typeface="Aptos"/>
                <a:cs typeface="Aptos"/>
              </a:rPr>
              <a:t>lint</a:t>
            </a:r>
          </a:p>
        </p:txBody>
      </p:sp>
      <p:sp>
        <p:nvSpPr>
          <p:cNvPr id="21" name="Rectangle 20">
            <a:extLst>
              <a:ext uri="{FF2B5EF4-FFF2-40B4-BE49-F238E27FC236}">
                <a16:creationId xmlns:a16="http://schemas.microsoft.com/office/drawing/2014/main" id="{7B846DCD-834A-41BB-987B-7E3A21535668}"/>
              </a:ext>
            </a:extLst>
          </p:cNvPr>
          <p:cNvSpPr>
            <a:spLocks noGrp="1"/>
          </p:cNvSpPr>
          <p:nvPr/>
        </p:nvSpPr>
        <p:spPr>
          <a:xfrm>
            <a:off x="4476750" y="3495675"/>
            <a:ext cx="1714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071F16"/>
                </a:solidFill>
                <a:latin typeface="Aptos"/>
                <a:ea typeface="Aptos"/>
                <a:cs typeface="Aptos"/>
              </a:defRPr>
            </a:pPr>
            <a:r>
              <a:rPr sz="1875" b="1">
                <a:solidFill>
                  <a:srgbClr val="071F16"/>
                </a:solidFill>
                <a:latin typeface="Aptos"/>
                <a:ea typeface="Aptos"/>
                <a:cs typeface="Aptos"/>
              </a:rPr>
              <a:t>vercel-api</a:t>
            </a:r>
          </a:p>
        </p:txBody>
      </p:sp>
      <p:sp>
        <p:nvSpPr>
          <p:cNvPr id="22" name="Rectangle 21">
            <a:extLst>
              <a:ext uri="{FF2B5EF4-FFF2-40B4-BE49-F238E27FC236}">
                <a16:creationId xmlns:a16="http://schemas.microsoft.com/office/drawing/2014/main" id="{40272BD5-16B5-4537-BEEA-13B688D2247E}"/>
              </a:ext>
            </a:extLst>
          </p:cNvPr>
          <p:cNvSpPr>
            <a:spLocks noGrp="1"/>
          </p:cNvSpPr>
          <p:nvPr/>
        </p:nvSpPr>
        <p:spPr>
          <a:xfrm>
            <a:off x="4476750" y="3895725"/>
            <a:ext cx="1714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071F16"/>
                </a:solidFill>
                <a:latin typeface="Aptos"/>
                <a:ea typeface="Aptos"/>
                <a:cs typeface="Aptos"/>
              </a:defRPr>
            </a:pPr>
            <a:r>
              <a:rPr sz="1875" b="1">
                <a:solidFill>
                  <a:srgbClr val="071F16"/>
                </a:solidFill>
                <a:latin typeface="Aptos"/>
                <a:ea typeface="Aptos"/>
                <a:cs typeface="Aptos"/>
              </a:rPr>
              <a:t>badge visual</a:t>
            </a:r>
          </a:p>
        </p:txBody>
      </p:sp>
      <p:sp>
        <p:nvSpPr>
          <p:cNvPr id="23" name="Rectangle 22">
            <a:extLst>
              <a:ext uri="{FF2B5EF4-FFF2-40B4-BE49-F238E27FC236}">
                <a16:creationId xmlns:a16="http://schemas.microsoft.com/office/drawing/2014/main" id="{544C758E-3003-4711-9969-2BB212C08A73}"/>
              </a:ext>
            </a:extLst>
          </p:cNvPr>
          <p:cNvSpPr>
            <a:spLocks noGrp="1"/>
          </p:cNvSpPr>
          <p:nvPr/>
        </p:nvSpPr>
        <p:spPr>
          <a:xfrm>
            <a:off x="4476750" y="4295775"/>
            <a:ext cx="1714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75" b="1">
                <a:solidFill>
                  <a:srgbClr val="071F16"/>
                </a:solidFill>
                <a:latin typeface="Aptos"/>
                <a:ea typeface="Aptos"/>
                <a:cs typeface="Aptos"/>
              </a:defRPr>
            </a:pPr>
            <a:r>
              <a:rPr sz="1875" b="1">
                <a:solidFill>
                  <a:srgbClr val="071F16"/>
                </a:solidFill>
                <a:latin typeface="Aptos"/>
                <a:ea typeface="Aptos"/>
                <a:cs typeface="Aptos"/>
              </a:rPr>
              <a:t>production build</a:t>
            </a:r>
          </a:p>
        </p:txBody>
      </p:sp>
      <p:sp>
        <p:nvSpPr>
          <p:cNvPr id="24" name="Rectangle 23">
            <a:extLst>
              <a:ext uri="{FF2B5EF4-FFF2-40B4-BE49-F238E27FC236}">
                <a16:creationId xmlns:a16="http://schemas.microsoft.com/office/drawing/2014/main" id="{3F54E570-E81F-4B4D-ADCD-7DDA8F219FC4}"/>
              </a:ext>
            </a:extLst>
          </p:cNvPr>
          <p:cNvSpPr>
            <a:spLocks noGrp="1"/>
          </p:cNvSpPr>
          <p:nvPr/>
        </p:nvSpPr>
        <p:spPr>
          <a:xfrm>
            <a:off x="7381876" y="819151"/>
            <a:ext cx="3976316" cy="5072062"/>
          </a:xfrm>
          <a:prstGeom prst="rect">
            <a:avLst/>
          </a:prstGeom>
          <a:solidFill>
            <a:srgbClr val="FFFFFF"/>
          </a:solidFill>
          <a:ln w="9525">
            <a:solidFill>
              <a:srgbClr val="CBBEAA"/>
            </a:solidFill>
            <a:prstDash val="solid"/>
          </a:ln>
        </p:spPr>
        <p:txBody>
          <a:bodyPr/>
          <a:lstStyle/>
          <a:p>
            <a:endParaRPr lang="en-US"/>
          </a:p>
        </p:txBody>
      </p:sp>
      <p:pic>
        <p:nvPicPr>
          <p:cNvPr id="25" name="Picture 24"/>
          <p:cNvPicPr>
            <a:picLocks noChangeAspect="1"/>
          </p:cNvPicPr>
          <p:nvPr/>
        </p:nvPicPr>
        <p:blipFill>
          <a:blip r:embed="rId3"/>
          <a:stretch/>
        </p:blipFill>
        <p:spPr>
          <a:xfrm>
            <a:off x="7628782" y="942975"/>
            <a:ext cx="3500809" cy="4854063"/>
          </a:xfrm>
          <a:prstGeom prst="rect">
            <a:avLst/>
          </a:prstGeom>
        </p:spPr>
      </p:pic>
      <p:sp>
        <p:nvSpPr>
          <p:cNvPr id="26" name="Rectangle 25">
            <a:extLst>
              <a:ext uri="{FF2B5EF4-FFF2-40B4-BE49-F238E27FC236}">
                <a16:creationId xmlns:a16="http://schemas.microsoft.com/office/drawing/2014/main" id="{8BF79C6E-9903-4E42-9ED1-8422A9622A52}"/>
              </a:ext>
            </a:extLst>
          </p:cNvPr>
          <p:cNvSpPr>
            <a:spLocks noGrp="1"/>
          </p:cNvSpPr>
          <p:nvPr/>
        </p:nvSpPr>
        <p:spPr>
          <a:xfrm>
            <a:off x="2209800" y="5934075"/>
            <a:ext cx="7429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D40000"/>
                </a:solidFill>
                <a:latin typeface="Aptos"/>
                <a:ea typeface="Aptos"/>
                <a:cs typeface="Aptos"/>
              </a:defRPr>
            </a:pPr>
            <a:r>
              <a:rPr sz="1650" b="1" dirty="0">
                <a:solidFill>
                  <a:srgbClr val="D40000"/>
                </a:solidFill>
                <a:latin typeface="Aptos"/>
                <a:ea typeface="Aptos"/>
                <a:cs typeface="Aptos"/>
              </a:rPr>
              <a:t>These scores are curated classroom tests, not production certification guarantees.</a:t>
            </a:r>
          </a:p>
        </p:txBody>
      </p:sp>
      <p:sp>
        <p:nvSpPr>
          <p:cNvPr id="27" name="Rectangle 26">
            <a:extLst>
              <a:ext uri="{FF2B5EF4-FFF2-40B4-BE49-F238E27FC236}">
                <a16:creationId xmlns:a16="http://schemas.microsoft.com/office/drawing/2014/main" id="{C3A39925-97EE-4F6D-BF53-59D6AC4F9DD9}"/>
              </a:ext>
            </a:extLst>
          </p:cNvPr>
          <p:cNvSpPr>
            <a:spLocks noGrp="1"/>
          </p:cNvSpPr>
          <p:nvPr/>
        </p:nvSpPr>
        <p:spPr>
          <a:xfrm>
            <a:off x="666750" y="6457950"/>
            <a:ext cx="10572750" cy="19050"/>
          </a:xfrm>
          <a:prstGeom prst="rect">
            <a:avLst/>
          </a:prstGeom>
          <a:solidFill>
            <a:srgbClr val="CBBEAA"/>
          </a:solidFill>
          <a:ln w="0">
            <a:solidFill>
              <a:srgbClr val="000000">
                <a:alpha val="0"/>
              </a:srgbClr>
            </a:solidFill>
            <a:prstDash val="solid"/>
          </a:ln>
        </p:spPr>
        <p:txBody>
          <a:bodyPr/>
          <a:lstStyle/>
          <a:p>
            <a:endParaRPr lang="en-US"/>
          </a:p>
        </p:txBody>
      </p:sp>
      <p:sp>
        <p:nvSpPr>
          <p:cNvPr id="28" name="Rectangle 27">
            <a:extLst>
              <a:ext uri="{FF2B5EF4-FFF2-40B4-BE49-F238E27FC236}">
                <a16:creationId xmlns:a16="http://schemas.microsoft.com/office/drawing/2014/main" id="{E4CBCB03-9788-48DD-9108-975FAFCC8CB7}"/>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4B5B52"/>
                </a:solidFill>
                <a:latin typeface="Aptos"/>
                <a:ea typeface="Aptos"/>
                <a:cs typeface="Aptos"/>
              </a:defRPr>
            </a:pPr>
            <a:r>
              <a:rPr sz="900" b="0">
                <a:solidFill>
                  <a:srgbClr val="4B5B52"/>
                </a:solidFill>
                <a:latin typeface="Aptos"/>
                <a:ea typeface="Aptos"/>
                <a:cs typeface="Aptos"/>
              </a:rPr>
              <a:t>Technical Report + Results</a:t>
            </a:r>
          </a:p>
        </p:txBody>
      </p:sp>
      <p:sp>
        <p:nvSpPr>
          <p:cNvPr id="29" name="Rectangle 28">
            <a:extLst>
              <a:ext uri="{FF2B5EF4-FFF2-40B4-BE49-F238E27FC236}">
                <a16:creationId xmlns:a16="http://schemas.microsoft.com/office/drawing/2014/main" id="{53EFFE24-F22E-40BD-B634-9DEDD793977D}"/>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071F16"/>
                </a:solidFill>
                <a:latin typeface="Aptos Display"/>
                <a:ea typeface="Aptos Display"/>
                <a:cs typeface="Aptos Display"/>
              </a:defRPr>
            </a:pPr>
            <a:r>
              <a:rPr sz="1350" b="1">
                <a:solidFill>
                  <a:srgbClr val="071F16"/>
                </a:solidFill>
                <a:latin typeface="Aptos Display"/>
                <a:ea typeface="Aptos Display"/>
                <a:cs typeface="Aptos Display"/>
              </a:rPr>
              <a:t>10</a:t>
            </a:r>
          </a:p>
        </p:txBody>
      </p:sp>
    </p:spTree>
    <p:extLst>
      <p:ext uri="{BB962C8B-B14F-4D97-AF65-F5344CB8AC3E}">
        <p14:creationId xmlns:p14="http://schemas.microsoft.com/office/powerpoint/2010/main" val="115700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1D2EE9F8-713B-4023-8EA2-C44915B79972}"/>
              </a:ext>
            </a:extLst>
          </p:cNvPr>
          <p:cNvSpPr>
            <a:spLocks noGrp="1"/>
          </p:cNvSpPr>
          <p:nvPr/>
        </p:nvSpPr>
        <p:spPr>
          <a:xfrm>
            <a:off x="-38100" y="-104775"/>
            <a:ext cx="12192000" cy="6858000"/>
          </a:xfrm>
          <a:prstGeom prst="rect">
            <a:avLst/>
          </a:prstGeom>
          <a:solidFill>
            <a:srgbClr val="FFF8EA"/>
          </a:solidFill>
          <a:ln w="0">
            <a:solidFill>
              <a:srgbClr val="000000">
                <a:alpha val="0"/>
              </a:srgbClr>
            </a:solidFill>
            <a:prstDash val="solid"/>
          </a:ln>
        </p:spPr>
        <p:txBody>
          <a:bodyPr/>
          <a:lstStyle/>
          <a:p>
            <a:endParaRPr lang="en-US" dirty="0"/>
          </a:p>
        </p:txBody>
      </p:sp>
      <p:sp>
        <p:nvSpPr>
          <p:cNvPr id="2" name="Rectangle 1">
            <a:extLst>
              <a:ext uri="{FF2B5EF4-FFF2-40B4-BE49-F238E27FC236}">
                <a16:creationId xmlns:a16="http://schemas.microsoft.com/office/drawing/2014/main" id="{87D4702D-7099-4C1E-A184-7004F9A139EA}"/>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60AADDEB-6B47-404F-A6FB-6B8128AC4193}"/>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4B5B52"/>
                </a:solidFill>
                <a:latin typeface="Aptos"/>
                <a:ea typeface="Aptos"/>
                <a:cs typeface="Aptos"/>
              </a:defRPr>
            </a:pPr>
            <a:r>
              <a:rPr sz="1125" b="1">
                <a:solidFill>
                  <a:srgbClr val="4B5B52"/>
                </a:solidFill>
                <a:latin typeface="Aptos"/>
                <a:ea typeface="Aptos"/>
                <a:cs typeface="Aptos"/>
              </a:rPr>
              <a:t>LIMITATIONS</a:t>
            </a:r>
          </a:p>
        </p:txBody>
      </p:sp>
      <p:sp>
        <p:nvSpPr>
          <p:cNvPr id="5" name="Rectangle 4">
            <a:extLst>
              <a:ext uri="{FF2B5EF4-FFF2-40B4-BE49-F238E27FC236}">
                <a16:creationId xmlns:a16="http://schemas.microsoft.com/office/drawing/2014/main" id="{F4BEE8E4-9684-4CD7-879B-2BAD3F4B3CE4}"/>
              </a:ext>
            </a:extLst>
          </p:cNvPr>
          <p:cNvSpPr>
            <a:spLocks noGrp="1"/>
          </p:cNvSpPr>
          <p:nvPr/>
        </p:nvSpPr>
        <p:spPr>
          <a:xfrm>
            <a:off x="666750" y="876300"/>
            <a:ext cx="752475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600" b="1">
                <a:solidFill>
                  <a:srgbClr val="071F16"/>
                </a:solidFill>
                <a:latin typeface="Aptos Display"/>
                <a:ea typeface="Aptos Display"/>
                <a:cs typeface="Aptos Display"/>
              </a:defRPr>
            </a:pPr>
            <a:r>
              <a:rPr sz="2500" b="1" dirty="0">
                <a:solidFill>
                  <a:srgbClr val="071F16"/>
                </a:solidFill>
                <a:latin typeface="Aptos Display"/>
                <a:ea typeface="Aptos Display"/>
                <a:cs typeface="Aptos Display"/>
              </a:rPr>
              <a:t>Clear limits make the project more credible.</a:t>
            </a:r>
          </a:p>
        </p:txBody>
      </p:sp>
      <p:sp>
        <p:nvSpPr>
          <p:cNvPr id="6" name="Rectangle 5">
            <a:extLst>
              <a:ext uri="{FF2B5EF4-FFF2-40B4-BE49-F238E27FC236}">
                <a16:creationId xmlns:a16="http://schemas.microsoft.com/office/drawing/2014/main" id="{DD18D144-4995-4765-A94A-3B67C91F7E1E}"/>
              </a:ext>
            </a:extLst>
          </p:cNvPr>
          <p:cNvSpPr>
            <a:spLocks noGrp="1"/>
          </p:cNvSpPr>
          <p:nvPr/>
        </p:nvSpPr>
        <p:spPr>
          <a:xfrm>
            <a:off x="952501" y="1277275"/>
            <a:ext cx="2146465" cy="1589513"/>
          </a:xfrm>
          <a:prstGeom prst="rect">
            <a:avLst/>
          </a:prstGeom>
          <a:solidFill>
            <a:srgbClr val="FFFFFF"/>
          </a:solidFill>
          <a:ln w="9525">
            <a:solidFill>
              <a:srgbClr val="CBBEAA"/>
            </a:solidFill>
            <a:prstDash val="solid"/>
          </a:ln>
        </p:spPr>
        <p:txBody>
          <a:bodyPr/>
          <a:lstStyle/>
          <a:p>
            <a:endParaRPr lang="en-US"/>
          </a:p>
        </p:txBody>
      </p:sp>
      <p:sp>
        <p:nvSpPr>
          <p:cNvPr id="7" name="Rectangle 6">
            <a:extLst>
              <a:ext uri="{FF2B5EF4-FFF2-40B4-BE49-F238E27FC236}">
                <a16:creationId xmlns:a16="http://schemas.microsoft.com/office/drawing/2014/main" id="{FEE28494-9D23-4EBD-ADEE-543885E8D3A9}"/>
              </a:ext>
            </a:extLst>
          </p:cNvPr>
          <p:cNvSpPr>
            <a:spLocks noGrp="1"/>
          </p:cNvSpPr>
          <p:nvPr/>
        </p:nvSpPr>
        <p:spPr>
          <a:xfrm>
            <a:off x="952501" y="1277275"/>
            <a:ext cx="62316" cy="1589513"/>
          </a:xfrm>
          <a:prstGeom prst="rect">
            <a:avLst/>
          </a:prstGeom>
          <a:solidFill>
            <a:srgbClr val="D40000"/>
          </a:solidFill>
          <a:ln w="0">
            <a:solidFill>
              <a:srgbClr val="000000">
                <a:alpha val="0"/>
              </a:srgbClr>
            </a:solidFill>
            <a:prstDash val="solid"/>
          </a:ln>
        </p:spPr>
        <p:txBody>
          <a:bodyPr/>
          <a:lstStyle/>
          <a:p>
            <a:endParaRPr lang="en-US"/>
          </a:p>
        </p:txBody>
      </p:sp>
      <p:sp>
        <p:nvSpPr>
          <p:cNvPr id="8" name="Rectangle 7">
            <a:extLst>
              <a:ext uri="{FF2B5EF4-FFF2-40B4-BE49-F238E27FC236}">
                <a16:creationId xmlns:a16="http://schemas.microsoft.com/office/drawing/2014/main" id="{399C8B24-62A7-4263-837D-386F9151DB42}"/>
              </a:ext>
            </a:extLst>
          </p:cNvPr>
          <p:cNvSpPr>
            <a:spLocks noGrp="1"/>
          </p:cNvSpPr>
          <p:nvPr/>
        </p:nvSpPr>
        <p:spPr>
          <a:xfrm>
            <a:off x="1219200" y="1505876"/>
            <a:ext cx="1758716" cy="24565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D40000"/>
                </a:solidFill>
                <a:latin typeface="Aptos"/>
                <a:ea typeface="Aptos"/>
                <a:cs typeface="Aptos"/>
              </a:defRPr>
            </a:pPr>
            <a:r>
              <a:rPr sz="1800" b="1">
                <a:solidFill>
                  <a:srgbClr val="D40000"/>
                </a:solidFill>
                <a:latin typeface="Aptos"/>
                <a:ea typeface="Aptos"/>
                <a:cs typeface="Aptos"/>
              </a:rPr>
              <a:t>Live APIs</a:t>
            </a:r>
          </a:p>
        </p:txBody>
      </p:sp>
      <p:sp>
        <p:nvSpPr>
          <p:cNvPr id="9" name="Rectangle 8">
            <a:extLst>
              <a:ext uri="{FF2B5EF4-FFF2-40B4-BE49-F238E27FC236}">
                <a16:creationId xmlns:a16="http://schemas.microsoft.com/office/drawing/2014/main" id="{03F264E5-816C-4AB2-A038-9EE0F9DEE43C}"/>
              </a:ext>
            </a:extLst>
          </p:cNvPr>
          <p:cNvSpPr>
            <a:spLocks noGrp="1"/>
          </p:cNvSpPr>
          <p:nvPr/>
        </p:nvSpPr>
        <p:spPr>
          <a:xfrm>
            <a:off x="1219200" y="1963076"/>
            <a:ext cx="1758716" cy="939258"/>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071F16"/>
                </a:solidFill>
                <a:latin typeface="Aptos"/>
                <a:ea typeface="Aptos"/>
                <a:cs typeface="Aptos"/>
              </a:defRPr>
            </a:pPr>
            <a:r>
              <a:rPr sz="1575" b="0" dirty="0">
                <a:solidFill>
                  <a:srgbClr val="071F16"/>
                </a:solidFill>
                <a:latin typeface="Aptos"/>
                <a:ea typeface="Aptos"/>
                <a:cs typeface="Aptos"/>
              </a:rPr>
              <a:t>Google Vision and </a:t>
            </a:r>
            <a:r>
              <a:rPr sz="1575" b="0" dirty="0" err="1">
                <a:solidFill>
                  <a:srgbClr val="071F16"/>
                </a:solidFill>
                <a:latin typeface="Aptos"/>
                <a:ea typeface="Aptos"/>
                <a:cs typeface="Aptos"/>
              </a:rPr>
              <a:t>RapidAPI</a:t>
            </a:r>
            <a:r>
              <a:rPr sz="1575" b="0" dirty="0">
                <a:solidFill>
                  <a:srgbClr val="071F16"/>
                </a:solidFill>
                <a:latin typeface="Aptos"/>
                <a:ea typeface="Aptos"/>
                <a:cs typeface="Aptos"/>
              </a:rPr>
              <a:t> need credentials for real external calls.</a:t>
            </a:r>
          </a:p>
        </p:txBody>
      </p:sp>
      <p:sp>
        <p:nvSpPr>
          <p:cNvPr id="10" name="Rectangle 9">
            <a:extLst>
              <a:ext uri="{FF2B5EF4-FFF2-40B4-BE49-F238E27FC236}">
                <a16:creationId xmlns:a16="http://schemas.microsoft.com/office/drawing/2014/main" id="{AE13F7F8-7A2F-45CE-B118-AF973F69CCAF}"/>
              </a:ext>
            </a:extLst>
          </p:cNvPr>
          <p:cNvSpPr>
            <a:spLocks noGrp="1"/>
          </p:cNvSpPr>
          <p:nvPr/>
        </p:nvSpPr>
        <p:spPr>
          <a:xfrm>
            <a:off x="952500" y="3017834"/>
            <a:ext cx="2146466" cy="1555083"/>
          </a:xfrm>
          <a:prstGeom prst="rect">
            <a:avLst/>
          </a:prstGeom>
          <a:solidFill>
            <a:srgbClr val="FFFFFF"/>
          </a:solidFill>
          <a:ln w="9525">
            <a:solidFill>
              <a:srgbClr val="CBBEAA"/>
            </a:solidFill>
            <a:prstDash val="solid"/>
          </a:ln>
        </p:spPr>
        <p:txBody>
          <a:bodyPr/>
          <a:lstStyle/>
          <a:p>
            <a:endParaRPr lang="en-US"/>
          </a:p>
        </p:txBody>
      </p:sp>
      <p:sp>
        <p:nvSpPr>
          <p:cNvPr id="11" name="Rectangle 10">
            <a:extLst>
              <a:ext uri="{FF2B5EF4-FFF2-40B4-BE49-F238E27FC236}">
                <a16:creationId xmlns:a16="http://schemas.microsoft.com/office/drawing/2014/main" id="{65431FDD-1D34-4496-8778-3CCCF68B2A78}"/>
              </a:ext>
            </a:extLst>
          </p:cNvPr>
          <p:cNvSpPr>
            <a:spLocks noGrp="1"/>
          </p:cNvSpPr>
          <p:nvPr/>
        </p:nvSpPr>
        <p:spPr>
          <a:xfrm>
            <a:off x="952501" y="3031221"/>
            <a:ext cx="62317" cy="1555083"/>
          </a:xfrm>
          <a:prstGeom prst="rect">
            <a:avLst/>
          </a:prstGeom>
          <a:solidFill>
            <a:srgbClr val="B87900"/>
          </a:solidFill>
          <a:ln w="0">
            <a:solidFill>
              <a:srgbClr val="000000">
                <a:alpha val="0"/>
              </a:srgbClr>
            </a:solidFill>
            <a:prstDash val="solid"/>
          </a:ln>
        </p:spPr>
        <p:txBody>
          <a:bodyPr/>
          <a:lstStyle/>
          <a:p>
            <a:endParaRPr lang="en-US"/>
          </a:p>
        </p:txBody>
      </p:sp>
      <p:sp>
        <p:nvSpPr>
          <p:cNvPr id="12" name="Rectangle 11">
            <a:extLst>
              <a:ext uri="{FF2B5EF4-FFF2-40B4-BE49-F238E27FC236}">
                <a16:creationId xmlns:a16="http://schemas.microsoft.com/office/drawing/2014/main" id="{AFE97652-FBDB-4B30-8F54-A5FA977DF042}"/>
              </a:ext>
            </a:extLst>
          </p:cNvPr>
          <p:cNvSpPr>
            <a:spLocks noGrp="1"/>
          </p:cNvSpPr>
          <p:nvPr/>
        </p:nvSpPr>
        <p:spPr>
          <a:xfrm>
            <a:off x="1219200" y="3259821"/>
            <a:ext cx="1758717" cy="240331"/>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B87900"/>
                </a:solidFill>
                <a:latin typeface="Aptos"/>
                <a:ea typeface="Aptos"/>
                <a:cs typeface="Aptos"/>
              </a:defRPr>
            </a:pPr>
            <a:r>
              <a:rPr sz="1800" b="1">
                <a:solidFill>
                  <a:srgbClr val="B87900"/>
                </a:solidFill>
                <a:latin typeface="Aptos"/>
                <a:ea typeface="Aptos"/>
                <a:cs typeface="Aptos"/>
              </a:rPr>
              <a:t>Certifiers</a:t>
            </a:r>
          </a:p>
        </p:txBody>
      </p:sp>
      <p:sp>
        <p:nvSpPr>
          <p:cNvPr id="13" name="Rectangle 12">
            <a:extLst>
              <a:ext uri="{FF2B5EF4-FFF2-40B4-BE49-F238E27FC236}">
                <a16:creationId xmlns:a16="http://schemas.microsoft.com/office/drawing/2014/main" id="{E25EAF44-1108-45B4-B4EC-C9466D041CB5}"/>
              </a:ext>
            </a:extLst>
          </p:cNvPr>
          <p:cNvSpPr>
            <a:spLocks noGrp="1"/>
          </p:cNvSpPr>
          <p:nvPr/>
        </p:nvSpPr>
        <p:spPr>
          <a:xfrm>
            <a:off x="1123950" y="3615341"/>
            <a:ext cx="1975016" cy="102059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071F16"/>
                </a:solidFill>
                <a:latin typeface="Aptos"/>
                <a:ea typeface="Aptos"/>
                <a:cs typeface="Aptos"/>
              </a:defRPr>
            </a:pPr>
            <a:r>
              <a:rPr sz="1575" b="0" dirty="0">
                <a:solidFill>
                  <a:srgbClr val="071F16"/>
                </a:solidFill>
                <a:latin typeface="Aptos"/>
                <a:ea typeface="Aptos"/>
                <a:cs typeface="Aptos"/>
              </a:rPr>
              <a:t>The system recognizes names, but does not authenticate official certificates.</a:t>
            </a:r>
          </a:p>
        </p:txBody>
      </p:sp>
      <p:sp>
        <p:nvSpPr>
          <p:cNvPr id="14" name="Rectangle 13">
            <a:extLst>
              <a:ext uri="{FF2B5EF4-FFF2-40B4-BE49-F238E27FC236}">
                <a16:creationId xmlns:a16="http://schemas.microsoft.com/office/drawing/2014/main" id="{3F53DEA1-1A96-4DF8-93D7-0A003D9E20BE}"/>
              </a:ext>
            </a:extLst>
          </p:cNvPr>
          <p:cNvSpPr>
            <a:spLocks noGrp="1"/>
          </p:cNvSpPr>
          <p:nvPr/>
        </p:nvSpPr>
        <p:spPr>
          <a:xfrm>
            <a:off x="972231" y="4723963"/>
            <a:ext cx="2126735" cy="1660643"/>
          </a:xfrm>
          <a:prstGeom prst="rect">
            <a:avLst/>
          </a:prstGeom>
          <a:solidFill>
            <a:srgbClr val="FFFFFF"/>
          </a:solidFill>
          <a:ln w="9525">
            <a:solidFill>
              <a:srgbClr val="CBBEAA"/>
            </a:solidFill>
            <a:prstDash val="solid"/>
          </a:ln>
        </p:spPr>
        <p:txBody>
          <a:bodyPr/>
          <a:lstStyle/>
          <a:p>
            <a:endParaRPr lang="en-US"/>
          </a:p>
        </p:txBody>
      </p:sp>
      <p:sp>
        <p:nvSpPr>
          <p:cNvPr id="15" name="Rectangle 14">
            <a:extLst>
              <a:ext uri="{FF2B5EF4-FFF2-40B4-BE49-F238E27FC236}">
                <a16:creationId xmlns:a16="http://schemas.microsoft.com/office/drawing/2014/main" id="{B01A38EF-B960-4903-B7A5-43E3B045E853}"/>
              </a:ext>
            </a:extLst>
          </p:cNvPr>
          <p:cNvSpPr>
            <a:spLocks noGrp="1"/>
          </p:cNvSpPr>
          <p:nvPr/>
        </p:nvSpPr>
        <p:spPr>
          <a:xfrm>
            <a:off x="972232" y="4723963"/>
            <a:ext cx="61744" cy="1660643"/>
          </a:xfrm>
          <a:prstGeom prst="rect">
            <a:avLst/>
          </a:prstGeom>
          <a:solidFill>
            <a:srgbClr val="116A38"/>
          </a:solidFill>
          <a:ln w="0">
            <a:solidFill>
              <a:srgbClr val="000000">
                <a:alpha val="0"/>
              </a:srgbClr>
            </a:solidFill>
            <a:prstDash val="solid"/>
          </a:ln>
        </p:spPr>
        <p:txBody>
          <a:bodyPr/>
          <a:lstStyle/>
          <a:p>
            <a:endParaRPr lang="en-US"/>
          </a:p>
        </p:txBody>
      </p:sp>
      <p:sp>
        <p:nvSpPr>
          <p:cNvPr id="16" name="Rectangle 15">
            <a:extLst>
              <a:ext uri="{FF2B5EF4-FFF2-40B4-BE49-F238E27FC236}">
                <a16:creationId xmlns:a16="http://schemas.microsoft.com/office/drawing/2014/main" id="{1A9CC127-9AD1-4D9B-9237-B55C050C4191}"/>
              </a:ext>
            </a:extLst>
          </p:cNvPr>
          <p:cNvSpPr>
            <a:spLocks noGrp="1"/>
          </p:cNvSpPr>
          <p:nvPr/>
        </p:nvSpPr>
        <p:spPr>
          <a:xfrm>
            <a:off x="1238931" y="4952563"/>
            <a:ext cx="1742551" cy="25664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116A38"/>
                </a:solidFill>
                <a:latin typeface="Aptos"/>
                <a:ea typeface="Aptos"/>
                <a:cs typeface="Aptos"/>
              </a:defRPr>
            </a:pPr>
            <a:r>
              <a:rPr sz="1800" b="1">
                <a:solidFill>
                  <a:srgbClr val="116A38"/>
                </a:solidFill>
                <a:latin typeface="Aptos"/>
                <a:ea typeface="Aptos"/>
                <a:cs typeface="Aptos"/>
              </a:rPr>
              <a:t>RAG chat</a:t>
            </a:r>
          </a:p>
        </p:txBody>
      </p:sp>
      <p:sp>
        <p:nvSpPr>
          <p:cNvPr id="17" name="Rectangle 16">
            <a:extLst>
              <a:ext uri="{FF2B5EF4-FFF2-40B4-BE49-F238E27FC236}">
                <a16:creationId xmlns:a16="http://schemas.microsoft.com/office/drawing/2014/main" id="{43066CF8-D9DE-4C10-AFF0-518C5CFEED8F}"/>
              </a:ext>
            </a:extLst>
          </p:cNvPr>
          <p:cNvSpPr>
            <a:spLocks noGrp="1"/>
          </p:cNvSpPr>
          <p:nvPr/>
        </p:nvSpPr>
        <p:spPr>
          <a:xfrm>
            <a:off x="1238931" y="5409763"/>
            <a:ext cx="1742551" cy="981289"/>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071F16"/>
                </a:solidFill>
                <a:latin typeface="Aptos"/>
                <a:ea typeface="Aptos"/>
                <a:cs typeface="Aptos"/>
              </a:defRPr>
            </a:pPr>
            <a:r>
              <a:rPr sz="1575" b="0" dirty="0">
                <a:solidFill>
                  <a:srgbClr val="071F16"/>
                </a:solidFill>
                <a:latin typeface="Aptos"/>
                <a:ea typeface="Aptos"/>
                <a:cs typeface="Aptos"/>
              </a:rPr>
              <a:t>RAG explains rules only. /</a:t>
            </a:r>
            <a:r>
              <a:rPr sz="1575" b="0" dirty="0" err="1">
                <a:solidFill>
                  <a:srgbClr val="071F16"/>
                </a:solidFill>
                <a:latin typeface="Aptos"/>
                <a:ea typeface="Aptos"/>
                <a:cs typeface="Aptos"/>
              </a:rPr>
              <a:t>api</a:t>
            </a:r>
            <a:r>
              <a:rPr sz="1575" b="0" dirty="0">
                <a:solidFill>
                  <a:srgbClr val="071F16"/>
                </a:solidFill>
                <a:latin typeface="Aptos"/>
                <a:ea typeface="Aptos"/>
                <a:cs typeface="Aptos"/>
              </a:rPr>
              <a:t>/analyze makes final verdicts.</a:t>
            </a:r>
          </a:p>
        </p:txBody>
      </p:sp>
      <p:sp>
        <p:nvSpPr>
          <p:cNvPr id="18" name="Rectangle 17">
            <a:extLst>
              <a:ext uri="{FF2B5EF4-FFF2-40B4-BE49-F238E27FC236}">
                <a16:creationId xmlns:a16="http://schemas.microsoft.com/office/drawing/2014/main" id="{10F505E7-6D57-436D-A60E-57A529C280E4}"/>
              </a:ext>
            </a:extLst>
          </p:cNvPr>
          <p:cNvSpPr>
            <a:spLocks noGrp="1"/>
          </p:cNvSpPr>
          <p:nvPr/>
        </p:nvSpPr>
        <p:spPr>
          <a:xfrm>
            <a:off x="5090013" y="1191550"/>
            <a:ext cx="4649071" cy="5180675"/>
          </a:xfrm>
          <a:prstGeom prst="rect">
            <a:avLst/>
          </a:prstGeom>
          <a:solidFill>
            <a:srgbClr val="FFFFFF"/>
          </a:solidFill>
          <a:ln w="9525">
            <a:solidFill>
              <a:srgbClr val="CBBEAA"/>
            </a:solidFill>
            <a:prstDash val="solid"/>
          </a:ln>
        </p:spPr>
        <p:txBody>
          <a:bodyPr/>
          <a:lstStyle/>
          <a:p>
            <a:endParaRPr lang="en-US" dirty="0"/>
          </a:p>
        </p:txBody>
      </p:sp>
      <p:pic>
        <p:nvPicPr>
          <p:cNvPr id="19" name="Picture 18"/>
          <p:cNvPicPr>
            <a:picLocks noChangeAspect="1"/>
          </p:cNvPicPr>
          <p:nvPr/>
        </p:nvPicPr>
        <p:blipFill>
          <a:blip r:embed="rId3"/>
          <a:stretch/>
        </p:blipFill>
        <p:spPr>
          <a:xfrm>
            <a:off x="5340060" y="1277275"/>
            <a:ext cx="4132909" cy="5010170"/>
          </a:xfrm>
          <a:prstGeom prst="rect">
            <a:avLst/>
          </a:prstGeom>
        </p:spPr>
      </p:pic>
      <p:sp>
        <p:nvSpPr>
          <p:cNvPr id="21" name="Rectangle 20">
            <a:extLst>
              <a:ext uri="{FF2B5EF4-FFF2-40B4-BE49-F238E27FC236}">
                <a16:creationId xmlns:a16="http://schemas.microsoft.com/office/drawing/2014/main" id="{F25338D8-AF04-4ACA-B446-2FDCBA3BEDDE}"/>
              </a:ext>
            </a:extLst>
          </p:cNvPr>
          <p:cNvSpPr>
            <a:spLocks noGrp="1"/>
          </p:cNvSpPr>
          <p:nvPr/>
        </p:nvSpPr>
        <p:spPr>
          <a:xfrm>
            <a:off x="1123950" y="6072641"/>
            <a:ext cx="9715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FFFFFF"/>
                </a:solidFill>
                <a:latin typeface="Aptos Display"/>
                <a:ea typeface="Aptos Display"/>
                <a:cs typeface="Aptos Display"/>
              </a:defRPr>
            </a:pPr>
            <a:endParaRPr sz="1800" b="1" dirty="0">
              <a:solidFill>
                <a:srgbClr val="FFFFFF"/>
              </a:solidFill>
              <a:latin typeface="Aptos Display"/>
              <a:ea typeface="Aptos Display"/>
              <a:cs typeface="Aptos Display"/>
            </a:endParaRPr>
          </a:p>
        </p:txBody>
      </p:sp>
      <p:sp>
        <p:nvSpPr>
          <p:cNvPr id="22" name="Rectangle 21">
            <a:extLst>
              <a:ext uri="{FF2B5EF4-FFF2-40B4-BE49-F238E27FC236}">
                <a16:creationId xmlns:a16="http://schemas.microsoft.com/office/drawing/2014/main" id="{6EFBE3AE-5A51-420D-A995-2A8A2EEFCF59}"/>
              </a:ext>
            </a:extLst>
          </p:cNvPr>
          <p:cNvSpPr>
            <a:spLocks noGrp="1"/>
          </p:cNvSpPr>
          <p:nvPr/>
        </p:nvSpPr>
        <p:spPr>
          <a:xfrm>
            <a:off x="666750" y="6419850"/>
            <a:ext cx="10572750" cy="19050"/>
          </a:xfrm>
          <a:prstGeom prst="rect">
            <a:avLst/>
          </a:prstGeom>
          <a:solidFill>
            <a:srgbClr val="CBBEAA"/>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6097A09D-D6B2-4BC0-8164-917DEFDDD9C8}"/>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4B5B52"/>
                </a:solidFill>
                <a:latin typeface="Aptos"/>
                <a:ea typeface="Aptos"/>
                <a:cs typeface="Aptos"/>
              </a:defRPr>
            </a:pPr>
            <a:r>
              <a:rPr sz="900" b="0">
                <a:solidFill>
                  <a:srgbClr val="4B5B52"/>
                </a:solidFill>
                <a:latin typeface="Aptos"/>
                <a:ea typeface="Aptos"/>
                <a:cs typeface="Aptos"/>
              </a:rPr>
              <a:t>Technical Report | Limitations and future work</a:t>
            </a:r>
          </a:p>
        </p:txBody>
      </p:sp>
      <p:sp>
        <p:nvSpPr>
          <p:cNvPr id="24" name="Rectangle 23">
            <a:extLst>
              <a:ext uri="{FF2B5EF4-FFF2-40B4-BE49-F238E27FC236}">
                <a16:creationId xmlns:a16="http://schemas.microsoft.com/office/drawing/2014/main" id="{46E8B558-DF73-40DE-94C8-6E9E1353D3C8}"/>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071F16"/>
                </a:solidFill>
                <a:latin typeface="Aptos Display"/>
                <a:ea typeface="Aptos Display"/>
                <a:cs typeface="Aptos Display"/>
              </a:defRPr>
            </a:pPr>
            <a:r>
              <a:rPr sz="1350" b="1">
                <a:solidFill>
                  <a:srgbClr val="071F16"/>
                </a:solidFill>
                <a:latin typeface="Aptos Display"/>
                <a:ea typeface="Aptos Display"/>
                <a:cs typeface="Aptos Display"/>
              </a:rPr>
              <a:t>11</a:t>
            </a:r>
          </a:p>
        </p:txBody>
      </p:sp>
    </p:spTree>
    <p:extLst>
      <p:ext uri="{BB962C8B-B14F-4D97-AF65-F5344CB8AC3E}">
        <p14:creationId xmlns:p14="http://schemas.microsoft.com/office/powerpoint/2010/main" val="1769017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B61CDDE-1FB8-43A1-BB60-92D054E24D11}"/>
              </a:ext>
            </a:extLst>
          </p:cNvPr>
          <p:cNvSpPr>
            <a:spLocks noGrp="1"/>
          </p:cNvSpPr>
          <p:nvPr/>
        </p:nvSpPr>
        <p:spPr>
          <a:xfrm>
            <a:off x="0" y="0"/>
            <a:ext cx="12192000" cy="6858000"/>
          </a:xfrm>
          <a:prstGeom prst="rect">
            <a:avLst/>
          </a:prstGeom>
          <a:solidFill>
            <a:srgbClr val="073A23"/>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9542ED0A-C4F8-4C4E-A441-3B3409C1D4EB}"/>
              </a:ext>
            </a:extLst>
          </p:cNvPr>
          <p:cNvSpPr>
            <a:spLocks noGrp="1"/>
          </p:cNvSpPr>
          <p:nvPr/>
        </p:nvSpPr>
        <p:spPr>
          <a:xfrm>
            <a:off x="666750" y="428625"/>
            <a:ext cx="142875" cy="142875"/>
          </a:xfrm>
          <a:prstGeom prst="rect">
            <a:avLst/>
          </a:prstGeom>
          <a:solidFill>
            <a:srgbClr val="B8871F"/>
          </a:solidFill>
          <a:ln w="0">
            <a:solidFill>
              <a:srgbClr val="000000">
                <a:alpha val="0"/>
              </a:srgbClr>
            </a:solidFill>
            <a:prstDash val="solid"/>
          </a:ln>
        </p:spPr>
        <p:txBody>
          <a:bodyPr/>
          <a:lstStyle/>
          <a:p>
            <a:endParaRPr lang="en-US"/>
          </a:p>
        </p:txBody>
      </p:sp>
      <p:sp>
        <p:nvSpPr>
          <p:cNvPr id="3" name="Rectangle 2">
            <a:extLst>
              <a:ext uri="{FF2B5EF4-FFF2-40B4-BE49-F238E27FC236}">
                <a16:creationId xmlns:a16="http://schemas.microsoft.com/office/drawing/2014/main" id="{C6CF02C1-A4D0-4943-8C73-803DA404419C}"/>
              </a:ext>
            </a:extLst>
          </p:cNvPr>
          <p:cNvSpPr>
            <a:spLocks noGrp="1"/>
          </p:cNvSpPr>
          <p:nvPr/>
        </p:nvSpPr>
        <p:spPr>
          <a:xfrm>
            <a:off x="952500" y="371475"/>
            <a:ext cx="5334000" cy="285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defRPr sz="1125" b="1">
                <a:solidFill>
                  <a:srgbClr val="DCEBDD"/>
                </a:solidFill>
                <a:latin typeface="Aptos"/>
                <a:ea typeface="Aptos"/>
                <a:cs typeface="Aptos"/>
              </a:defRPr>
            </a:pPr>
            <a:r>
              <a:rPr sz="1125" b="1">
                <a:solidFill>
                  <a:srgbClr val="DCEBDD"/>
                </a:solidFill>
                <a:latin typeface="Aptos"/>
                <a:ea typeface="Aptos"/>
                <a:cs typeface="Aptos"/>
              </a:rPr>
              <a:t>CLOSING</a:t>
            </a:r>
          </a:p>
        </p:txBody>
      </p:sp>
      <p:sp>
        <p:nvSpPr>
          <p:cNvPr id="5" name="Rectangle 4">
            <a:extLst>
              <a:ext uri="{FF2B5EF4-FFF2-40B4-BE49-F238E27FC236}">
                <a16:creationId xmlns:a16="http://schemas.microsoft.com/office/drawing/2014/main" id="{4F71F44F-43A3-4BB1-9A52-BF1E052DBE43}"/>
              </a:ext>
            </a:extLst>
          </p:cNvPr>
          <p:cNvSpPr>
            <a:spLocks noGrp="1"/>
          </p:cNvSpPr>
          <p:nvPr/>
        </p:nvSpPr>
        <p:spPr>
          <a:xfrm>
            <a:off x="666750" y="914400"/>
            <a:ext cx="7620000" cy="666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HalalScan meets the rubric.</a:t>
            </a:r>
          </a:p>
        </p:txBody>
      </p:sp>
      <p:sp>
        <p:nvSpPr>
          <p:cNvPr id="6" name="Rectangle 5">
            <a:extLst>
              <a:ext uri="{FF2B5EF4-FFF2-40B4-BE49-F238E27FC236}">
                <a16:creationId xmlns:a16="http://schemas.microsoft.com/office/drawing/2014/main" id="{C60137E1-591D-4B8D-B3AE-A17F0D4154FD}"/>
              </a:ext>
            </a:extLst>
          </p:cNvPr>
          <p:cNvSpPr>
            <a:spLocks noGrp="1"/>
          </p:cNvSpPr>
          <p:nvPr/>
        </p:nvSpPr>
        <p:spPr>
          <a:xfrm>
            <a:off x="714375" y="1762125"/>
            <a:ext cx="78105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250" b="1">
                <a:solidFill>
                  <a:srgbClr val="DCEBDD"/>
                </a:solidFill>
                <a:latin typeface="Aptos Display"/>
                <a:ea typeface="Aptos Display"/>
                <a:cs typeface="Aptos Display"/>
              </a:defRPr>
            </a:pPr>
            <a:r>
              <a:rPr sz="2250" b="1">
                <a:solidFill>
                  <a:srgbClr val="DCEBDD"/>
                </a:solidFill>
                <a:latin typeface="Aptos Display"/>
                <a:ea typeface="Aptos Display"/>
                <a:cs typeface="Aptos Display"/>
              </a:rPr>
              <a:t>ML + Knowledge Base + Reasoning + Integration</a:t>
            </a:r>
          </a:p>
        </p:txBody>
      </p:sp>
      <p:sp>
        <p:nvSpPr>
          <p:cNvPr id="7" name="Rectangle 6">
            <a:extLst>
              <a:ext uri="{FF2B5EF4-FFF2-40B4-BE49-F238E27FC236}">
                <a16:creationId xmlns:a16="http://schemas.microsoft.com/office/drawing/2014/main" id="{9D6D7205-2CC9-4FEB-ADA5-060696805385}"/>
              </a:ext>
            </a:extLst>
          </p:cNvPr>
          <p:cNvSpPr>
            <a:spLocks noGrp="1"/>
          </p:cNvSpPr>
          <p:nvPr/>
        </p:nvSpPr>
        <p:spPr>
          <a:xfrm>
            <a:off x="1000125" y="2571750"/>
            <a:ext cx="666750" cy="400050"/>
          </a:xfrm>
          <a:prstGeom prst="rect">
            <a:avLst/>
          </a:prstGeom>
          <a:solidFill>
            <a:srgbClr val="B8871F"/>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OK</a:t>
            </a:r>
          </a:p>
        </p:txBody>
      </p:sp>
      <p:sp>
        <p:nvSpPr>
          <p:cNvPr id="8" name="Rectangle 7">
            <a:extLst>
              <a:ext uri="{FF2B5EF4-FFF2-40B4-BE49-F238E27FC236}">
                <a16:creationId xmlns:a16="http://schemas.microsoft.com/office/drawing/2014/main" id="{483986DE-C212-41C3-B3C0-5EFA425ACCC2}"/>
              </a:ext>
            </a:extLst>
          </p:cNvPr>
          <p:cNvSpPr>
            <a:spLocks noGrp="1"/>
          </p:cNvSpPr>
          <p:nvPr/>
        </p:nvSpPr>
        <p:spPr>
          <a:xfrm>
            <a:off x="1952625" y="2619375"/>
            <a:ext cx="4095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a:ea typeface="Aptos"/>
                <a:cs typeface="Aptos"/>
              </a:defRPr>
            </a:pPr>
            <a:r>
              <a:rPr sz="1950" b="1">
                <a:solidFill>
                  <a:srgbClr val="FFFFFF"/>
                </a:solidFill>
                <a:latin typeface="Aptos"/>
                <a:ea typeface="Aptos"/>
                <a:cs typeface="Aptos"/>
              </a:rPr>
              <a:t>Project proposal</a:t>
            </a:r>
          </a:p>
        </p:txBody>
      </p:sp>
      <p:sp>
        <p:nvSpPr>
          <p:cNvPr id="9" name="Rectangle 8">
            <a:extLst>
              <a:ext uri="{FF2B5EF4-FFF2-40B4-BE49-F238E27FC236}">
                <a16:creationId xmlns:a16="http://schemas.microsoft.com/office/drawing/2014/main" id="{27D17C24-113D-4F2B-A840-2486079ECBDF}"/>
              </a:ext>
            </a:extLst>
          </p:cNvPr>
          <p:cNvSpPr>
            <a:spLocks noGrp="1"/>
          </p:cNvSpPr>
          <p:nvPr/>
        </p:nvSpPr>
        <p:spPr>
          <a:xfrm>
            <a:off x="1000125" y="3067050"/>
            <a:ext cx="666750" cy="400050"/>
          </a:xfrm>
          <a:prstGeom prst="rect">
            <a:avLst/>
          </a:prstGeom>
          <a:solidFill>
            <a:srgbClr val="B8871F"/>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OK</a:t>
            </a:r>
          </a:p>
        </p:txBody>
      </p:sp>
      <p:sp>
        <p:nvSpPr>
          <p:cNvPr id="10" name="Rectangle 9">
            <a:extLst>
              <a:ext uri="{FF2B5EF4-FFF2-40B4-BE49-F238E27FC236}">
                <a16:creationId xmlns:a16="http://schemas.microsoft.com/office/drawing/2014/main" id="{DB660ADB-9775-411C-AEA9-B585829D8A38}"/>
              </a:ext>
            </a:extLst>
          </p:cNvPr>
          <p:cNvSpPr>
            <a:spLocks noGrp="1"/>
          </p:cNvSpPr>
          <p:nvPr/>
        </p:nvSpPr>
        <p:spPr>
          <a:xfrm>
            <a:off x="1952625" y="3114675"/>
            <a:ext cx="4095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a:ea typeface="Aptos"/>
                <a:cs typeface="Aptos"/>
              </a:defRPr>
            </a:pPr>
            <a:r>
              <a:rPr sz="1950" b="1">
                <a:solidFill>
                  <a:srgbClr val="FFFFFF"/>
                </a:solidFill>
                <a:latin typeface="Aptos"/>
                <a:ea typeface="Aptos"/>
                <a:cs typeface="Aptos"/>
              </a:rPr>
              <a:t>ML implementation</a:t>
            </a:r>
          </a:p>
        </p:txBody>
      </p:sp>
      <p:sp>
        <p:nvSpPr>
          <p:cNvPr id="11" name="Rectangle 10">
            <a:extLst>
              <a:ext uri="{FF2B5EF4-FFF2-40B4-BE49-F238E27FC236}">
                <a16:creationId xmlns:a16="http://schemas.microsoft.com/office/drawing/2014/main" id="{CEDB1AE3-6ACE-4DDF-85F2-C9C3EC958252}"/>
              </a:ext>
            </a:extLst>
          </p:cNvPr>
          <p:cNvSpPr>
            <a:spLocks noGrp="1"/>
          </p:cNvSpPr>
          <p:nvPr/>
        </p:nvSpPr>
        <p:spPr>
          <a:xfrm>
            <a:off x="1000125" y="3562350"/>
            <a:ext cx="666750" cy="400050"/>
          </a:xfrm>
          <a:prstGeom prst="rect">
            <a:avLst/>
          </a:prstGeom>
          <a:solidFill>
            <a:srgbClr val="B8871F"/>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OK</a:t>
            </a:r>
          </a:p>
        </p:txBody>
      </p:sp>
      <p:sp>
        <p:nvSpPr>
          <p:cNvPr id="12" name="Rectangle 11">
            <a:extLst>
              <a:ext uri="{FF2B5EF4-FFF2-40B4-BE49-F238E27FC236}">
                <a16:creationId xmlns:a16="http://schemas.microsoft.com/office/drawing/2014/main" id="{97AB4093-ED99-4D26-95FA-21E641BAE9E4}"/>
              </a:ext>
            </a:extLst>
          </p:cNvPr>
          <p:cNvSpPr>
            <a:spLocks noGrp="1"/>
          </p:cNvSpPr>
          <p:nvPr/>
        </p:nvSpPr>
        <p:spPr>
          <a:xfrm>
            <a:off x="1952625" y="3609975"/>
            <a:ext cx="4095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a:ea typeface="Aptos"/>
                <a:cs typeface="Aptos"/>
              </a:defRPr>
            </a:pPr>
            <a:r>
              <a:rPr sz="1950" b="1">
                <a:solidFill>
                  <a:srgbClr val="FFFFFF"/>
                </a:solidFill>
                <a:latin typeface="Aptos"/>
                <a:ea typeface="Aptos"/>
                <a:cs typeface="Aptos"/>
              </a:rPr>
              <a:t>Knowledge base</a:t>
            </a:r>
          </a:p>
        </p:txBody>
      </p:sp>
      <p:sp>
        <p:nvSpPr>
          <p:cNvPr id="13" name="Rectangle 12">
            <a:extLst>
              <a:ext uri="{FF2B5EF4-FFF2-40B4-BE49-F238E27FC236}">
                <a16:creationId xmlns:a16="http://schemas.microsoft.com/office/drawing/2014/main" id="{E9D2E218-033C-4C08-B12E-941B11752001}"/>
              </a:ext>
            </a:extLst>
          </p:cNvPr>
          <p:cNvSpPr>
            <a:spLocks noGrp="1"/>
          </p:cNvSpPr>
          <p:nvPr/>
        </p:nvSpPr>
        <p:spPr>
          <a:xfrm>
            <a:off x="1000125" y="4057650"/>
            <a:ext cx="666750" cy="400050"/>
          </a:xfrm>
          <a:prstGeom prst="rect">
            <a:avLst/>
          </a:prstGeom>
          <a:solidFill>
            <a:srgbClr val="B8871F"/>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OK</a:t>
            </a:r>
          </a:p>
        </p:txBody>
      </p:sp>
      <p:sp>
        <p:nvSpPr>
          <p:cNvPr id="14" name="Rectangle 13">
            <a:extLst>
              <a:ext uri="{FF2B5EF4-FFF2-40B4-BE49-F238E27FC236}">
                <a16:creationId xmlns:a16="http://schemas.microsoft.com/office/drawing/2014/main" id="{3E2C54EF-4322-48A5-8E26-6A9FD1C0D106}"/>
              </a:ext>
            </a:extLst>
          </p:cNvPr>
          <p:cNvSpPr>
            <a:spLocks noGrp="1"/>
          </p:cNvSpPr>
          <p:nvPr/>
        </p:nvSpPr>
        <p:spPr>
          <a:xfrm>
            <a:off x="1952625" y="4105275"/>
            <a:ext cx="4095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a:ea typeface="Aptos"/>
                <a:cs typeface="Aptos"/>
              </a:defRPr>
            </a:pPr>
            <a:r>
              <a:rPr sz="1950" b="1">
                <a:solidFill>
                  <a:srgbClr val="FFFFFF"/>
                </a:solidFill>
                <a:latin typeface="Aptos"/>
                <a:ea typeface="Aptos"/>
                <a:cs typeface="Aptos"/>
              </a:rPr>
              <a:t>Reasoning engine</a:t>
            </a:r>
          </a:p>
        </p:txBody>
      </p:sp>
      <p:sp>
        <p:nvSpPr>
          <p:cNvPr id="15" name="Rectangle 14">
            <a:extLst>
              <a:ext uri="{FF2B5EF4-FFF2-40B4-BE49-F238E27FC236}">
                <a16:creationId xmlns:a16="http://schemas.microsoft.com/office/drawing/2014/main" id="{9EBB544E-C4C0-4CC5-8BDB-3B62B3FAA7B6}"/>
              </a:ext>
            </a:extLst>
          </p:cNvPr>
          <p:cNvSpPr>
            <a:spLocks noGrp="1"/>
          </p:cNvSpPr>
          <p:nvPr/>
        </p:nvSpPr>
        <p:spPr>
          <a:xfrm>
            <a:off x="1000125" y="4552950"/>
            <a:ext cx="666750" cy="400050"/>
          </a:xfrm>
          <a:prstGeom prst="rect">
            <a:avLst/>
          </a:prstGeom>
          <a:solidFill>
            <a:srgbClr val="B8871F"/>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OK</a:t>
            </a:r>
          </a:p>
        </p:txBody>
      </p:sp>
      <p:sp>
        <p:nvSpPr>
          <p:cNvPr id="16" name="Rectangle 15">
            <a:extLst>
              <a:ext uri="{FF2B5EF4-FFF2-40B4-BE49-F238E27FC236}">
                <a16:creationId xmlns:a16="http://schemas.microsoft.com/office/drawing/2014/main" id="{55EB87C8-5370-4777-AF7B-0ABE05240421}"/>
              </a:ext>
            </a:extLst>
          </p:cNvPr>
          <p:cNvSpPr>
            <a:spLocks noGrp="1"/>
          </p:cNvSpPr>
          <p:nvPr/>
        </p:nvSpPr>
        <p:spPr>
          <a:xfrm>
            <a:off x="1952625" y="4600575"/>
            <a:ext cx="4095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a:ea typeface="Aptos"/>
                <a:cs typeface="Aptos"/>
              </a:defRPr>
            </a:pPr>
            <a:r>
              <a:rPr sz="1950" b="1">
                <a:solidFill>
                  <a:srgbClr val="FFFFFF"/>
                </a:solidFill>
                <a:latin typeface="Aptos"/>
                <a:ea typeface="Aptos"/>
                <a:cs typeface="Aptos"/>
              </a:rPr>
              <a:t>System integration</a:t>
            </a:r>
          </a:p>
        </p:txBody>
      </p:sp>
      <p:sp>
        <p:nvSpPr>
          <p:cNvPr id="17" name="Rectangle 16">
            <a:extLst>
              <a:ext uri="{FF2B5EF4-FFF2-40B4-BE49-F238E27FC236}">
                <a16:creationId xmlns:a16="http://schemas.microsoft.com/office/drawing/2014/main" id="{8291744C-86B0-4AE7-BD4C-4AA62EA6E911}"/>
              </a:ext>
            </a:extLst>
          </p:cNvPr>
          <p:cNvSpPr>
            <a:spLocks noGrp="1"/>
          </p:cNvSpPr>
          <p:nvPr/>
        </p:nvSpPr>
        <p:spPr>
          <a:xfrm>
            <a:off x="1000125" y="5048250"/>
            <a:ext cx="666750" cy="400050"/>
          </a:xfrm>
          <a:prstGeom prst="rect">
            <a:avLst/>
          </a:prstGeom>
          <a:solidFill>
            <a:srgbClr val="B8871F"/>
          </a:solidFill>
          <a:ln w="0">
            <a:solidFill>
              <a:srgbClr val="000000">
                <a:alpha val="0"/>
              </a:srgbClr>
            </a:solidFill>
            <a:prstDash val="solid"/>
          </a:ln>
        </p:spPr>
        <p:txBody>
          <a:bodyPr lIns="95250" tIns="76200" rIns="95250" bIns="76200" anchor="ctr"/>
          <a:lstStyle/>
          <a:p>
            <a:pPr algn="ctr">
              <a:defRPr sz="1350" b="1">
                <a:solidFill>
                  <a:srgbClr val="FFFFFF"/>
                </a:solidFill>
                <a:latin typeface="Aptos"/>
                <a:ea typeface="Aptos"/>
                <a:cs typeface="Aptos"/>
              </a:defRPr>
            </a:pPr>
            <a:r>
              <a:rPr sz="1350" b="1">
                <a:solidFill>
                  <a:srgbClr val="FFFFFF"/>
                </a:solidFill>
                <a:latin typeface="Aptos"/>
                <a:ea typeface="Aptos"/>
                <a:cs typeface="Aptos"/>
              </a:rPr>
              <a:t>OK</a:t>
            </a:r>
          </a:p>
        </p:txBody>
      </p:sp>
      <p:sp>
        <p:nvSpPr>
          <p:cNvPr id="18" name="Rectangle 17">
            <a:extLst>
              <a:ext uri="{FF2B5EF4-FFF2-40B4-BE49-F238E27FC236}">
                <a16:creationId xmlns:a16="http://schemas.microsoft.com/office/drawing/2014/main" id="{223B52F4-9446-4406-81BA-CB6205D6785D}"/>
              </a:ext>
            </a:extLst>
          </p:cNvPr>
          <p:cNvSpPr>
            <a:spLocks noGrp="1"/>
          </p:cNvSpPr>
          <p:nvPr/>
        </p:nvSpPr>
        <p:spPr>
          <a:xfrm>
            <a:off x="1952625" y="5095875"/>
            <a:ext cx="40957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950" b="1">
                <a:solidFill>
                  <a:srgbClr val="FFFFFF"/>
                </a:solidFill>
                <a:latin typeface="Aptos"/>
                <a:ea typeface="Aptos"/>
                <a:cs typeface="Aptos"/>
              </a:defRPr>
            </a:pPr>
            <a:r>
              <a:rPr sz="1950" b="1">
                <a:solidFill>
                  <a:srgbClr val="FFFFFF"/>
                </a:solidFill>
                <a:latin typeface="Aptos"/>
                <a:ea typeface="Aptos"/>
                <a:cs typeface="Aptos"/>
              </a:rPr>
              <a:t>Report + presentation</a:t>
            </a:r>
          </a:p>
        </p:txBody>
      </p:sp>
      <p:sp>
        <p:nvSpPr>
          <p:cNvPr id="19" name="Rectangle 18">
            <a:extLst>
              <a:ext uri="{FF2B5EF4-FFF2-40B4-BE49-F238E27FC236}">
                <a16:creationId xmlns:a16="http://schemas.microsoft.com/office/drawing/2014/main" id="{38C0C09C-3752-4981-8374-08F454EE34DB}"/>
              </a:ext>
            </a:extLst>
          </p:cNvPr>
          <p:cNvSpPr>
            <a:spLocks noGrp="1"/>
          </p:cNvSpPr>
          <p:nvPr/>
        </p:nvSpPr>
        <p:spPr>
          <a:xfrm>
            <a:off x="7239000" y="2809875"/>
            <a:ext cx="3238500" cy="2190750"/>
          </a:xfrm>
          <a:prstGeom prst="rect">
            <a:avLst/>
          </a:prstGeom>
          <a:solidFill>
            <a:srgbClr val="FFFFFF"/>
          </a:solidFill>
          <a:ln w="28575">
            <a:solidFill>
              <a:srgbClr val="B8871F"/>
            </a:solidFill>
            <a:prstDash val="solid"/>
          </a:ln>
        </p:spPr>
        <p:txBody>
          <a:bodyPr/>
          <a:lstStyle/>
          <a:p>
            <a:endParaRPr lang="en-US"/>
          </a:p>
        </p:txBody>
      </p:sp>
      <p:sp>
        <p:nvSpPr>
          <p:cNvPr id="20" name="Rectangle 19">
            <a:extLst>
              <a:ext uri="{FF2B5EF4-FFF2-40B4-BE49-F238E27FC236}">
                <a16:creationId xmlns:a16="http://schemas.microsoft.com/office/drawing/2014/main" id="{65004E30-EB5E-4956-8A9E-ECE1025030DE}"/>
              </a:ext>
            </a:extLst>
          </p:cNvPr>
          <p:cNvSpPr>
            <a:spLocks noGrp="1"/>
          </p:cNvSpPr>
          <p:nvPr/>
        </p:nvSpPr>
        <p:spPr>
          <a:xfrm>
            <a:off x="7620000" y="314325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400" b="1">
                <a:solidFill>
                  <a:srgbClr val="116A38"/>
                </a:solidFill>
                <a:latin typeface="Aptos Display"/>
                <a:ea typeface="Aptos Display"/>
                <a:cs typeface="Aptos Display"/>
              </a:defRPr>
            </a:pPr>
            <a:r>
              <a:rPr sz="2400" b="1">
                <a:solidFill>
                  <a:srgbClr val="116A38"/>
                </a:solidFill>
                <a:latin typeface="Aptos Display"/>
                <a:ea typeface="Aptos Display"/>
                <a:cs typeface="Aptos Display"/>
              </a:rPr>
              <a:t>Final takeaway</a:t>
            </a:r>
          </a:p>
        </p:txBody>
      </p:sp>
      <p:sp>
        <p:nvSpPr>
          <p:cNvPr id="21" name="Rectangle 20">
            <a:extLst>
              <a:ext uri="{FF2B5EF4-FFF2-40B4-BE49-F238E27FC236}">
                <a16:creationId xmlns:a16="http://schemas.microsoft.com/office/drawing/2014/main" id="{6144DDD8-D7FC-43F6-9B3B-43856A9196F3}"/>
              </a:ext>
            </a:extLst>
          </p:cNvPr>
          <p:cNvSpPr>
            <a:spLocks noGrp="1"/>
          </p:cNvSpPr>
          <p:nvPr/>
        </p:nvSpPr>
        <p:spPr>
          <a:xfrm>
            <a:off x="7667625" y="3762375"/>
            <a:ext cx="238125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025" b="1">
                <a:solidFill>
                  <a:srgbClr val="071F16"/>
                </a:solidFill>
                <a:latin typeface="Aptos Display"/>
                <a:ea typeface="Aptos Display"/>
                <a:cs typeface="Aptos Display"/>
              </a:defRPr>
            </a:pPr>
            <a:r>
              <a:rPr sz="2025" b="1">
                <a:solidFill>
                  <a:srgbClr val="071F16"/>
                </a:solidFill>
                <a:latin typeface="Aptos Display"/>
                <a:ea typeface="Aptos Display"/>
                <a:cs typeface="Aptos Display"/>
              </a:rPr>
              <a:t>The answer is not just a label. The system shows why.</a:t>
            </a:r>
          </a:p>
        </p:txBody>
      </p:sp>
      <p:sp>
        <p:nvSpPr>
          <p:cNvPr id="22" name="Rectangle 21">
            <a:extLst>
              <a:ext uri="{FF2B5EF4-FFF2-40B4-BE49-F238E27FC236}">
                <a16:creationId xmlns:a16="http://schemas.microsoft.com/office/drawing/2014/main" id="{3057FBCF-BF38-447E-93C1-3DC3C9D3DFB0}"/>
              </a:ext>
            </a:extLst>
          </p:cNvPr>
          <p:cNvSpPr>
            <a:spLocks noGrp="1"/>
          </p:cNvSpPr>
          <p:nvPr/>
        </p:nvSpPr>
        <p:spPr>
          <a:xfrm>
            <a:off x="7667625" y="5334000"/>
            <a:ext cx="23812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2550" b="1">
                <a:solidFill>
                  <a:srgbClr val="B8871F"/>
                </a:solidFill>
                <a:latin typeface="Aptos Display"/>
                <a:ea typeface="Aptos Display"/>
                <a:cs typeface="Aptos Display"/>
              </a:defRPr>
            </a:pPr>
            <a:r>
              <a:rPr sz="2550" b="1">
                <a:solidFill>
                  <a:srgbClr val="B8871F"/>
                </a:solidFill>
                <a:latin typeface="Aptos Display"/>
                <a:ea typeface="Aptos Display"/>
                <a:cs typeface="Aptos Display"/>
              </a:rPr>
              <a:t>Thank you.</a:t>
            </a:r>
          </a:p>
        </p:txBody>
      </p:sp>
      <p:sp>
        <p:nvSpPr>
          <p:cNvPr id="23" name="Rectangle 22">
            <a:extLst>
              <a:ext uri="{FF2B5EF4-FFF2-40B4-BE49-F238E27FC236}">
                <a16:creationId xmlns:a16="http://schemas.microsoft.com/office/drawing/2014/main" id="{836C6B39-819F-49D9-A775-887CBEF23562}"/>
              </a:ext>
            </a:extLst>
          </p:cNvPr>
          <p:cNvSpPr>
            <a:spLocks noGrp="1"/>
          </p:cNvSpPr>
          <p:nvPr/>
        </p:nvSpPr>
        <p:spPr>
          <a:xfrm>
            <a:off x="666750" y="6419850"/>
            <a:ext cx="10572750" cy="19050"/>
          </a:xfrm>
          <a:prstGeom prst="rect">
            <a:avLst/>
          </a:prstGeom>
          <a:solidFill>
            <a:srgbClr val="699274"/>
          </a:solidFill>
          <a:ln w="0">
            <a:solidFill>
              <a:srgbClr val="000000">
                <a:alpha val="0"/>
              </a:srgbClr>
            </a:solidFill>
            <a:prstDash val="solid"/>
          </a:ln>
        </p:spPr>
        <p:txBody>
          <a:bodyPr/>
          <a:lstStyle/>
          <a:p>
            <a:endParaRPr lang="en-US"/>
          </a:p>
        </p:txBody>
      </p:sp>
      <p:sp>
        <p:nvSpPr>
          <p:cNvPr id="24" name="Rectangle 23">
            <a:extLst>
              <a:ext uri="{FF2B5EF4-FFF2-40B4-BE49-F238E27FC236}">
                <a16:creationId xmlns:a16="http://schemas.microsoft.com/office/drawing/2014/main" id="{9342340A-3331-4098-A2BA-3E250E11D2F9}"/>
              </a:ext>
            </a:extLst>
          </p:cNvPr>
          <p:cNvSpPr>
            <a:spLocks noGrp="1"/>
          </p:cNvSpPr>
          <p:nvPr/>
        </p:nvSpPr>
        <p:spPr>
          <a:xfrm>
            <a:off x="666750" y="6524625"/>
            <a:ext cx="7620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DCEBDD"/>
                </a:solidFill>
                <a:latin typeface="Aptos"/>
                <a:ea typeface="Aptos"/>
                <a:cs typeface="Aptos"/>
              </a:defRPr>
            </a:pPr>
            <a:r>
              <a:rPr sz="900" b="0">
                <a:solidFill>
                  <a:srgbClr val="DCEBDD"/>
                </a:solidFill>
                <a:latin typeface="Aptos"/>
                <a:ea typeface="Aptos"/>
                <a:cs typeface="Aptos"/>
              </a:rPr>
              <a:t>Leader: final rubric summary and closing</a:t>
            </a:r>
          </a:p>
        </p:txBody>
      </p:sp>
      <p:sp>
        <p:nvSpPr>
          <p:cNvPr id="25" name="Rectangle 24">
            <a:extLst>
              <a:ext uri="{FF2B5EF4-FFF2-40B4-BE49-F238E27FC236}">
                <a16:creationId xmlns:a16="http://schemas.microsoft.com/office/drawing/2014/main" id="{B0232D10-7043-41C5-B5C2-BA90C9DDF959}"/>
              </a:ext>
            </a:extLst>
          </p:cNvPr>
          <p:cNvSpPr>
            <a:spLocks noGrp="1"/>
          </p:cNvSpPr>
          <p:nvPr/>
        </p:nvSpPr>
        <p:spPr>
          <a:xfrm>
            <a:off x="11049000" y="6486525"/>
            <a:ext cx="428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12</a:t>
            </a:r>
          </a:p>
        </p:txBody>
      </p:sp>
    </p:spTree>
    <p:extLst>
      <p:ext uri="{BB962C8B-B14F-4D97-AF65-F5344CB8AC3E}">
        <p14:creationId xmlns:p14="http://schemas.microsoft.com/office/powerpoint/2010/main" val="81954309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1218</Words>
  <Application>Microsoft Office PowerPoint</Application>
  <DocSecurity>0</DocSecurity>
  <PresentationFormat>Widescreen</PresentationFormat>
  <Paragraphs>220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Aptos Mono</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gabriellimjuco@gmail.com</cp:lastModifiedBy>
  <cp:revision>3</cp:revision>
  <dcterms:created xsi:type="dcterms:W3CDTF">2026-05-08T04:32:56Z</dcterms:created>
  <dcterms:modified xsi:type="dcterms:W3CDTF">2026-05-12T11:30:49Z</dcterms:modified>
</cp:coreProperties>
</file>